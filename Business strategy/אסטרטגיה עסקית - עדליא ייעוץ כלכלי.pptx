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5"/>
  </p:notesMasterIdLst>
  <p:sldIdLst>
    <p:sldId id="256" r:id="rId2"/>
    <p:sldId id="257" r:id="rId3"/>
    <p:sldId id="269" r:id="rId4"/>
    <p:sldId id="266" r:id="rId5"/>
    <p:sldId id="265" r:id="rId6"/>
    <p:sldId id="267" r:id="rId7"/>
    <p:sldId id="268" r:id="rId8"/>
    <p:sldId id="276" r:id="rId9"/>
    <p:sldId id="259" r:id="rId10"/>
    <p:sldId id="260" r:id="rId11"/>
    <p:sldId id="277" r:id="rId12"/>
    <p:sldId id="275" r:id="rId13"/>
    <p:sldId id="285" r:id="rId14"/>
    <p:sldId id="279" r:id="rId15"/>
    <p:sldId id="278" r:id="rId16"/>
    <p:sldId id="280" r:id="rId17"/>
    <p:sldId id="263" r:id="rId18"/>
    <p:sldId id="284" r:id="rId19"/>
    <p:sldId id="283" r:id="rId20"/>
    <p:sldId id="272" r:id="rId21"/>
    <p:sldId id="274" r:id="rId22"/>
    <p:sldId id="281" r:id="rId23"/>
    <p:sldId id="282" r:id="rId2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64" autoAdjust="0"/>
    <p:restoredTop sz="92252" autoAdjust="0"/>
  </p:normalViewPr>
  <p:slideViewPr>
    <p:cSldViewPr snapToGrid="0">
      <p:cViewPr varScale="1">
        <p:scale>
          <a:sx n="98" d="100"/>
          <a:sy n="98"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_rels/data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g"/><Relationship Id="rId1" Type="http://schemas.openxmlformats.org/officeDocument/2006/relationships/image" Target="../media/image31.jpg"/><Relationship Id="rId4" Type="http://schemas.openxmlformats.org/officeDocument/2006/relationships/image" Target="../media/image34.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_rels/drawing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g"/><Relationship Id="rId1" Type="http://schemas.openxmlformats.org/officeDocument/2006/relationships/image" Target="../media/image31.jpg"/><Relationship Id="rId4" Type="http://schemas.openxmlformats.org/officeDocument/2006/relationships/image" Target="../media/image34.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D40A6A-6ACC-4B07-888E-F69277C86213}" type="doc">
      <dgm:prSet loTypeId="urn:microsoft.com/office/officeart/2005/8/layout/venn1" loCatId="relationship" qsTypeId="urn:microsoft.com/office/officeart/2005/8/quickstyle/simple1" qsCatId="simple" csTypeId="urn:microsoft.com/office/officeart/2005/8/colors/accent1_2" csCatId="accent1" phldr="1"/>
      <dgm:spPr/>
    </dgm:pt>
    <dgm:pt modelId="{79B5A261-488E-4F81-8F1F-26039471B5A8}">
      <dgm:prSet phldrT="[טקסט]" custT="1"/>
      <dgm:spPr/>
      <dgm:t>
        <a:bodyPr/>
        <a:lstStyle/>
        <a:p>
          <a:pPr rtl="1">
            <a:buFont typeface="Arial" panose="020B0604020202020204" pitchFamily="34" charset="0"/>
            <a:buChar char="•"/>
          </a:pPr>
          <a:r>
            <a:rPr lang="en-US" sz="1800" b="1" i="0" dirty="0"/>
            <a:t> ADALYA </a:t>
          </a:r>
          <a:r>
            <a:rPr lang="he-IL" sz="1800" b="1" i="0" dirty="0"/>
            <a:t>תהיה חברת ייעוץ וניהול המתמחה בניהול תהליכי שינוי ובייעוץ מעשי וערכי </a:t>
          </a:r>
        </a:p>
        <a:p>
          <a:pPr rtl="1">
            <a:buFont typeface="Arial" panose="020B0604020202020204" pitchFamily="34" charset="0"/>
            <a:buChar char="•"/>
          </a:pPr>
          <a:endParaRPr lang="he-IL" sz="1300" dirty="0"/>
        </a:p>
      </dgm:t>
    </dgm:pt>
    <dgm:pt modelId="{F8B59B39-F96E-42B5-8B93-0B4CA2D0A4EF}" type="parTrans" cxnId="{4C52B345-F8C7-46E0-8190-E6B1A87B5862}">
      <dgm:prSet/>
      <dgm:spPr/>
      <dgm:t>
        <a:bodyPr/>
        <a:lstStyle/>
        <a:p>
          <a:pPr rtl="1"/>
          <a:endParaRPr lang="he-IL"/>
        </a:p>
      </dgm:t>
    </dgm:pt>
    <dgm:pt modelId="{B33486BE-5572-4AA3-A7A6-EFCC99EA5CDA}" type="sibTrans" cxnId="{4C52B345-F8C7-46E0-8190-E6B1A87B5862}">
      <dgm:prSet/>
      <dgm:spPr/>
      <dgm:t>
        <a:bodyPr/>
        <a:lstStyle/>
        <a:p>
          <a:pPr rtl="1"/>
          <a:endParaRPr lang="he-IL"/>
        </a:p>
      </dgm:t>
    </dgm:pt>
    <dgm:pt modelId="{ED06886C-2388-4CE6-BA20-5E5615C4E2C9}">
      <dgm:prSet phldrT="[טקסט]" custT="1"/>
      <dgm:spPr/>
      <dgm:t>
        <a:bodyPr/>
        <a:lstStyle/>
        <a:p>
          <a:pPr rtl="1">
            <a:buFont typeface="Arial" panose="020B0604020202020204" pitchFamily="34" charset="0"/>
            <a:buChar char="•"/>
          </a:pPr>
          <a:r>
            <a:rPr lang="en-US" sz="1800" b="1" i="0" dirty="0"/>
            <a:t>​ ADALYA </a:t>
          </a:r>
          <a:r>
            <a:rPr lang="he-IL" sz="1800" b="1" i="0" dirty="0"/>
            <a:t>תסייע ללקוחותיה ליצור השפעה חיובית עם ערך</a:t>
          </a:r>
        </a:p>
        <a:p>
          <a:pPr rtl="1">
            <a:buFont typeface="Arial" panose="020B0604020202020204" pitchFamily="34" charset="0"/>
            <a:buChar char="•"/>
          </a:pPr>
          <a:endParaRPr lang="he-IL" sz="1200" dirty="0"/>
        </a:p>
      </dgm:t>
    </dgm:pt>
    <dgm:pt modelId="{B4DF2717-A93E-4BC8-B7C4-69C237042686}" type="parTrans" cxnId="{8C174609-5098-417A-A114-3473801B1E6B}">
      <dgm:prSet/>
      <dgm:spPr/>
      <dgm:t>
        <a:bodyPr/>
        <a:lstStyle/>
        <a:p>
          <a:pPr rtl="1"/>
          <a:endParaRPr lang="he-IL"/>
        </a:p>
      </dgm:t>
    </dgm:pt>
    <dgm:pt modelId="{6431EECA-9426-433A-9EB6-6B23442780B7}" type="sibTrans" cxnId="{8C174609-5098-417A-A114-3473801B1E6B}">
      <dgm:prSet/>
      <dgm:spPr/>
      <dgm:t>
        <a:bodyPr/>
        <a:lstStyle/>
        <a:p>
          <a:pPr rtl="1"/>
          <a:endParaRPr lang="he-IL"/>
        </a:p>
      </dgm:t>
    </dgm:pt>
    <dgm:pt modelId="{2BDA11C5-0A9F-4329-81D4-3E6CF08ACBE6}">
      <dgm:prSet phldrT="[טקסט]" custT="1"/>
      <dgm:spPr/>
      <dgm:t>
        <a:bodyPr/>
        <a:lstStyle/>
        <a:p>
          <a:pPr rtl="1">
            <a:buFont typeface="Arial" panose="020B0604020202020204" pitchFamily="34" charset="0"/>
            <a:buChar char="•"/>
          </a:pPr>
          <a:r>
            <a:rPr lang="en-US" sz="1800" b="1" i="0" dirty="0"/>
            <a:t>​ ADALYA </a:t>
          </a:r>
          <a:r>
            <a:rPr lang="he-IL" sz="1800" b="1" i="0" dirty="0"/>
            <a:t>תשמר בעובדים תחושת שליחות, גאווה ושייכות ותעודד אותם למצוינות ולהשפעה אישית וערכית </a:t>
          </a:r>
        </a:p>
        <a:p>
          <a:pPr rtl="1">
            <a:buFont typeface="Arial" panose="020B0604020202020204" pitchFamily="34" charset="0"/>
            <a:buChar char="•"/>
          </a:pPr>
          <a:endParaRPr lang="he-IL" sz="1400" dirty="0"/>
        </a:p>
      </dgm:t>
    </dgm:pt>
    <dgm:pt modelId="{E15FA482-5BBE-43B6-AFBE-BCF04B9E1390}" type="parTrans" cxnId="{0987CD58-5F78-46E4-AEE4-2CB2267C8E1F}">
      <dgm:prSet/>
      <dgm:spPr/>
      <dgm:t>
        <a:bodyPr/>
        <a:lstStyle/>
        <a:p>
          <a:pPr rtl="1"/>
          <a:endParaRPr lang="he-IL"/>
        </a:p>
      </dgm:t>
    </dgm:pt>
    <dgm:pt modelId="{179E11FA-861D-4748-B4CB-4DAC8B071AED}" type="sibTrans" cxnId="{0987CD58-5F78-46E4-AEE4-2CB2267C8E1F}">
      <dgm:prSet/>
      <dgm:spPr/>
      <dgm:t>
        <a:bodyPr/>
        <a:lstStyle/>
        <a:p>
          <a:pPr rtl="1"/>
          <a:endParaRPr lang="he-IL"/>
        </a:p>
      </dgm:t>
    </dgm:pt>
    <dgm:pt modelId="{CEE1A5A4-40A9-4D92-848E-1B9FBF634681}" type="pres">
      <dgm:prSet presAssocID="{D2D40A6A-6ACC-4B07-888E-F69277C86213}" presName="compositeShape" presStyleCnt="0">
        <dgm:presLayoutVars>
          <dgm:chMax val="7"/>
          <dgm:dir/>
          <dgm:resizeHandles val="exact"/>
        </dgm:presLayoutVars>
      </dgm:prSet>
      <dgm:spPr/>
    </dgm:pt>
    <dgm:pt modelId="{66305ABB-0145-4AC8-AB56-4920F2054B2C}" type="pres">
      <dgm:prSet presAssocID="{79B5A261-488E-4F81-8F1F-26039471B5A8}" presName="circ1" presStyleLbl="vennNode1" presStyleIdx="0" presStyleCnt="3"/>
      <dgm:spPr/>
    </dgm:pt>
    <dgm:pt modelId="{D95EDE0C-5113-4D2A-BBC4-2E11C9644574}" type="pres">
      <dgm:prSet presAssocID="{79B5A261-488E-4F81-8F1F-26039471B5A8}" presName="circ1Tx" presStyleLbl="revTx" presStyleIdx="0" presStyleCnt="0">
        <dgm:presLayoutVars>
          <dgm:chMax val="0"/>
          <dgm:chPref val="0"/>
          <dgm:bulletEnabled val="1"/>
        </dgm:presLayoutVars>
      </dgm:prSet>
      <dgm:spPr/>
    </dgm:pt>
    <dgm:pt modelId="{78150E9F-39E1-4EB4-9718-5F6BDDA72EAC}" type="pres">
      <dgm:prSet presAssocID="{ED06886C-2388-4CE6-BA20-5E5615C4E2C9}" presName="circ2" presStyleLbl="vennNode1" presStyleIdx="1" presStyleCnt="3"/>
      <dgm:spPr/>
    </dgm:pt>
    <dgm:pt modelId="{DF967760-3904-41B6-B3E4-89F4C78F645B}" type="pres">
      <dgm:prSet presAssocID="{ED06886C-2388-4CE6-BA20-5E5615C4E2C9}" presName="circ2Tx" presStyleLbl="revTx" presStyleIdx="0" presStyleCnt="0">
        <dgm:presLayoutVars>
          <dgm:chMax val="0"/>
          <dgm:chPref val="0"/>
          <dgm:bulletEnabled val="1"/>
        </dgm:presLayoutVars>
      </dgm:prSet>
      <dgm:spPr/>
    </dgm:pt>
    <dgm:pt modelId="{9FCD51FE-F96D-481B-B3EF-E7AB549BA8C4}" type="pres">
      <dgm:prSet presAssocID="{2BDA11C5-0A9F-4329-81D4-3E6CF08ACBE6}" presName="circ3" presStyleLbl="vennNode1" presStyleIdx="2" presStyleCnt="3"/>
      <dgm:spPr/>
    </dgm:pt>
    <dgm:pt modelId="{B16EC21F-EF6D-4529-AE33-93636BB0912E}" type="pres">
      <dgm:prSet presAssocID="{2BDA11C5-0A9F-4329-81D4-3E6CF08ACBE6}" presName="circ3Tx" presStyleLbl="revTx" presStyleIdx="0" presStyleCnt="0">
        <dgm:presLayoutVars>
          <dgm:chMax val="0"/>
          <dgm:chPref val="0"/>
          <dgm:bulletEnabled val="1"/>
        </dgm:presLayoutVars>
      </dgm:prSet>
      <dgm:spPr/>
    </dgm:pt>
  </dgm:ptLst>
  <dgm:cxnLst>
    <dgm:cxn modelId="{8C174609-5098-417A-A114-3473801B1E6B}" srcId="{D2D40A6A-6ACC-4B07-888E-F69277C86213}" destId="{ED06886C-2388-4CE6-BA20-5E5615C4E2C9}" srcOrd="1" destOrd="0" parTransId="{B4DF2717-A93E-4BC8-B7C4-69C237042686}" sibTransId="{6431EECA-9426-433A-9EB6-6B23442780B7}"/>
    <dgm:cxn modelId="{6CA6B020-3D7F-4A72-B2FB-E14D1820DE95}" type="presOf" srcId="{D2D40A6A-6ACC-4B07-888E-F69277C86213}" destId="{CEE1A5A4-40A9-4D92-848E-1B9FBF634681}" srcOrd="0" destOrd="0" presId="urn:microsoft.com/office/officeart/2005/8/layout/venn1"/>
    <dgm:cxn modelId="{079EC42B-17F6-4120-97FB-D85940245229}" type="presOf" srcId="{79B5A261-488E-4F81-8F1F-26039471B5A8}" destId="{66305ABB-0145-4AC8-AB56-4920F2054B2C}" srcOrd="0" destOrd="0" presId="urn:microsoft.com/office/officeart/2005/8/layout/venn1"/>
    <dgm:cxn modelId="{24FFD334-4021-4959-A1D9-924658D26181}" type="presOf" srcId="{ED06886C-2388-4CE6-BA20-5E5615C4E2C9}" destId="{78150E9F-39E1-4EB4-9718-5F6BDDA72EAC}" srcOrd="0" destOrd="0" presId="urn:microsoft.com/office/officeart/2005/8/layout/venn1"/>
    <dgm:cxn modelId="{4C52B345-F8C7-46E0-8190-E6B1A87B5862}" srcId="{D2D40A6A-6ACC-4B07-888E-F69277C86213}" destId="{79B5A261-488E-4F81-8F1F-26039471B5A8}" srcOrd="0" destOrd="0" parTransId="{F8B59B39-F96E-42B5-8B93-0B4CA2D0A4EF}" sibTransId="{B33486BE-5572-4AA3-A7A6-EFCC99EA5CDA}"/>
    <dgm:cxn modelId="{7613454E-91A5-4A6A-B904-0C95DB4EB7CD}" type="presOf" srcId="{79B5A261-488E-4F81-8F1F-26039471B5A8}" destId="{D95EDE0C-5113-4D2A-BBC4-2E11C9644574}" srcOrd="1" destOrd="0" presId="urn:microsoft.com/office/officeart/2005/8/layout/venn1"/>
    <dgm:cxn modelId="{0353CA75-BD8B-451F-AFDA-8BC20B612ECB}" type="presOf" srcId="{2BDA11C5-0A9F-4329-81D4-3E6CF08ACBE6}" destId="{9FCD51FE-F96D-481B-B3EF-E7AB549BA8C4}" srcOrd="0" destOrd="0" presId="urn:microsoft.com/office/officeart/2005/8/layout/venn1"/>
    <dgm:cxn modelId="{0987CD58-5F78-46E4-AEE4-2CB2267C8E1F}" srcId="{D2D40A6A-6ACC-4B07-888E-F69277C86213}" destId="{2BDA11C5-0A9F-4329-81D4-3E6CF08ACBE6}" srcOrd="2" destOrd="0" parTransId="{E15FA482-5BBE-43B6-AFBE-BCF04B9E1390}" sibTransId="{179E11FA-861D-4748-B4CB-4DAC8B071AED}"/>
    <dgm:cxn modelId="{353956A6-8C3A-4504-9D43-06D13156AF68}" type="presOf" srcId="{2BDA11C5-0A9F-4329-81D4-3E6CF08ACBE6}" destId="{B16EC21F-EF6D-4529-AE33-93636BB0912E}" srcOrd="1" destOrd="0" presId="urn:microsoft.com/office/officeart/2005/8/layout/venn1"/>
    <dgm:cxn modelId="{8DB353A9-C4F9-4E8D-A596-0AE235D32738}" type="presOf" srcId="{ED06886C-2388-4CE6-BA20-5E5615C4E2C9}" destId="{DF967760-3904-41B6-B3E4-89F4C78F645B}" srcOrd="1" destOrd="0" presId="urn:microsoft.com/office/officeart/2005/8/layout/venn1"/>
    <dgm:cxn modelId="{3BEB6C12-7507-40CC-9E98-80E523D03FA9}" type="presParOf" srcId="{CEE1A5A4-40A9-4D92-848E-1B9FBF634681}" destId="{66305ABB-0145-4AC8-AB56-4920F2054B2C}" srcOrd="0" destOrd="0" presId="urn:microsoft.com/office/officeart/2005/8/layout/venn1"/>
    <dgm:cxn modelId="{BA1BD257-24E2-4AE3-A527-271A0431B3C7}" type="presParOf" srcId="{CEE1A5A4-40A9-4D92-848E-1B9FBF634681}" destId="{D95EDE0C-5113-4D2A-BBC4-2E11C9644574}" srcOrd="1" destOrd="0" presId="urn:microsoft.com/office/officeart/2005/8/layout/venn1"/>
    <dgm:cxn modelId="{7877E04E-5A78-49A5-B8B0-BE837530FA1A}" type="presParOf" srcId="{CEE1A5A4-40A9-4D92-848E-1B9FBF634681}" destId="{78150E9F-39E1-4EB4-9718-5F6BDDA72EAC}" srcOrd="2" destOrd="0" presId="urn:microsoft.com/office/officeart/2005/8/layout/venn1"/>
    <dgm:cxn modelId="{1AAF4D51-3826-4945-9AA8-45783DBC0519}" type="presParOf" srcId="{CEE1A5A4-40A9-4D92-848E-1B9FBF634681}" destId="{DF967760-3904-41B6-B3E4-89F4C78F645B}" srcOrd="3" destOrd="0" presId="urn:microsoft.com/office/officeart/2005/8/layout/venn1"/>
    <dgm:cxn modelId="{275BE57A-C9C8-4D5B-ADDE-245045DF2248}" type="presParOf" srcId="{CEE1A5A4-40A9-4D92-848E-1B9FBF634681}" destId="{9FCD51FE-F96D-481B-B3EF-E7AB549BA8C4}" srcOrd="4" destOrd="0" presId="urn:microsoft.com/office/officeart/2005/8/layout/venn1"/>
    <dgm:cxn modelId="{542AE909-0B34-4C7F-9284-A072F9E591AA}" type="presParOf" srcId="{CEE1A5A4-40A9-4D92-848E-1B9FBF634681}" destId="{B16EC21F-EF6D-4529-AE33-93636BB0912E}" srcOrd="5" destOrd="0" presId="urn:microsoft.com/office/officeart/2005/8/layout/ven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7CC609-0FEB-41C8-A13F-C1136FB688B7}" type="doc">
      <dgm:prSet loTypeId="urn:microsoft.com/office/officeart/2005/8/layout/pList1" loCatId="list" qsTypeId="urn:microsoft.com/office/officeart/2005/8/quickstyle/simple1" qsCatId="simple" csTypeId="urn:microsoft.com/office/officeart/2005/8/colors/accent1_2" csCatId="accent1" phldr="1"/>
      <dgm:spPr/>
      <dgm:t>
        <a:bodyPr/>
        <a:lstStyle/>
        <a:p>
          <a:pPr rtl="1"/>
          <a:endParaRPr lang="he-IL"/>
        </a:p>
      </dgm:t>
    </dgm:pt>
    <dgm:pt modelId="{14242F0B-73EB-4EA7-A311-7DD661445EB8}">
      <dgm:prSet phldrT="[טקסט]"/>
      <dgm:spPr/>
      <dgm:t>
        <a:bodyPr/>
        <a:lstStyle/>
        <a:p>
          <a:pPr rtl="1"/>
          <a:r>
            <a:rPr lang="he-IL" b="1" dirty="0"/>
            <a:t>משרד התחבורה</a:t>
          </a:r>
        </a:p>
      </dgm:t>
    </dgm:pt>
    <dgm:pt modelId="{FD7DCCBC-5B86-4A96-9FB4-84DC0BA6EF9E}" type="parTrans" cxnId="{3B03E763-CFCE-4C08-90BB-C9D18ADE911F}">
      <dgm:prSet/>
      <dgm:spPr/>
      <dgm:t>
        <a:bodyPr/>
        <a:lstStyle/>
        <a:p>
          <a:pPr rtl="1"/>
          <a:endParaRPr lang="he-IL"/>
        </a:p>
      </dgm:t>
    </dgm:pt>
    <dgm:pt modelId="{03B8E7FB-90FC-4EB5-83BB-FEA042881F1C}" type="sibTrans" cxnId="{3B03E763-CFCE-4C08-90BB-C9D18ADE911F}">
      <dgm:prSet/>
      <dgm:spPr/>
      <dgm:t>
        <a:bodyPr/>
        <a:lstStyle/>
        <a:p>
          <a:pPr rtl="1"/>
          <a:endParaRPr lang="he-IL"/>
        </a:p>
      </dgm:t>
    </dgm:pt>
    <dgm:pt modelId="{04B333AD-B099-455A-989C-70834140182E}">
      <dgm:prSet phldrT="[טקסט]"/>
      <dgm:spPr/>
      <dgm:t>
        <a:bodyPr/>
        <a:lstStyle/>
        <a:p>
          <a:pPr rtl="1"/>
          <a:r>
            <a:rPr lang="he-IL" b="1" dirty="0"/>
            <a:t>חוצה ישראל</a:t>
          </a:r>
        </a:p>
      </dgm:t>
    </dgm:pt>
    <dgm:pt modelId="{AD6851A4-9EF2-49EE-B895-D484C7121962}" type="parTrans" cxnId="{DF649927-3F2E-43A9-A979-3B8D6B24916E}">
      <dgm:prSet/>
      <dgm:spPr/>
      <dgm:t>
        <a:bodyPr/>
        <a:lstStyle/>
        <a:p>
          <a:pPr rtl="1"/>
          <a:endParaRPr lang="he-IL"/>
        </a:p>
      </dgm:t>
    </dgm:pt>
    <dgm:pt modelId="{7F1BA44B-7D1A-4EC0-A3A8-5E9B3DD83427}" type="sibTrans" cxnId="{DF649927-3F2E-43A9-A979-3B8D6B24916E}">
      <dgm:prSet/>
      <dgm:spPr/>
      <dgm:t>
        <a:bodyPr/>
        <a:lstStyle/>
        <a:p>
          <a:pPr rtl="1"/>
          <a:endParaRPr lang="he-IL"/>
        </a:p>
      </dgm:t>
    </dgm:pt>
    <dgm:pt modelId="{292AF457-2871-4F87-9B24-827539F7DEE6}">
      <dgm:prSet phldrT="[טקסט]"/>
      <dgm:spPr/>
      <dgm:t>
        <a:bodyPr/>
        <a:lstStyle/>
        <a:p>
          <a:pPr rtl="1"/>
          <a:r>
            <a:rPr lang="he-IL" b="1" dirty="0"/>
            <a:t>משרד האוצר</a:t>
          </a:r>
        </a:p>
      </dgm:t>
    </dgm:pt>
    <dgm:pt modelId="{FDB6B64D-10FA-4DBF-A327-2C3B26D67A4D}" type="parTrans" cxnId="{B038D3B6-8FFF-4B69-B0FD-6CE1B7B42DB4}">
      <dgm:prSet/>
      <dgm:spPr/>
      <dgm:t>
        <a:bodyPr/>
        <a:lstStyle/>
        <a:p>
          <a:pPr rtl="1"/>
          <a:endParaRPr lang="he-IL"/>
        </a:p>
      </dgm:t>
    </dgm:pt>
    <dgm:pt modelId="{2837C4B4-0E2B-47AC-9251-064103BB13A1}" type="sibTrans" cxnId="{B038D3B6-8FFF-4B69-B0FD-6CE1B7B42DB4}">
      <dgm:prSet/>
      <dgm:spPr/>
      <dgm:t>
        <a:bodyPr/>
        <a:lstStyle/>
        <a:p>
          <a:pPr rtl="1"/>
          <a:endParaRPr lang="he-IL"/>
        </a:p>
      </dgm:t>
    </dgm:pt>
    <dgm:pt modelId="{D8AB79DD-8D4E-4D04-AEC1-95178DDB0467}">
      <dgm:prSet phldrT="[טקסט]"/>
      <dgm:spPr/>
      <dgm:t>
        <a:bodyPr/>
        <a:lstStyle/>
        <a:p>
          <a:pPr rtl="1"/>
          <a:r>
            <a:rPr lang="he-IL" b="1" dirty="0"/>
            <a:t>רכבת ישראל</a:t>
          </a:r>
        </a:p>
      </dgm:t>
    </dgm:pt>
    <dgm:pt modelId="{1DBA889E-DCFB-4E2D-BFAC-D3FAC84BA3EE}" type="parTrans" cxnId="{0A93CB15-10BE-43CF-B165-F2307C86B6C2}">
      <dgm:prSet/>
      <dgm:spPr/>
      <dgm:t>
        <a:bodyPr/>
        <a:lstStyle/>
        <a:p>
          <a:pPr rtl="1"/>
          <a:endParaRPr lang="he-IL"/>
        </a:p>
      </dgm:t>
    </dgm:pt>
    <dgm:pt modelId="{4DDD15F3-3628-459D-BA78-951C25E04562}" type="sibTrans" cxnId="{0A93CB15-10BE-43CF-B165-F2307C86B6C2}">
      <dgm:prSet/>
      <dgm:spPr/>
      <dgm:t>
        <a:bodyPr/>
        <a:lstStyle/>
        <a:p>
          <a:pPr rtl="1"/>
          <a:endParaRPr lang="he-IL"/>
        </a:p>
      </dgm:t>
    </dgm:pt>
    <dgm:pt modelId="{CCA2EFDE-DC3B-49F7-8547-3FDFC2E26A2E}">
      <dgm:prSet phldrT="[טקסט]"/>
      <dgm:spPr/>
      <dgm:t>
        <a:bodyPr/>
        <a:lstStyle/>
        <a:p>
          <a:pPr rtl="1"/>
          <a:r>
            <a:rPr lang="he-IL" b="1" dirty="0"/>
            <a:t>רשות המים </a:t>
          </a:r>
        </a:p>
      </dgm:t>
    </dgm:pt>
    <dgm:pt modelId="{3673C708-B14D-40DE-A523-C1E0A7C2C398}" type="parTrans" cxnId="{A175DD99-FA15-4D28-B4C0-7C9397008F65}">
      <dgm:prSet/>
      <dgm:spPr/>
      <dgm:t>
        <a:bodyPr/>
        <a:lstStyle/>
        <a:p>
          <a:pPr rtl="1"/>
          <a:endParaRPr lang="he-IL"/>
        </a:p>
      </dgm:t>
    </dgm:pt>
    <dgm:pt modelId="{6A419CD3-89AC-413E-956C-AE1CB5F30F26}" type="sibTrans" cxnId="{A175DD99-FA15-4D28-B4C0-7C9397008F65}">
      <dgm:prSet/>
      <dgm:spPr/>
      <dgm:t>
        <a:bodyPr/>
        <a:lstStyle/>
        <a:p>
          <a:pPr rtl="1"/>
          <a:endParaRPr lang="he-IL"/>
        </a:p>
      </dgm:t>
    </dgm:pt>
    <dgm:pt modelId="{FD17162C-F553-401F-BCEC-A82E9F800478}">
      <dgm:prSet phldrT="[טקסט]"/>
      <dgm:spPr/>
      <dgm:t>
        <a:bodyPr/>
        <a:lstStyle/>
        <a:p>
          <a:pPr rtl="1"/>
          <a:r>
            <a:rPr lang="he-IL" b="1" dirty="0"/>
            <a:t>מל"ג </a:t>
          </a:r>
        </a:p>
      </dgm:t>
    </dgm:pt>
    <dgm:pt modelId="{2BBA2869-DE78-47DC-AF7E-F501ECAFF4E1}" type="parTrans" cxnId="{1525569C-E3D5-4C88-8B7C-A58AC89FB874}">
      <dgm:prSet/>
      <dgm:spPr/>
      <dgm:t>
        <a:bodyPr/>
        <a:lstStyle/>
        <a:p>
          <a:pPr rtl="1"/>
          <a:endParaRPr lang="he-IL"/>
        </a:p>
      </dgm:t>
    </dgm:pt>
    <dgm:pt modelId="{342AD034-3679-4A2D-B77A-58BC270258A7}" type="sibTrans" cxnId="{1525569C-E3D5-4C88-8B7C-A58AC89FB874}">
      <dgm:prSet/>
      <dgm:spPr/>
      <dgm:t>
        <a:bodyPr/>
        <a:lstStyle/>
        <a:p>
          <a:pPr rtl="1"/>
          <a:endParaRPr lang="he-IL"/>
        </a:p>
      </dgm:t>
    </dgm:pt>
    <dgm:pt modelId="{54DCE4DC-489A-4975-9C89-A45193492CB9}" type="pres">
      <dgm:prSet presAssocID="{D97CC609-0FEB-41C8-A13F-C1136FB688B7}" presName="Name0" presStyleCnt="0">
        <dgm:presLayoutVars>
          <dgm:dir/>
          <dgm:resizeHandles val="exact"/>
        </dgm:presLayoutVars>
      </dgm:prSet>
      <dgm:spPr/>
    </dgm:pt>
    <dgm:pt modelId="{5E66586A-15BC-4CB4-A2E8-B5FA61216021}" type="pres">
      <dgm:prSet presAssocID="{14242F0B-73EB-4EA7-A311-7DD661445EB8}" presName="compNode" presStyleCnt="0"/>
      <dgm:spPr/>
    </dgm:pt>
    <dgm:pt modelId="{FB5950FB-7C1E-43AF-A7FA-9660C0DD4C2A}" type="pres">
      <dgm:prSet presAssocID="{14242F0B-73EB-4EA7-A311-7DD661445EB8}" presName="pictRect" presStyleLbl="node1" presStyleIdx="0" presStyleCnt="6" custLinFactNeighborX="4210" custLinFactNeighborY="838"/>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000" t="1000" r="-1000" b="5000"/>
          </a:stretch>
        </a:blipFill>
      </dgm:spPr>
    </dgm:pt>
    <dgm:pt modelId="{D6EA5CE7-99DF-43E0-8E48-C479044ACFE6}" type="pres">
      <dgm:prSet presAssocID="{14242F0B-73EB-4EA7-A311-7DD661445EB8}" presName="textRect" presStyleLbl="revTx" presStyleIdx="0" presStyleCnt="6">
        <dgm:presLayoutVars>
          <dgm:bulletEnabled val="1"/>
        </dgm:presLayoutVars>
      </dgm:prSet>
      <dgm:spPr/>
    </dgm:pt>
    <dgm:pt modelId="{8847D6F0-C157-4CBB-87BD-72A18C5CA00B}" type="pres">
      <dgm:prSet presAssocID="{03B8E7FB-90FC-4EB5-83BB-FEA042881F1C}" presName="sibTrans" presStyleLbl="sibTrans2D1" presStyleIdx="0" presStyleCnt="0"/>
      <dgm:spPr/>
    </dgm:pt>
    <dgm:pt modelId="{481CE069-6EAA-411B-A0D3-437FF2717EA4}" type="pres">
      <dgm:prSet presAssocID="{04B333AD-B099-455A-989C-70834140182E}" presName="compNode" presStyleCnt="0"/>
      <dgm:spPr/>
    </dgm:pt>
    <dgm:pt modelId="{352C22C7-F80C-4CED-9767-883B9457AC81}" type="pres">
      <dgm:prSet presAssocID="{04B333AD-B099-455A-989C-70834140182E}" presName="pictRect" presStyleLbl="node1" presStyleIdx="1" presStyleCnt="6"/>
      <dgm:spPr>
        <a:blipFill>
          <a:blip xmlns:r="http://schemas.openxmlformats.org/officeDocument/2006/relationships" r:embed="rId2">
            <a:extLst>
              <a:ext uri="{28A0092B-C50C-407E-A947-70E740481C1C}">
                <a14:useLocalDpi xmlns:a14="http://schemas.microsoft.com/office/drawing/2010/main" val="0"/>
              </a:ext>
            </a:extLst>
          </a:blip>
          <a:srcRect/>
          <a:stretch>
            <a:fillRect t="-23000" b="-23000"/>
          </a:stretch>
        </a:blipFill>
      </dgm:spPr>
    </dgm:pt>
    <dgm:pt modelId="{13102285-08C6-489F-91FA-F26723BD57A2}" type="pres">
      <dgm:prSet presAssocID="{04B333AD-B099-455A-989C-70834140182E}" presName="textRect" presStyleLbl="revTx" presStyleIdx="1" presStyleCnt="6">
        <dgm:presLayoutVars>
          <dgm:bulletEnabled val="1"/>
        </dgm:presLayoutVars>
      </dgm:prSet>
      <dgm:spPr/>
    </dgm:pt>
    <dgm:pt modelId="{37D2BA15-47B4-46F0-AE5E-2388C8D6737D}" type="pres">
      <dgm:prSet presAssocID="{7F1BA44B-7D1A-4EC0-A3A8-5E9B3DD83427}" presName="sibTrans" presStyleLbl="sibTrans2D1" presStyleIdx="0" presStyleCnt="0"/>
      <dgm:spPr/>
    </dgm:pt>
    <dgm:pt modelId="{B25C30C3-FA11-4199-9A7A-9D89733E7DE9}" type="pres">
      <dgm:prSet presAssocID="{292AF457-2871-4F87-9B24-827539F7DEE6}" presName="compNode" presStyleCnt="0"/>
      <dgm:spPr/>
    </dgm:pt>
    <dgm:pt modelId="{67A5C8B5-15B5-4196-B427-3814D27233C1}" type="pres">
      <dgm:prSet presAssocID="{292AF457-2871-4F87-9B24-827539F7DEE6}" presName="pictRect" presStyleLbl="node1" presStyleIdx="2" presStyleCnt="6"/>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t="-5000" b="-13000"/>
          </a:stretch>
        </a:blipFill>
      </dgm:spPr>
    </dgm:pt>
    <dgm:pt modelId="{67C70CDA-A78B-4B55-9175-FC7DFAB36650}" type="pres">
      <dgm:prSet presAssocID="{292AF457-2871-4F87-9B24-827539F7DEE6}" presName="textRect" presStyleLbl="revTx" presStyleIdx="2" presStyleCnt="6">
        <dgm:presLayoutVars>
          <dgm:bulletEnabled val="1"/>
        </dgm:presLayoutVars>
      </dgm:prSet>
      <dgm:spPr/>
    </dgm:pt>
    <dgm:pt modelId="{4DA8173C-A92F-4087-BBAB-FA7C4E2B97B7}" type="pres">
      <dgm:prSet presAssocID="{2837C4B4-0E2B-47AC-9251-064103BB13A1}" presName="sibTrans" presStyleLbl="sibTrans2D1" presStyleIdx="0" presStyleCnt="0"/>
      <dgm:spPr/>
    </dgm:pt>
    <dgm:pt modelId="{DE8DC462-1564-46E3-8940-E13DA066FD92}" type="pres">
      <dgm:prSet presAssocID="{D8AB79DD-8D4E-4D04-AEC1-95178DDB0467}" presName="compNode" presStyleCnt="0"/>
      <dgm:spPr/>
    </dgm:pt>
    <dgm:pt modelId="{6CDE518A-033E-4538-B29A-315925CBF26E}" type="pres">
      <dgm:prSet presAssocID="{D8AB79DD-8D4E-4D04-AEC1-95178DDB0467}" presName="pictRect" presStyleLbl="node1" presStyleIdx="3" presStyleCnt="6"/>
      <dgm:spPr>
        <a:blipFill>
          <a:blip xmlns:r="http://schemas.openxmlformats.org/officeDocument/2006/relationships" r:embed="rId4"/>
          <a:srcRect/>
          <a:stretch>
            <a:fillRect t="-23000" b="-23000"/>
          </a:stretch>
        </a:blipFill>
      </dgm:spPr>
    </dgm:pt>
    <dgm:pt modelId="{4C930ED7-35D6-463B-925D-CC7379907686}" type="pres">
      <dgm:prSet presAssocID="{D8AB79DD-8D4E-4D04-AEC1-95178DDB0467}" presName="textRect" presStyleLbl="revTx" presStyleIdx="3" presStyleCnt="6">
        <dgm:presLayoutVars>
          <dgm:bulletEnabled val="1"/>
        </dgm:presLayoutVars>
      </dgm:prSet>
      <dgm:spPr/>
    </dgm:pt>
    <dgm:pt modelId="{1D67DFF8-AB7C-43B8-918E-4831C52AAA4F}" type="pres">
      <dgm:prSet presAssocID="{4DDD15F3-3628-459D-BA78-951C25E04562}" presName="sibTrans" presStyleLbl="sibTrans2D1" presStyleIdx="0" presStyleCnt="0"/>
      <dgm:spPr/>
    </dgm:pt>
    <dgm:pt modelId="{4E3B2EC0-3E39-4E8F-A47D-F458884E8D46}" type="pres">
      <dgm:prSet presAssocID="{CCA2EFDE-DC3B-49F7-8547-3FDFC2E26A2E}" presName="compNode" presStyleCnt="0"/>
      <dgm:spPr/>
    </dgm:pt>
    <dgm:pt modelId="{07D71560-89E7-49E7-B43F-7E650EA44F9F}" type="pres">
      <dgm:prSet presAssocID="{CCA2EFDE-DC3B-49F7-8547-3FDFC2E26A2E}" presName="pictRect" presStyleLbl="node1" presStyleIdx="4" presStyleCnt="6"/>
      <dgm:spPr>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8000" r="-3000"/>
          </a:stretch>
        </a:blipFill>
      </dgm:spPr>
    </dgm:pt>
    <dgm:pt modelId="{0FA16BF4-621E-4FC8-8CCC-6244E972F347}" type="pres">
      <dgm:prSet presAssocID="{CCA2EFDE-DC3B-49F7-8547-3FDFC2E26A2E}" presName="textRect" presStyleLbl="revTx" presStyleIdx="4" presStyleCnt="6">
        <dgm:presLayoutVars>
          <dgm:bulletEnabled val="1"/>
        </dgm:presLayoutVars>
      </dgm:prSet>
      <dgm:spPr/>
    </dgm:pt>
    <dgm:pt modelId="{E3F30FA4-B75E-425F-8854-C9952C3D6C59}" type="pres">
      <dgm:prSet presAssocID="{6A419CD3-89AC-413E-956C-AE1CB5F30F26}" presName="sibTrans" presStyleLbl="sibTrans2D1" presStyleIdx="0" presStyleCnt="0"/>
      <dgm:spPr/>
    </dgm:pt>
    <dgm:pt modelId="{5F3724D0-4C27-4D2A-9FEF-2EB700ECF596}" type="pres">
      <dgm:prSet presAssocID="{FD17162C-F553-401F-BCEC-A82E9F800478}" presName="compNode" presStyleCnt="0"/>
      <dgm:spPr/>
    </dgm:pt>
    <dgm:pt modelId="{35CB3022-B655-40AB-83DE-CA36DBF323A4}" type="pres">
      <dgm:prSet presAssocID="{FD17162C-F553-401F-BCEC-A82E9F800478}" presName="pictRect" presStyleLbl="node1" presStyleIdx="5" presStyleCnt="6"/>
      <dgm:spPr>
        <a:blipFill dpi="0" rotWithShape="1">
          <a:blip xmlns:r="http://schemas.openxmlformats.org/officeDocument/2006/relationships" r:embed="rId6">
            <a:extLst>
              <a:ext uri="{28A0092B-C50C-407E-A947-70E740481C1C}">
                <a14:useLocalDpi xmlns:a14="http://schemas.microsoft.com/office/drawing/2010/main" val="0"/>
              </a:ext>
            </a:extLst>
          </a:blip>
          <a:srcRect/>
          <a:stretch>
            <a:fillRect t="-7000" b="6000"/>
          </a:stretch>
        </a:blipFill>
      </dgm:spPr>
    </dgm:pt>
    <dgm:pt modelId="{E8612552-4F8C-476B-953A-208D260BDA45}" type="pres">
      <dgm:prSet presAssocID="{FD17162C-F553-401F-BCEC-A82E9F800478}" presName="textRect" presStyleLbl="revTx" presStyleIdx="5" presStyleCnt="6">
        <dgm:presLayoutVars>
          <dgm:bulletEnabled val="1"/>
        </dgm:presLayoutVars>
      </dgm:prSet>
      <dgm:spPr/>
    </dgm:pt>
  </dgm:ptLst>
  <dgm:cxnLst>
    <dgm:cxn modelId="{AE9CCC05-A4F1-4032-A9E1-9FF2CE39C68B}" type="presOf" srcId="{FD17162C-F553-401F-BCEC-A82E9F800478}" destId="{E8612552-4F8C-476B-953A-208D260BDA45}" srcOrd="0" destOrd="0" presId="urn:microsoft.com/office/officeart/2005/8/layout/pList1"/>
    <dgm:cxn modelId="{99F1EC07-5052-4301-A9E4-90EFBDA8C5B3}" type="presOf" srcId="{D97CC609-0FEB-41C8-A13F-C1136FB688B7}" destId="{54DCE4DC-489A-4975-9C89-A45193492CB9}" srcOrd="0" destOrd="0" presId="urn:microsoft.com/office/officeart/2005/8/layout/pList1"/>
    <dgm:cxn modelId="{0F80A412-6BC3-4252-B1B2-84494E58F2ED}" type="presOf" srcId="{04B333AD-B099-455A-989C-70834140182E}" destId="{13102285-08C6-489F-91FA-F26723BD57A2}" srcOrd="0" destOrd="0" presId="urn:microsoft.com/office/officeart/2005/8/layout/pList1"/>
    <dgm:cxn modelId="{0A93CB15-10BE-43CF-B165-F2307C86B6C2}" srcId="{D97CC609-0FEB-41C8-A13F-C1136FB688B7}" destId="{D8AB79DD-8D4E-4D04-AEC1-95178DDB0467}" srcOrd="3" destOrd="0" parTransId="{1DBA889E-DCFB-4E2D-BFAC-D3FAC84BA3EE}" sibTransId="{4DDD15F3-3628-459D-BA78-951C25E04562}"/>
    <dgm:cxn modelId="{DF649927-3F2E-43A9-A979-3B8D6B24916E}" srcId="{D97CC609-0FEB-41C8-A13F-C1136FB688B7}" destId="{04B333AD-B099-455A-989C-70834140182E}" srcOrd="1" destOrd="0" parTransId="{AD6851A4-9EF2-49EE-B895-D484C7121962}" sibTransId="{7F1BA44B-7D1A-4EC0-A3A8-5E9B3DD83427}"/>
    <dgm:cxn modelId="{551DB22D-FE35-4C0C-AA4F-E1DF39BCC894}" type="presOf" srcId="{2837C4B4-0E2B-47AC-9251-064103BB13A1}" destId="{4DA8173C-A92F-4087-BBAB-FA7C4E2B97B7}" srcOrd="0" destOrd="0" presId="urn:microsoft.com/office/officeart/2005/8/layout/pList1"/>
    <dgm:cxn modelId="{3B03E763-CFCE-4C08-90BB-C9D18ADE911F}" srcId="{D97CC609-0FEB-41C8-A13F-C1136FB688B7}" destId="{14242F0B-73EB-4EA7-A311-7DD661445EB8}" srcOrd="0" destOrd="0" parTransId="{FD7DCCBC-5B86-4A96-9FB4-84DC0BA6EF9E}" sibTransId="{03B8E7FB-90FC-4EB5-83BB-FEA042881F1C}"/>
    <dgm:cxn modelId="{9E505B4B-D645-49AF-8FC3-CB92DC27F7C6}" type="presOf" srcId="{4DDD15F3-3628-459D-BA78-951C25E04562}" destId="{1D67DFF8-AB7C-43B8-918E-4831C52AAA4F}" srcOrd="0" destOrd="0" presId="urn:microsoft.com/office/officeart/2005/8/layout/pList1"/>
    <dgm:cxn modelId="{1D570959-CDB0-4745-99E5-B43E068FAE2D}" type="presOf" srcId="{CCA2EFDE-DC3B-49F7-8547-3FDFC2E26A2E}" destId="{0FA16BF4-621E-4FC8-8CCC-6244E972F347}" srcOrd="0" destOrd="0" presId="urn:microsoft.com/office/officeart/2005/8/layout/pList1"/>
    <dgm:cxn modelId="{96EE7788-76EB-4D2A-BE9D-CC3517ACCC45}" type="presOf" srcId="{292AF457-2871-4F87-9B24-827539F7DEE6}" destId="{67C70CDA-A78B-4B55-9175-FC7DFAB36650}" srcOrd="0" destOrd="0" presId="urn:microsoft.com/office/officeart/2005/8/layout/pList1"/>
    <dgm:cxn modelId="{06B51391-5230-42FC-8A39-C8960AFB6DF5}" type="presOf" srcId="{14242F0B-73EB-4EA7-A311-7DD661445EB8}" destId="{D6EA5CE7-99DF-43E0-8E48-C479044ACFE6}" srcOrd="0" destOrd="0" presId="urn:microsoft.com/office/officeart/2005/8/layout/pList1"/>
    <dgm:cxn modelId="{A175DD99-FA15-4D28-B4C0-7C9397008F65}" srcId="{D97CC609-0FEB-41C8-A13F-C1136FB688B7}" destId="{CCA2EFDE-DC3B-49F7-8547-3FDFC2E26A2E}" srcOrd="4" destOrd="0" parTransId="{3673C708-B14D-40DE-A523-C1E0A7C2C398}" sibTransId="{6A419CD3-89AC-413E-956C-AE1CB5F30F26}"/>
    <dgm:cxn modelId="{1525569C-E3D5-4C88-8B7C-A58AC89FB874}" srcId="{D97CC609-0FEB-41C8-A13F-C1136FB688B7}" destId="{FD17162C-F553-401F-BCEC-A82E9F800478}" srcOrd="5" destOrd="0" parTransId="{2BBA2869-DE78-47DC-AF7E-F501ECAFF4E1}" sibTransId="{342AD034-3679-4A2D-B77A-58BC270258A7}"/>
    <dgm:cxn modelId="{E5F8B2A2-B6D2-4647-97AF-B9053F5F78C5}" type="presOf" srcId="{D8AB79DD-8D4E-4D04-AEC1-95178DDB0467}" destId="{4C930ED7-35D6-463B-925D-CC7379907686}" srcOrd="0" destOrd="0" presId="urn:microsoft.com/office/officeart/2005/8/layout/pList1"/>
    <dgm:cxn modelId="{E2C2C4AF-5CDD-4204-9263-BC7075A38BB5}" type="presOf" srcId="{6A419CD3-89AC-413E-956C-AE1CB5F30F26}" destId="{E3F30FA4-B75E-425F-8854-C9952C3D6C59}" srcOrd="0" destOrd="0" presId="urn:microsoft.com/office/officeart/2005/8/layout/pList1"/>
    <dgm:cxn modelId="{B038D3B6-8FFF-4B69-B0FD-6CE1B7B42DB4}" srcId="{D97CC609-0FEB-41C8-A13F-C1136FB688B7}" destId="{292AF457-2871-4F87-9B24-827539F7DEE6}" srcOrd="2" destOrd="0" parTransId="{FDB6B64D-10FA-4DBF-A327-2C3B26D67A4D}" sibTransId="{2837C4B4-0E2B-47AC-9251-064103BB13A1}"/>
    <dgm:cxn modelId="{27EFEEE6-A9F6-4C91-BAFB-3FEE89EBBF48}" type="presOf" srcId="{03B8E7FB-90FC-4EB5-83BB-FEA042881F1C}" destId="{8847D6F0-C157-4CBB-87BD-72A18C5CA00B}" srcOrd="0" destOrd="0" presId="urn:microsoft.com/office/officeart/2005/8/layout/pList1"/>
    <dgm:cxn modelId="{8D65DBF2-2F31-4DE6-97DC-A45FF688490D}" type="presOf" srcId="{7F1BA44B-7D1A-4EC0-A3A8-5E9B3DD83427}" destId="{37D2BA15-47B4-46F0-AE5E-2388C8D6737D}" srcOrd="0" destOrd="0" presId="urn:microsoft.com/office/officeart/2005/8/layout/pList1"/>
    <dgm:cxn modelId="{06D74C75-20E9-4417-9EEE-6F4FF90F1729}" type="presParOf" srcId="{54DCE4DC-489A-4975-9C89-A45193492CB9}" destId="{5E66586A-15BC-4CB4-A2E8-B5FA61216021}" srcOrd="0" destOrd="0" presId="urn:microsoft.com/office/officeart/2005/8/layout/pList1"/>
    <dgm:cxn modelId="{5D6F6628-9213-4779-867C-09AE6A43C629}" type="presParOf" srcId="{5E66586A-15BC-4CB4-A2E8-B5FA61216021}" destId="{FB5950FB-7C1E-43AF-A7FA-9660C0DD4C2A}" srcOrd="0" destOrd="0" presId="urn:microsoft.com/office/officeart/2005/8/layout/pList1"/>
    <dgm:cxn modelId="{542F7C4F-C069-4875-AD1A-C9C1B1903391}" type="presParOf" srcId="{5E66586A-15BC-4CB4-A2E8-B5FA61216021}" destId="{D6EA5CE7-99DF-43E0-8E48-C479044ACFE6}" srcOrd="1" destOrd="0" presId="urn:microsoft.com/office/officeart/2005/8/layout/pList1"/>
    <dgm:cxn modelId="{435F50D3-1532-4FFD-ACF8-82255C60D5C4}" type="presParOf" srcId="{54DCE4DC-489A-4975-9C89-A45193492CB9}" destId="{8847D6F0-C157-4CBB-87BD-72A18C5CA00B}" srcOrd="1" destOrd="0" presId="urn:microsoft.com/office/officeart/2005/8/layout/pList1"/>
    <dgm:cxn modelId="{A5EEC2D8-D22F-4EA5-B61E-ADFF26B5E38D}" type="presParOf" srcId="{54DCE4DC-489A-4975-9C89-A45193492CB9}" destId="{481CE069-6EAA-411B-A0D3-437FF2717EA4}" srcOrd="2" destOrd="0" presId="urn:microsoft.com/office/officeart/2005/8/layout/pList1"/>
    <dgm:cxn modelId="{FE8434BE-3153-4487-A6A9-6EA48F78DA1E}" type="presParOf" srcId="{481CE069-6EAA-411B-A0D3-437FF2717EA4}" destId="{352C22C7-F80C-4CED-9767-883B9457AC81}" srcOrd="0" destOrd="0" presId="urn:microsoft.com/office/officeart/2005/8/layout/pList1"/>
    <dgm:cxn modelId="{3C445947-8F69-42BB-852D-24489CF18CA4}" type="presParOf" srcId="{481CE069-6EAA-411B-A0D3-437FF2717EA4}" destId="{13102285-08C6-489F-91FA-F26723BD57A2}" srcOrd="1" destOrd="0" presId="urn:microsoft.com/office/officeart/2005/8/layout/pList1"/>
    <dgm:cxn modelId="{DEF8FF09-B927-4B53-BD2C-D9EEC75CACFF}" type="presParOf" srcId="{54DCE4DC-489A-4975-9C89-A45193492CB9}" destId="{37D2BA15-47B4-46F0-AE5E-2388C8D6737D}" srcOrd="3" destOrd="0" presId="urn:microsoft.com/office/officeart/2005/8/layout/pList1"/>
    <dgm:cxn modelId="{212D3BFF-794A-4D37-88BB-DB58E821F1DF}" type="presParOf" srcId="{54DCE4DC-489A-4975-9C89-A45193492CB9}" destId="{B25C30C3-FA11-4199-9A7A-9D89733E7DE9}" srcOrd="4" destOrd="0" presId="urn:microsoft.com/office/officeart/2005/8/layout/pList1"/>
    <dgm:cxn modelId="{5B26017B-CE46-4D25-9CF9-77A46DB9F0C3}" type="presParOf" srcId="{B25C30C3-FA11-4199-9A7A-9D89733E7DE9}" destId="{67A5C8B5-15B5-4196-B427-3814D27233C1}" srcOrd="0" destOrd="0" presId="urn:microsoft.com/office/officeart/2005/8/layout/pList1"/>
    <dgm:cxn modelId="{BFEFE306-5F79-49EE-ACD6-099965318F35}" type="presParOf" srcId="{B25C30C3-FA11-4199-9A7A-9D89733E7DE9}" destId="{67C70CDA-A78B-4B55-9175-FC7DFAB36650}" srcOrd="1" destOrd="0" presId="urn:microsoft.com/office/officeart/2005/8/layout/pList1"/>
    <dgm:cxn modelId="{1E1D89D4-F56C-4F75-B5B3-87135BB0CAD1}" type="presParOf" srcId="{54DCE4DC-489A-4975-9C89-A45193492CB9}" destId="{4DA8173C-A92F-4087-BBAB-FA7C4E2B97B7}" srcOrd="5" destOrd="0" presId="urn:microsoft.com/office/officeart/2005/8/layout/pList1"/>
    <dgm:cxn modelId="{C03B60DB-8A32-4E6C-9A07-6A059CB3909F}" type="presParOf" srcId="{54DCE4DC-489A-4975-9C89-A45193492CB9}" destId="{DE8DC462-1564-46E3-8940-E13DA066FD92}" srcOrd="6" destOrd="0" presId="urn:microsoft.com/office/officeart/2005/8/layout/pList1"/>
    <dgm:cxn modelId="{1DAEA63D-7200-4E34-9FD6-48CA13FDC059}" type="presParOf" srcId="{DE8DC462-1564-46E3-8940-E13DA066FD92}" destId="{6CDE518A-033E-4538-B29A-315925CBF26E}" srcOrd="0" destOrd="0" presId="urn:microsoft.com/office/officeart/2005/8/layout/pList1"/>
    <dgm:cxn modelId="{FBC6D3D0-9B38-4BC1-8988-3B44B53B4627}" type="presParOf" srcId="{DE8DC462-1564-46E3-8940-E13DA066FD92}" destId="{4C930ED7-35D6-463B-925D-CC7379907686}" srcOrd="1" destOrd="0" presId="urn:microsoft.com/office/officeart/2005/8/layout/pList1"/>
    <dgm:cxn modelId="{1A747CCD-7AC5-4D8D-B2C6-E4691761C678}" type="presParOf" srcId="{54DCE4DC-489A-4975-9C89-A45193492CB9}" destId="{1D67DFF8-AB7C-43B8-918E-4831C52AAA4F}" srcOrd="7" destOrd="0" presId="urn:microsoft.com/office/officeart/2005/8/layout/pList1"/>
    <dgm:cxn modelId="{38950C00-17B7-47DC-88F5-A3B08B52F693}" type="presParOf" srcId="{54DCE4DC-489A-4975-9C89-A45193492CB9}" destId="{4E3B2EC0-3E39-4E8F-A47D-F458884E8D46}" srcOrd="8" destOrd="0" presId="urn:microsoft.com/office/officeart/2005/8/layout/pList1"/>
    <dgm:cxn modelId="{86BB55C9-7839-43D3-836F-4E7107026BAA}" type="presParOf" srcId="{4E3B2EC0-3E39-4E8F-A47D-F458884E8D46}" destId="{07D71560-89E7-49E7-B43F-7E650EA44F9F}" srcOrd="0" destOrd="0" presId="urn:microsoft.com/office/officeart/2005/8/layout/pList1"/>
    <dgm:cxn modelId="{E1A0F0A4-4CD1-4BFE-90FC-035A52C5FFFD}" type="presParOf" srcId="{4E3B2EC0-3E39-4E8F-A47D-F458884E8D46}" destId="{0FA16BF4-621E-4FC8-8CCC-6244E972F347}" srcOrd="1" destOrd="0" presId="urn:microsoft.com/office/officeart/2005/8/layout/pList1"/>
    <dgm:cxn modelId="{5E02D20E-683B-4756-824B-6D0F20D359A8}" type="presParOf" srcId="{54DCE4DC-489A-4975-9C89-A45193492CB9}" destId="{E3F30FA4-B75E-425F-8854-C9952C3D6C59}" srcOrd="9" destOrd="0" presId="urn:microsoft.com/office/officeart/2005/8/layout/pList1"/>
    <dgm:cxn modelId="{47482326-F33B-4C4C-BECF-3CFBD0C7C9F0}" type="presParOf" srcId="{54DCE4DC-489A-4975-9C89-A45193492CB9}" destId="{5F3724D0-4C27-4D2A-9FEF-2EB700ECF596}" srcOrd="10" destOrd="0" presId="urn:microsoft.com/office/officeart/2005/8/layout/pList1"/>
    <dgm:cxn modelId="{24204751-D5A6-40D2-9B9A-F2F1E25100DF}" type="presParOf" srcId="{5F3724D0-4C27-4D2A-9FEF-2EB700ECF596}" destId="{35CB3022-B655-40AB-83DE-CA36DBF323A4}" srcOrd="0" destOrd="0" presId="urn:microsoft.com/office/officeart/2005/8/layout/pList1"/>
    <dgm:cxn modelId="{3E289870-45A4-4D9B-9124-39ECED05FFB1}" type="presParOf" srcId="{5F3724D0-4C27-4D2A-9FEF-2EB700ECF596}" destId="{E8612552-4F8C-476B-953A-208D260BDA45}" srcOrd="1" destOrd="0" presId="urn:microsoft.com/office/officeart/2005/8/layout/p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0239962-830E-4A6C-8039-49AF39B1A590}" type="doc">
      <dgm:prSet loTypeId="urn:microsoft.com/office/officeart/2005/8/layout/bList2" loCatId="list" qsTypeId="urn:microsoft.com/office/officeart/2005/8/quickstyle/simple1" qsCatId="simple" csTypeId="urn:microsoft.com/office/officeart/2005/8/colors/accent1_2" csCatId="accent1" phldr="1"/>
      <dgm:spPr/>
    </dgm:pt>
    <dgm:pt modelId="{53E3BD34-66F5-4855-8CA0-DCFCA324F4E5}">
      <dgm:prSet phldrT="[טקסט]"/>
      <dgm:spPr/>
      <dgm:t>
        <a:bodyPr/>
        <a:lstStyle/>
        <a:p>
          <a:pPr rtl="1"/>
          <a:r>
            <a:rPr lang="he-IL" b="1" i="0" dirty="0"/>
            <a:t>ייעוץ אסטרטגי</a:t>
          </a:r>
        </a:p>
        <a:p>
          <a:pPr rtl="1"/>
          <a:endParaRPr lang="he-IL" dirty="0"/>
        </a:p>
      </dgm:t>
    </dgm:pt>
    <dgm:pt modelId="{1C249604-DDE8-4CC1-B251-693CCF10E7A3}" type="parTrans" cxnId="{C32193FA-1D28-4832-BD35-7B08449391FF}">
      <dgm:prSet/>
      <dgm:spPr/>
      <dgm:t>
        <a:bodyPr/>
        <a:lstStyle/>
        <a:p>
          <a:pPr rtl="1"/>
          <a:endParaRPr lang="he-IL"/>
        </a:p>
      </dgm:t>
    </dgm:pt>
    <dgm:pt modelId="{B01CDCC6-84BB-45EA-9D6C-81F13372D41B}" type="sibTrans" cxnId="{C32193FA-1D28-4832-BD35-7B08449391FF}">
      <dgm:prSet/>
      <dgm:spPr/>
      <dgm:t>
        <a:bodyPr/>
        <a:lstStyle/>
        <a:p>
          <a:pPr rtl="1"/>
          <a:endParaRPr lang="he-IL"/>
        </a:p>
      </dgm:t>
    </dgm:pt>
    <dgm:pt modelId="{8B2FC2FE-923B-4F59-82F0-7104F35A7895}">
      <dgm:prSet phldrT="[טקסט]"/>
      <dgm:spPr/>
      <dgm:t>
        <a:bodyPr/>
        <a:lstStyle/>
        <a:p>
          <a:pPr rtl="1"/>
          <a:r>
            <a:rPr lang="he-IL" b="1" i="0" dirty="0"/>
            <a:t>ייעוץ כלכלי ופיננסי</a:t>
          </a:r>
        </a:p>
        <a:p>
          <a:pPr rtl="1"/>
          <a:endParaRPr lang="he-IL" dirty="0"/>
        </a:p>
      </dgm:t>
    </dgm:pt>
    <dgm:pt modelId="{8BF0F92F-48A0-4F13-9FDC-5C6E9FB3049C}" type="parTrans" cxnId="{AEBFDF7F-B0BF-4A96-8AAE-A9BA8DC202E9}">
      <dgm:prSet/>
      <dgm:spPr/>
      <dgm:t>
        <a:bodyPr/>
        <a:lstStyle/>
        <a:p>
          <a:pPr rtl="1"/>
          <a:endParaRPr lang="he-IL"/>
        </a:p>
      </dgm:t>
    </dgm:pt>
    <dgm:pt modelId="{4CD5EAFC-6BD0-41ED-82F6-75FC2C86FEF0}" type="sibTrans" cxnId="{AEBFDF7F-B0BF-4A96-8AAE-A9BA8DC202E9}">
      <dgm:prSet/>
      <dgm:spPr/>
      <dgm:t>
        <a:bodyPr/>
        <a:lstStyle/>
        <a:p>
          <a:pPr rtl="1"/>
          <a:endParaRPr lang="he-IL"/>
        </a:p>
      </dgm:t>
    </dgm:pt>
    <dgm:pt modelId="{D81A2069-DDEB-4A0C-9684-67AE7ED1D944}">
      <dgm:prSet phldrT="[טקסט]"/>
      <dgm:spPr/>
      <dgm:t>
        <a:bodyPr/>
        <a:lstStyle/>
        <a:p>
          <a:pPr rtl="1"/>
          <a:r>
            <a:rPr lang="he-IL" b="1" i="0" dirty="0"/>
            <a:t>ניהול תהליכי שינוי</a:t>
          </a:r>
        </a:p>
        <a:p>
          <a:pPr rtl="1"/>
          <a:endParaRPr lang="he-IL" dirty="0"/>
        </a:p>
      </dgm:t>
    </dgm:pt>
    <dgm:pt modelId="{EF69801F-FC76-4429-BB20-363959BC2B37}" type="parTrans" cxnId="{98455F47-8B80-4C69-A8ED-B6F563B9582C}">
      <dgm:prSet/>
      <dgm:spPr/>
      <dgm:t>
        <a:bodyPr/>
        <a:lstStyle/>
        <a:p>
          <a:pPr rtl="1"/>
          <a:endParaRPr lang="he-IL"/>
        </a:p>
      </dgm:t>
    </dgm:pt>
    <dgm:pt modelId="{BC89801C-12DF-41D9-ACCB-0B9D60CC00A0}" type="sibTrans" cxnId="{98455F47-8B80-4C69-A8ED-B6F563B9582C}">
      <dgm:prSet/>
      <dgm:spPr/>
      <dgm:t>
        <a:bodyPr/>
        <a:lstStyle/>
        <a:p>
          <a:pPr rtl="1"/>
          <a:endParaRPr lang="he-IL"/>
        </a:p>
      </dgm:t>
    </dgm:pt>
    <dgm:pt modelId="{893F62A0-9496-4B70-BC66-AA703EECA9A2}">
      <dgm:prSet custT="1"/>
      <dgm:spPr/>
      <dgm:t>
        <a:bodyPr/>
        <a:lstStyle/>
        <a:p>
          <a:pPr rtl="1">
            <a:buFont typeface="Arial" panose="020B0604020202020204" pitchFamily="34" charset="0"/>
            <a:buChar char="•"/>
          </a:pPr>
          <a:r>
            <a:rPr lang="en-US" sz="1600" b="1" i="0" dirty="0">
              <a:latin typeface="David" panose="020E0502060401010101" pitchFamily="34" charset="-79"/>
              <a:cs typeface="David" panose="020E0502060401010101" pitchFamily="34" charset="-79"/>
            </a:rPr>
            <a:t>ADALYA </a:t>
          </a:r>
          <a:r>
            <a:rPr lang="he-IL" sz="1600" b="1" i="0" dirty="0">
              <a:latin typeface="David" panose="020E0502060401010101" pitchFamily="34" charset="-79"/>
              <a:cs typeface="David" panose="020E0502060401010101" pitchFamily="34" charset="-79"/>
            </a:rPr>
            <a:t> מסייעת ללקוחותיה להוביל תהליכי שינוי אסטרטגי בפירמה ובמשק ותהליכי שינוי פנים ארגוניים באמצעות תהליך מובנה ובדגש על יישומיות</a:t>
          </a:r>
          <a:endParaRPr lang="he-IL" sz="1600" b="1" dirty="0">
            <a:latin typeface="David" panose="020E0502060401010101" pitchFamily="34" charset="-79"/>
            <a:cs typeface="David" panose="020E0502060401010101" pitchFamily="34" charset="-79"/>
          </a:endParaRPr>
        </a:p>
      </dgm:t>
    </dgm:pt>
    <dgm:pt modelId="{28BBCD31-C6C1-4BD0-87DA-7F3287A0E2EF}" type="parTrans" cxnId="{34292142-FCD2-44C8-BC6D-15F382993AF7}">
      <dgm:prSet/>
      <dgm:spPr/>
      <dgm:t>
        <a:bodyPr/>
        <a:lstStyle/>
        <a:p>
          <a:pPr rtl="1"/>
          <a:endParaRPr lang="he-IL"/>
        </a:p>
      </dgm:t>
    </dgm:pt>
    <dgm:pt modelId="{61AB3D2C-2437-4258-8965-FF8EF54E7930}" type="sibTrans" cxnId="{34292142-FCD2-44C8-BC6D-15F382993AF7}">
      <dgm:prSet/>
      <dgm:spPr/>
      <dgm:t>
        <a:bodyPr/>
        <a:lstStyle/>
        <a:p>
          <a:pPr rtl="1"/>
          <a:endParaRPr lang="he-IL"/>
        </a:p>
      </dgm:t>
    </dgm:pt>
    <dgm:pt modelId="{C2058C50-5300-4221-A711-F61BEA21C5DF}">
      <dgm:prSet custT="1"/>
      <dgm:spPr/>
      <dgm:t>
        <a:bodyPr/>
        <a:lstStyle/>
        <a:p>
          <a:pPr rtl="1"/>
          <a:r>
            <a:rPr lang="en-US" sz="1800" b="1" i="0" dirty="0">
              <a:latin typeface="David" panose="020E0502060401010101" pitchFamily="34" charset="-79"/>
              <a:cs typeface="David" panose="020E0502060401010101" pitchFamily="34" charset="-79"/>
            </a:rPr>
            <a:t>ADALYA </a:t>
          </a:r>
          <a:r>
            <a:rPr lang="he-IL" sz="1800" b="1" i="0" dirty="0">
              <a:latin typeface="David" panose="020E0502060401010101" pitchFamily="34" charset="-79"/>
              <a:cs typeface="David" panose="020E0502060401010101" pitchFamily="34" charset="-79"/>
            </a:rPr>
            <a:t> מציעה מגוון מוצרים ייחודיים ומותאמים ללקוח בתחום הייעוץ הכלכלי, אסטרטגי ופיננסי</a:t>
          </a:r>
          <a:endParaRPr lang="he-IL" sz="1800" b="1" dirty="0">
            <a:latin typeface="David" panose="020E0502060401010101" pitchFamily="34" charset="-79"/>
            <a:cs typeface="David" panose="020E0502060401010101" pitchFamily="34" charset="-79"/>
          </a:endParaRPr>
        </a:p>
      </dgm:t>
    </dgm:pt>
    <dgm:pt modelId="{7F93FE67-F73D-4F48-8887-920ED4C4FA61}" type="parTrans" cxnId="{DE27D5D5-47BB-453E-AB16-6ABDF8EBA0F0}">
      <dgm:prSet/>
      <dgm:spPr/>
      <dgm:t>
        <a:bodyPr/>
        <a:lstStyle/>
        <a:p>
          <a:pPr rtl="1"/>
          <a:endParaRPr lang="he-IL"/>
        </a:p>
      </dgm:t>
    </dgm:pt>
    <dgm:pt modelId="{8F0B7110-D702-409F-A748-C2D9F4587BAF}" type="sibTrans" cxnId="{DE27D5D5-47BB-453E-AB16-6ABDF8EBA0F0}">
      <dgm:prSet/>
      <dgm:spPr/>
      <dgm:t>
        <a:bodyPr/>
        <a:lstStyle/>
        <a:p>
          <a:pPr rtl="1"/>
          <a:endParaRPr lang="he-IL"/>
        </a:p>
      </dgm:t>
    </dgm:pt>
    <dgm:pt modelId="{15343025-0C10-425B-A728-39F3914E3B5D}">
      <dgm:prSet/>
      <dgm:spPr/>
      <dgm:t>
        <a:bodyPr/>
        <a:lstStyle/>
        <a:p>
          <a:pPr rtl="1"/>
          <a:r>
            <a:rPr lang="en-US" b="1" i="0" dirty="0">
              <a:latin typeface="David" panose="020E0502060401010101" pitchFamily="34" charset="-79"/>
              <a:cs typeface="David" panose="020E0502060401010101" pitchFamily="34" charset="-79"/>
            </a:rPr>
            <a:t>ADALYA </a:t>
          </a:r>
          <a:r>
            <a:rPr lang="he-IL" b="1" i="0" dirty="0">
              <a:latin typeface="David" panose="020E0502060401010101" pitchFamily="34" charset="-79"/>
              <a:cs typeface="David" panose="020E0502060401010101" pitchFamily="34" charset="-79"/>
            </a:rPr>
            <a:t> מתמחה במתן ייעוץ אסטרטגי למכלול גופים ציבוריים ופרטיים על מנת לסייע להם לגבש תכנית אסטרטגית ארוכת טווח</a:t>
          </a:r>
          <a:endParaRPr lang="he-IL" b="1" dirty="0">
            <a:latin typeface="David" panose="020E0502060401010101" pitchFamily="34" charset="-79"/>
            <a:cs typeface="David" panose="020E0502060401010101" pitchFamily="34" charset="-79"/>
          </a:endParaRPr>
        </a:p>
      </dgm:t>
    </dgm:pt>
    <dgm:pt modelId="{A766C445-C03C-4F6A-9AE5-BEB7BD686EE8}" type="parTrans" cxnId="{C66D7B82-5113-4DC5-A3CB-18F7094C77DD}">
      <dgm:prSet/>
      <dgm:spPr/>
      <dgm:t>
        <a:bodyPr/>
        <a:lstStyle/>
        <a:p>
          <a:pPr rtl="1"/>
          <a:endParaRPr lang="he-IL"/>
        </a:p>
      </dgm:t>
    </dgm:pt>
    <dgm:pt modelId="{12BC070D-8E4D-48D3-81E3-A3D8A795D9C6}" type="sibTrans" cxnId="{C66D7B82-5113-4DC5-A3CB-18F7094C77DD}">
      <dgm:prSet/>
      <dgm:spPr/>
      <dgm:t>
        <a:bodyPr/>
        <a:lstStyle/>
        <a:p>
          <a:pPr rtl="1"/>
          <a:endParaRPr lang="he-IL"/>
        </a:p>
      </dgm:t>
    </dgm:pt>
    <dgm:pt modelId="{732B59BB-ACFC-47D2-BC16-650B51F494BE}" type="pres">
      <dgm:prSet presAssocID="{20239962-830E-4A6C-8039-49AF39B1A590}" presName="diagram" presStyleCnt="0">
        <dgm:presLayoutVars>
          <dgm:dir/>
          <dgm:animLvl val="lvl"/>
          <dgm:resizeHandles val="exact"/>
        </dgm:presLayoutVars>
      </dgm:prSet>
      <dgm:spPr/>
    </dgm:pt>
    <dgm:pt modelId="{188DEE6B-A7A0-4276-8D76-DD73AE33E7C1}" type="pres">
      <dgm:prSet presAssocID="{53E3BD34-66F5-4855-8CA0-DCFCA324F4E5}" presName="compNode" presStyleCnt="0"/>
      <dgm:spPr/>
    </dgm:pt>
    <dgm:pt modelId="{FFFD469C-1AEA-4CF9-B6E2-C8523469FDEB}" type="pres">
      <dgm:prSet presAssocID="{53E3BD34-66F5-4855-8CA0-DCFCA324F4E5}" presName="childRect" presStyleLbl="bgAcc1" presStyleIdx="0" presStyleCnt="3">
        <dgm:presLayoutVars>
          <dgm:bulletEnabled val="1"/>
        </dgm:presLayoutVars>
      </dgm:prSet>
      <dgm:spPr/>
    </dgm:pt>
    <dgm:pt modelId="{F50B181D-D15A-4388-BA97-00C1D74D8A19}" type="pres">
      <dgm:prSet presAssocID="{53E3BD34-66F5-4855-8CA0-DCFCA324F4E5}" presName="parentText" presStyleLbl="node1" presStyleIdx="0" presStyleCnt="0">
        <dgm:presLayoutVars>
          <dgm:chMax val="0"/>
          <dgm:bulletEnabled val="1"/>
        </dgm:presLayoutVars>
      </dgm:prSet>
      <dgm:spPr/>
    </dgm:pt>
    <dgm:pt modelId="{16508424-8239-48FE-87C4-1C5D01CB752F}" type="pres">
      <dgm:prSet presAssocID="{53E3BD34-66F5-4855-8CA0-DCFCA324F4E5}" presName="parentRect" presStyleLbl="alignNode1" presStyleIdx="0" presStyleCnt="3"/>
      <dgm:spPr/>
    </dgm:pt>
    <dgm:pt modelId="{EAB98454-85E1-4905-8F8E-B747AA71D25A}" type="pres">
      <dgm:prSet presAssocID="{53E3BD34-66F5-4855-8CA0-DCFCA324F4E5}" presName="adorn" presStyleLbl="fgAccFollow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42454A9-4F92-49EF-9EF7-19F1015D6408}" type="pres">
      <dgm:prSet presAssocID="{B01CDCC6-84BB-45EA-9D6C-81F13372D41B}" presName="sibTrans" presStyleLbl="sibTrans2D1" presStyleIdx="0" presStyleCnt="0"/>
      <dgm:spPr/>
    </dgm:pt>
    <dgm:pt modelId="{D3535FAD-7261-47D9-9EDD-EFE7CB34E3F7}" type="pres">
      <dgm:prSet presAssocID="{8B2FC2FE-923B-4F59-82F0-7104F35A7895}" presName="compNode" presStyleCnt="0"/>
      <dgm:spPr/>
    </dgm:pt>
    <dgm:pt modelId="{1174A013-C623-46B3-9571-FCDEA3B45C7F}" type="pres">
      <dgm:prSet presAssocID="{8B2FC2FE-923B-4F59-82F0-7104F35A7895}" presName="childRect" presStyleLbl="bgAcc1" presStyleIdx="1" presStyleCnt="3">
        <dgm:presLayoutVars>
          <dgm:bulletEnabled val="1"/>
        </dgm:presLayoutVars>
      </dgm:prSet>
      <dgm:spPr/>
    </dgm:pt>
    <dgm:pt modelId="{150D6BAC-23F2-41A6-9710-05D2ADDB10D6}" type="pres">
      <dgm:prSet presAssocID="{8B2FC2FE-923B-4F59-82F0-7104F35A7895}" presName="parentText" presStyleLbl="node1" presStyleIdx="0" presStyleCnt="0">
        <dgm:presLayoutVars>
          <dgm:chMax val="0"/>
          <dgm:bulletEnabled val="1"/>
        </dgm:presLayoutVars>
      </dgm:prSet>
      <dgm:spPr/>
    </dgm:pt>
    <dgm:pt modelId="{ABF121E8-A4BC-4C17-AAC0-CD46EBE817F7}" type="pres">
      <dgm:prSet presAssocID="{8B2FC2FE-923B-4F59-82F0-7104F35A7895}" presName="parentRect" presStyleLbl="alignNode1" presStyleIdx="1" presStyleCnt="3"/>
      <dgm:spPr/>
    </dgm:pt>
    <dgm:pt modelId="{F476AF33-99BE-4D84-9FD7-29F274E9201E}" type="pres">
      <dgm:prSet presAssocID="{8B2FC2FE-923B-4F59-82F0-7104F35A7895}" presName="adorn" presStyleLbl="fgAccFollow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1000" r="-1000"/>
          </a:stretch>
        </a:blipFill>
      </dgm:spPr>
    </dgm:pt>
    <dgm:pt modelId="{DD7A1A01-769F-4DD8-94CF-6464001A469B}" type="pres">
      <dgm:prSet presAssocID="{4CD5EAFC-6BD0-41ED-82F6-75FC2C86FEF0}" presName="sibTrans" presStyleLbl="sibTrans2D1" presStyleIdx="0" presStyleCnt="0"/>
      <dgm:spPr/>
    </dgm:pt>
    <dgm:pt modelId="{4B3D49B1-139A-47AA-891B-384C6975679D}" type="pres">
      <dgm:prSet presAssocID="{D81A2069-DDEB-4A0C-9684-67AE7ED1D944}" presName="compNode" presStyleCnt="0"/>
      <dgm:spPr/>
    </dgm:pt>
    <dgm:pt modelId="{06C5932B-F492-4C2E-97AB-614483744932}" type="pres">
      <dgm:prSet presAssocID="{D81A2069-DDEB-4A0C-9684-67AE7ED1D944}" presName="childRect" presStyleLbl="bgAcc1" presStyleIdx="2" presStyleCnt="3">
        <dgm:presLayoutVars>
          <dgm:bulletEnabled val="1"/>
        </dgm:presLayoutVars>
      </dgm:prSet>
      <dgm:spPr/>
    </dgm:pt>
    <dgm:pt modelId="{ECEFBD36-DEA1-4955-B31A-D53618DFF491}" type="pres">
      <dgm:prSet presAssocID="{D81A2069-DDEB-4A0C-9684-67AE7ED1D944}" presName="parentText" presStyleLbl="node1" presStyleIdx="0" presStyleCnt="0">
        <dgm:presLayoutVars>
          <dgm:chMax val="0"/>
          <dgm:bulletEnabled val="1"/>
        </dgm:presLayoutVars>
      </dgm:prSet>
      <dgm:spPr/>
    </dgm:pt>
    <dgm:pt modelId="{CC1FCE79-16C4-4281-885B-07240184BEC6}" type="pres">
      <dgm:prSet presAssocID="{D81A2069-DDEB-4A0C-9684-67AE7ED1D944}" presName="parentRect" presStyleLbl="alignNode1" presStyleIdx="2" presStyleCnt="3"/>
      <dgm:spPr/>
    </dgm:pt>
    <dgm:pt modelId="{92798709-7976-48FA-866F-B7789BA49F54}" type="pres">
      <dgm:prSet presAssocID="{D81A2069-DDEB-4A0C-9684-67AE7ED1D944}" presName="adorn" presStyleLbl="fgAccFollow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dgm:spPr>
    </dgm:pt>
  </dgm:ptLst>
  <dgm:cxnLst>
    <dgm:cxn modelId="{9BDEB518-ACF5-4C43-9B93-6290EB0E7888}" type="presOf" srcId="{8B2FC2FE-923B-4F59-82F0-7104F35A7895}" destId="{ABF121E8-A4BC-4C17-AAC0-CD46EBE817F7}" srcOrd="1" destOrd="0" presId="urn:microsoft.com/office/officeart/2005/8/layout/bList2"/>
    <dgm:cxn modelId="{D553B525-614A-47C4-AED1-51602EB60B72}" type="presOf" srcId="{C2058C50-5300-4221-A711-F61BEA21C5DF}" destId="{1174A013-C623-46B3-9571-FCDEA3B45C7F}" srcOrd="0" destOrd="0" presId="urn:microsoft.com/office/officeart/2005/8/layout/bList2"/>
    <dgm:cxn modelId="{A79B043D-FB8B-4F73-9D51-71496DB6C3C9}" type="presOf" srcId="{B01CDCC6-84BB-45EA-9D6C-81F13372D41B}" destId="{F42454A9-4F92-49EF-9EF7-19F1015D6408}" srcOrd="0" destOrd="0" presId="urn:microsoft.com/office/officeart/2005/8/layout/bList2"/>
    <dgm:cxn modelId="{34292142-FCD2-44C8-BC6D-15F382993AF7}" srcId="{D81A2069-DDEB-4A0C-9684-67AE7ED1D944}" destId="{893F62A0-9496-4B70-BC66-AA703EECA9A2}" srcOrd="0" destOrd="0" parTransId="{28BBCD31-C6C1-4BD0-87DA-7F3287A0E2EF}" sibTransId="{61AB3D2C-2437-4258-8965-FF8EF54E7930}"/>
    <dgm:cxn modelId="{AE6B3B44-2E5F-4059-BB9F-BBC603726330}" type="presOf" srcId="{D81A2069-DDEB-4A0C-9684-67AE7ED1D944}" destId="{ECEFBD36-DEA1-4955-B31A-D53618DFF491}" srcOrd="0" destOrd="0" presId="urn:microsoft.com/office/officeart/2005/8/layout/bList2"/>
    <dgm:cxn modelId="{98455F47-8B80-4C69-A8ED-B6F563B9582C}" srcId="{20239962-830E-4A6C-8039-49AF39B1A590}" destId="{D81A2069-DDEB-4A0C-9684-67AE7ED1D944}" srcOrd="2" destOrd="0" parTransId="{EF69801F-FC76-4429-BB20-363959BC2B37}" sibTransId="{BC89801C-12DF-41D9-ACCB-0B9D60CC00A0}"/>
    <dgm:cxn modelId="{AA6BB247-3872-46A0-ADC5-3EB740A1414D}" type="presOf" srcId="{4CD5EAFC-6BD0-41ED-82F6-75FC2C86FEF0}" destId="{DD7A1A01-769F-4DD8-94CF-6464001A469B}" srcOrd="0" destOrd="0" presId="urn:microsoft.com/office/officeart/2005/8/layout/bList2"/>
    <dgm:cxn modelId="{AEBFDF7F-B0BF-4A96-8AAE-A9BA8DC202E9}" srcId="{20239962-830E-4A6C-8039-49AF39B1A590}" destId="{8B2FC2FE-923B-4F59-82F0-7104F35A7895}" srcOrd="1" destOrd="0" parTransId="{8BF0F92F-48A0-4F13-9FDC-5C6E9FB3049C}" sibTransId="{4CD5EAFC-6BD0-41ED-82F6-75FC2C86FEF0}"/>
    <dgm:cxn modelId="{C66D7B82-5113-4DC5-A3CB-18F7094C77DD}" srcId="{53E3BD34-66F5-4855-8CA0-DCFCA324F4E5}" destId="{15343025-0C10-425B-A728-39F3914E3B5D}" srcOrd="0" destOrd="0" parTransId="{A766C445-C03C-4F6A-9AE5-BEB7BD686EE8}" sibTransId="{12BC070D-8E4D-48D3-81E3-A3D8A795D9C6}"/>
    <dgm:cxn modelId="{3E543F87-E309-4152-8FA4-CCD3430199BF}" type="presOf" srcId="{20239962-830E-4A6C-8039-49AF39B1A590}" destId="{732B59BB-ACFC-47D2-BC16-650B51F494BE}" srcOrd="0" destOrd="0" presId="urn:microsoft.com/office/officeart/2005/8/layout/bList2"/>
    <dgm:cxn modelId="{C8E6C9C3-7DC5-4671-BFC9-7CA678593611}" type="presOf" srcId="{53E3BD34-66F5-4855-8CA0-DCFCA324F4E5}" destId="{F50B181D-D15A-4388-BA97-00C1D74D8A19}" srcOrd="0" destOrd="0" presId="urn:microsoft.com/office/officeart/2005/8/layout/bList2"/>
    <dgm:cxn modelId="{72CD2CC9-CCDC-4923-8790-E5D36CBD8723}" type="presOf" srcId="{D81A2069-DDEB-4A0C-9684-67AE7ED1D944}" destId="{CC1FCE79-16C4-4281-885B-07240184BEC6}" srcOrd="1" destOrd="0" presId="urn:microsoft.com/office/officeart/2005/8/layout/bList2"/>
    <dgm:cxn modelId="{DE27D5D5-47BB-453E-AB16-6ABDF8EBA0F0}" srcId="{8B2FC2FE-923B-4F59-82F0-7104F35A7895}" destId="{C2058C50-5300-4221-A711-F61BEA21C5DF}" srcOrd="0" destOrd="0" parTransId="{7F93FE67-F73D-4F48-8887-920ED4C4FA61}" sibTransId="{8F0B7110-D702-409F-A748-C2D9F4587BAF}"/>
    <dgm:cxn modelId="{6F80F9DC-0145-4F13-8578-50FCF72AFAD6}" type="presOf" srcId="{15343025-0C10-425B-A728-39F3914E3B5D}" destId="{FFFD469C-1AEA-4CF9-B6E2-C8523469FDEB}" srcOrd="0" destOrd="0" presId="urn:microsoft.com/office/officeart/2005/8/layout/bList2"/>
    <dgm:cxn modelId="{9C2F30E3-BD69-47CC-83CE-F47A932240CC}" type="presOf" srcId="{8B2FC2FE-923B-4F59-82F0-7104F35A7895}" destId="{150D6BAC-23F2-41A6-9710-05D2ADDB10D6}" srcOrd="0" destOrd="0" presId="urn:microsoft.com/office/officeart/2005/8/layout/bList2"/>
    <dgm:cxn modelId="{981FFAEC-B192-40A1-9C53-DE288A5950CE}" type="presOf" srcId="{53E3BD34-66F5-4855-8CA0-DCFCA324F4E5}" destId="{16508424-8239-48FE-87C4-1C5D01CB752F}" srcOrd="1" destOrd="0" presId="urn:microsoft.com/office/officeart/2005/8/layout/bList2"/>
    <dgm:cxn modelId="{C32193FA-1D28-4832-BD35-7B08449391FF}" srcId="{20239962-830E-4A6C-8039-49AF39B1A590}" destId="{53E3BD34-66F5-4855-8CA0-DCFCA324F4E5}" srcOrd="0" destOrd="0" parTransId="{1C249604-DDE8-4CC1-B251-693CCF10E7A3}" sibTransId="{B01CDCC6-84BB-45EA-9D6C-81F13372D41B}"/>
    <dgm:cxn modelId="{44F436FD-CBA8-4E22-A243-F8976179EE14}" type="presOf" srcId="{893F62A0-9496-4B70-BC66-AA703EECA9A2}" destId="{06C5932B-F492-4C2E-97AB-614483744932}" srcOrd="0" destOrd="0" presId="urn:microsoft.com/office/officeart/2005/8/layout/bList2"/>
    <dgm:cxn modelId="{A3904732-AA6E-4036-8D21-22E93B509A51}" type="presParOf" srcId="{732B59BB-ACFC-47D2-BC16-650B51F494BE}" destId="{188DEE6B-A7A0-4276-8D76-DD73AE33E7C1}" srcOrd="0" destOrd="0" presId="urn:microsoft.com/office/officeart/2005/8/layout/bList2"/>
    <dgm:cxn modelId="{D89DD0C2-8953-459E-B843-6494BACBD512}" type="presParOf" srcId="{188DEE6B-A7A0-4276-8D76-DD73AE33E7C1}" destId="{FFFD469C-1AEA-4CF9-B6E2-C8523469FDEB}" srcOrd="0" destOrd="0" presId="urn:microsoft.com/office/officeart/2005/8/layout/bList2"/>
    <dgm:cxn modelId="{8FE629D4-F938-4D32-900A-7891827D84C5}" type="presParOf" srcId="{188DEE6B-A7A0-4276-8D76-DD73AE33E7C1}" destId="{F50B181D-D15A-4388-BA97-00C1D74D8A19}" srcOrd="1" destOrd="0" presId="urn:microsoft.com/office/officeart/2005/8/layout/bList2"/>
    <dgm:cxn modelId="{71E7A37B-2C58-4DB8-B618-51B768712AD7}" type="presParOf" srcId="{188DEE6B-A7A0-4276-8D76-DD73AE33E7C1}" destId="{16508424-8239-48FE-87C4-1C5D01CB752F}" srcOrd="2" destOrd="0" presId="urn:microsoft.com/office/officeart/2005/8/layout/bList2"/>
    <dgm:cxn modelId="{6047FB86-39BE-40FA-A37A-C9738E031F20}" type="presParOf" srcId="{188DEE6B-A7A0-4276-8D76-DD73AE33E7C1}" destId="{EAB98454-85E1-4905-8F8E-B747AA71D25A}" srcOrd="3" destOrd="0" presId="urn:microsoft.com/office/officeart/2005/8/layout/bList2"/>
    <dgm:cxn modelId="{F857C4D2-D0A1-4B2B-A257-28DE54555449}" type="presParOf" srcId="{732B59BB-ACFC-47D2-BC16-650B51F494BE}" destId="{F42454A9-4F92-49EF-9EF7-19F1015D6408}" srcOrd="1" destOrd="0" presId="urn:microsoft.com/office/officeart/2005/8/layout/bList2"/>
    <dgm:cxn modelId="{D66CA87B-C04E-4DC8-9215-C4DEBB46F31E}" type="presParOf" srcId="{732B59BB-ACFC-47D2-BC16-650B51F494BE}" destId="{D3535FAD-7261-47D9-9EDD-EFE7CB34E3F7}" srcOrd="2" destOrd="0" presId="urn:microsoft.com/office/officeart/2005/8/layout/bList2"/>
    <dgm:cxn modelId="{989D7F78-1CB9-41FD-99AE-7B74D5976AB6}" type="presParOf" srcId="{D3535FAD-7261-47D9-9EDD-EFE7CB34E3F7}" destId="{1174A013-C623-46B3-9571-FCDEA3B45C7F}" srcOrd="0" destOrd="0" presId="urn:microsoft.com/office/officeart/2005/8/layout/bList2"/>
    <dgm:cxn modelId="{404A4CBD-49E1-4671-B525-D91C2C24FCDF}" type="presParOf" srcId="{D3535FAD-7261-47D9-9EDD-EFE7CB34E3F7}" destId="{150D6BAC-23F2-41A6-9710-05D2ADDB10D6}" srcOrd="1" destOrd="0" presId="urn:microsoft.com/office/officeart/2005/8/layout/bList2"/>
    <dgm:cxn modelId="{1E94086A-9E69-45BE-8F1A-87C45F3C9D07}" type="presParOf" srcId="{D3535FAD-7261-47D9-9EDD-EFE7CB34E3F7}" destId="{ABF121E8-A4BC-4C17-AAC0-CD46EBE817F7}" srcOrd="2" destOrd="0" presId="urn:microsoft.com/office/officeart/2005/8/layout/bList2"/>
    <dgm:cxn modelId="{84C16E6A-81A5-4FE4-B1F0-EC112C03DAAF}" type="presParOf" srcId="{D3535FAD-7261-47D9-9EDD-EFE7CB34E3F7}" destId="{F476AF33-99BE-4D84-9FD7-29F274E9201E}" srcOrd="3" destOrd="0" presId="urn:microsoft.com/office/officeart/2005/8/layout/bList2"/>
    <dgm:cxn modelId="{3DAD383E-B819-4B1C-B0F9-D790FD4283EF}" type="presParOf" srcId="{732B59BB-ACFC-47D2-BC16-650B51F494BE}" destId="{DD7A1A01-769F-4DD8-94CF-6464001A469B}" srcOrd="3" destOrd="0" presId="urn:microsoft.com/office/officeart/2005/8/layout/bList2"/>
    <dgm:cxn modelId="{1447BD02-7D27-4DB5-A52E-6419AC9002A1}" type="presParOf" srcId="{732B59BB-ACFC-47D2-BC16-650B51F494BE}" destId="{4B3D49B1-139A-47AA-891B-384C6975679D}" srcOrd="4" destOrd="0" presId="urn:microsoft.com/office/officeart/2005/8/layout/bList2"/>
    <dgm:cxn modelId="{86F7070D-910D-43B3-8EB6-84F28B62201A}" type="presParOf" srcId="{4B3D49B1-139A-47AA-891B-384C6975679D}" destId="{06C5932B-F492-4C2E-97AB-614483744932}" srcOrd="0" destOrd="0" presId="urn:microsoft.com/office/officeart/2005/8/layout/bList2"/>
    <dgm:cxn modelId="{A1E8E625-BFC6-402A-ADD2-69DDABE10835}" type="presParOf" srcId="{4B3D49B1-139A-47AA-891B-384C6975679D}" destId="{ECEFBD36-DEA1-4955-B31A-D53618DFF491}" srcOrd="1" destOrd="0" presId="urn:microsoft.com/office/officeart/2005/8/layout/bList2"/>
    <dgm:cxn modelId="{DAF340F6-73A3-48F3-9139-4A277C91FE11}" type="presParOf" srcId="{4B3D49B1-139A-47AA-891B-384C6975679D}" destId="{CC1FCE79-16C4-4281-885B-07240184BEC6}" srcOrd="2" destOrd="0" presId="urn:microsoft.com/office/officeart/2005/8/layout/bList2"/>
    <dgm:cxn modelId="{4355F05B-FB0A-48D5-8EBF-1C0A292B1641}" type="presParOf" srcId="{4B3D49B1-139A-47AA-891B-384C6975679D}" destId="{92798709-7976-48FA-866F-B7789BA49F54}" srcOrd="3" destOrd="0" presId="urn:microsoft.com/office/officeart/2005/8/layout/b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239962-830E-4A6C-8039-49AF39B1A590}" type="doc">
      <dgm:prSet loTypeId="urn:microsoft.com/office/officeart/2005/8/layout/bList2" loCatId="list" qsTypeId="urn:microsoft.com/office/officeart/2005/8/quickstyle/simple1" qsCatId="simple" csTypeId="urn:microsoft.com/office/officeart/2005/8/colors/accent1_2" csCatId="accent1" phldr="1"/>
      <dgm:spPr/>
    </dgm:pt>
    <dgm:pt modelId="{53E3BD34-66F5-4855-8CA0-DCFCA324F4E5}">
      <dgm:prSet phldrT="[טקסט]"/>
      <dgm:spPr/>
      <dgm:t>
        <a:bodyPr/>
        <a:lstStyle/>
        <a:p>
          <a:pPr rtl="1"/>
          <a:r>
            <a:rPr lang="he-IL" b="1" i="0" dirty="0"/>
            <a:t>סקרים ומחקרים</a:t>
          </a:r>
        </a:p>
        <a:p>
          <a:pPr rtl="1"/>
          <a:endParaRPr lang="he-IL" dirty="0"/>
        </a:p>
      </dgm:t>
    </dgm:pt>
    <dgm:pt modelId="{1C249604-DDE8-4CC1-B251-693CCF10E7A3}" type="parTrans" cxnId="{C32193FA-1D28-4832-BD35-7B08449391FF}">
      <dgm:prSet/>
      <dgm:spPr/>
      <dgm:t>
        <a:bodyPr/>
        <a:lstStyle/>
        <a:p>
          <a:pPr rtl="1"/>
          <a:endParaRPr lang="he-IL"/>
        </a:p>
      </dgm:t>
    </dgm:pt>
    <dgm:pt modelId="{B01CDCC6-84BB-45EA-9D6C-81F13372D41B}" type="sibTrans" cxnId="{C32193FA-1D28-4832-BD35-7B08449391FF}">
      <dgm:prSet/>
      <dgm:spPr/>
      <dgm:t>
        <a:bodyPr/>
        <a:lstStyle/>
        <a:p>
          <a:pPr rtl="1"/>
          <a:endParaRPr lang="he-IL"/>
        </a:p>
      </dgm:t>
    </dgm:pt>
    <dgm:pt modelId="{8B2FC2FE-923B-4F59-82F0-7104F35A7895}">
      <dgm:prSet phldrT="[טקסט]"/>
      <dgm:spPr/>
      <dgm:t>
        <a:bodyPr/>
        <a:lstStyle/>
        <a:p>
          <a:pPr rtl="1"/>
          <a:r>
            <a:rPr lang="he-IL" b="1" i="0" dirty="0"/>
            <a:t>תכנון תחבורה</a:t>
          </a:r>
        </a:p>
        <a:p>
          <a:pPr rtl="1"/>
          <a:endParaRPr lang="he-IL" dirty="0"/>
        </a:p>
      </dgm:t>
    </dgm:pt>
    <dgm:pt modelId="{8BF0F92F-48A0-4F13-9FDC-5C6E9FB3049C}" type="parTrans" cxnId="{AEBFDF7F-B0BF-4A96-8AAE-A9BA8DC202E9}">
      <dgm:prSet/>
      <dgm:spPr/>
      <dgm:t>
        <a:bodyPr/>
        <a:lstStyle/>
        <a:p>
          <a:pPr rtl="1"/>
          <a:endParaRPr lang="he-IL"/>
        </a:p>
      </dgm:t>
    </dgm:pt>
    <dgm:pt modelId="{4CD5EAFC-6BD0-41ED-82F6-75FC2C86FEF0}" type="sibTrans" cxnId="{AEBFDF7F-B0BF-4A96-8AAE-A9BA8DC202E9}">
      <dgm:prSet/>
      <dgm:spPr/>
      <dgm:t>
        <a:bodyPr/>
        <a:lstStyle/>
        <a:p>
          <a:pPr rtl="1"/>
          <a:endParaRPr lang="he-IL"/>
        </a:p>
      </dgm:t>
    </dgm:pt>
    <dgm:pt modelId="{D81A2069-DDEB-4A0C-9684-67AE7ED1D944}">
      <dgm:prSet phldrT="[טקסט]"/>
      <dgm:spPr/>
      <dgm:t>
        <a:bodyPr/>
        <a:lstStyle/>
        <a:p>
          <a:pPr rtl="1"/>
          <a:r>
            <a:rPr lang="he-IL" b="1" i="0" dirty="0"/>
            <a:t>מכרזים, רכש והתקשרויות</a:t>
          </a:r>
        </a:p>
        <a:p>
          <a:pPr rtl="1"/>
          <a:endParaRPr lang="he-IL" dirty="0"/>
        </a:p>
      </dgm:t>
    </dgm:pt>
    <dgm:pt modelId="{EF69801F-FC76-4429-BB20-363959BC2B37}" type="parTrans" cxnId="{98455F47-8B80-4C69-A8ED-B6F563B9582C}">
      <dgm:prSet/>
      <dgm:spPr/>
      <dgm:t>
        <a:bodyPr/>
        <a:lstStyle/>
        <a:p>
          <a:pPr rtl="1"/>
          <a:endParaRPr lang="he-IL"/>
        </a:p>
      </dgm:t>
    </dgm:pt>
    <dgm:pt modelId="{BC89801C-12DF-41D9-ACCB-0B9D60CC00A0}" type="sibTrans" cxnId="{98455F47-8B80-4C69-A8ED-B6F563B9582C}">
      <dgm:prSet/>
      <dgm:spPr/>
      <dgm:t>
        <a:bodyPr/>
        <a:lstStyle/>
        <a:p>
          <a:pPr rtl="1"/>
          <a:endParaRPr lang="he-IL"/>
        </a:p>
      </dgm:t>
    </dgm:pt>
    <dgm:pt modelId="{2582482E-36C1-4613-BCFD-E28AE2156085}">
      <dgm:prSet/>
      <dgm:spPr/>
      <dgm:t>
        <a:bodyPr/>
        <a:lstStyle/>
        <a:p>
          <a:pPr rtl="1"/>
          <a:r>
            <a:rPr lang="en-US" b="1" i="0" dirty="0">
              <a:latin typeface="David" panose="020E0502060401010101" pitchFamily="34" charset="-79"/>
              <a:cs typeface="David" panose="020E0502060401010101" pitchFamily="34" charset="-79"/>
            </a:rPr>
            <a:t> ADALYA </a:t>
          </a:r>
          <a:r>
            <a:rPr lang="he-IL" b="1" i="0" dirty="0">
              <a:latin typeface="David" panose="020E0502060401010101" pitchFamily="34" charset="-79"/>
              <a:cs typeface="David" panose="020E0502060401010101" pitchFamily="34" charset="-79"/>
            </a:rPr>
            <a:t>בעלת ניסיון רב והתמקצעות בליווי תהליכי מכרז בתחום הרכש והתקשרויות, בסקטור הציבורי והפרטי.</a:t>
          </a:r>
          <a:endParaRPr lang="he-IL" b="1" dirty="0">
            <a:latin typeface="David" panose="020E0502060401010101" pitchFamily="34" charset="-79"/>
            <a:cs typeface="David" panose="020E0502060401010101" pitchFamily="34" charset="-79"/>
          </a:endParaRPr>
        </a:p>
      </dgm:t>
    </dgm:pt>
    <dgm:pt modelId="{05E2A985-0B8E-4F1F-9EE0-29E644C64B8B}" type="parTrans" cxnId="{FB3A23AE-3FC9-4AAE-9669-5985164FE97C}">
      <dgm:prSet/>
      <dgm:spPr/>
      <dgm:t>
        <a:bodyPr/>
        <a:lstStyle/>
        <a:p>
          <a:pPr rtl="1"/>
          <a:endParaRPr lang="he-IL"/>
        </a:p>
      </dgm:t>
    </dgm:pt>
    <dgm:pt modelId="{ACDD135E-78F1-401C-993F-76ACE82BBAC6}" type="sibTrans" cxnId="{FB3A23AE-3FC9-4AAE-9669-5985164FE97C}">
      <dgm:prSet/>
      <dgm:spPr/>
      <dgm:t>
        <a:bodyPr/>
        <a:lstStyle/>
        <a:p>
          <a:pPr rtl="1"/>
          <a:endParaRPr lang="he-IL"/>
        </a:p>
      </dgm:t>
    </dgm:pt>
    <dgm:pt modelId="{A420EA13-DCB3-496D-A3B4-DACE2B12F00E}">
      <dgm:prSet/>
      <dgm:spPr/>
      <dgm:t>
        <a:bodyPr/>
        <a:lstStyle/>
        <a:p>
          <a:pPr rtl="1"/>
          <a:r>
            <a:rPr lang="he-IL" b="1" i="0" dirty="0">
              <a:latin typeface="David" panose="020E0502060401010101" pitchFamily="34" charset="-79"/>
              <a:cs typeface="David" panose="020E0502060401010101" pitchFamily="34" charset="-79"/>
            </a:rPr>
            <a:t>התכנון התחבורתי הוא חלק מרכזי ובלתי נפרד מעבודתה השוטפת של </a:t>
          </a:r>
          <a:r>
            <a:rPr lang="en-US" b="1" i="0" dirty="0">
              <a:latin typeface="David" panose="020E0502060401010101" pitchFamily="34" charset="-79"/>
              <a:cs typeface="David" panose="020E0502060401010101" pitchFamily="34" charset="-79"/>
            </a:rPr>
            <a:t>ADALYA</a:t>
          </a:r>
          <a:r>
            <a:rPr lang="he-IL" b="1" i="0" dirty="0">
              <a:latin typeface="David" panose="020E0502060401010101" pitchFamily="34" charset="-79"/>
              <a:cs typeface="David" panose="020E0502060401010101" pitchFamily="34" charset="-79"/>
            </a:rPr>
            <a:t> </a:t>
          </a:r>
          <a:endParaRPr lang="he-IL" b="1" dirty="0">
            <a:latin typeface="David" panose="020E0502060401010101" pitchFamily="34" charset="-79"/>
            <a:cs typeface="David" panose="020E0502060401010101" pitchFamily="34" charset="-79"/>
          </a:endParaRPr>
        </a:p>
      </dgm:t>
    </dgm:pt>
    <dgm:pt modelId="{95127907-B3E2-4055-B628-8420A5CEE6A4}" type="parTrans" cxnId="{9F77A2E4-DD91-436D-92C0-2858D88CA143}">
      <dgm:prSet/>
      <dgm:spPr/>
      <dgm:t>
        <a:bodyPr/>
        <a:lstStyle/>
        <a:p>
          <a:pPr rtl="1"/>
          <a:endParaRPr lang="he-IL"/>
        </a:p>
      </dgm:t>
    </dgm:pt>
    <dgm:pt modelId="{4326C6DD-57AD-436E-A230-0D5494BDEF82}" type="sibTrans" cxnId="{9F77A2E4-DD91-436D-92C0-2858D88CA143}">
      <dgm:prSet/>
      <dgm:spPr/>
      <dgm:t>
        <a:bodyPr/>
        <a:lstStyle/>
        <a:p>
          <a:pPr rtl="1"/>
          <a:endParaRPr lang="he-IL"/>
        </a:p>
      </dgm:t>
    </dgm:pt>
    <dgm:pt modelId="{4AE113E0-75FD-44BA-96E3-AA930EEA238C}">
      <dgm:prSet/>
      <dgm:spPr/>
      <dgm:t>
        <a:bodyPr/>
        <a:lstStyle/>
        <a:p>
          <a:pPr rtl="1"/>
          <a:r>
            <a:rPr lang="en-US" b="1" i="0" dirty="0">
              <a:latin typeface="David" panose="020E0502060401010101" pitchFamily="34" charset="-79"/>
              <a:cs typeface="David" panose="020E0502060401010101" pitchFamily="34" charset="-79"/>
            </a:rPr>
            <a:t>ADALYA </a:t>
          </a:r>
          <a:r>
            <a:rPr lang="he-IL" b="1" i="0" dirty="0">
              <a:latin typeface="David" panose="020E0502060401010101" pitchFamily="34" charset="-79"/>
              <a:cs typeface="David" panose="020E0502060401010101" pitchFamily="34" charset="-79"/>
            </a:rPr>
            <a:t> מספקת שירותי סקרים ומחקרים כחלק משירות מתמשך ללקוחותיה וגם כשירות עצמאי.</a:t>
          </a:r>
          <a:endParaRPr lang="he-IL" b="1" dirty="0">
            <a:latin typeface="David" panose="020E0502060401010101" pitchFamily="34" charset="-79"/>
            <a:cs typeface="David" panose="020E0502060401010101" pitchFamily="34" charset="-79"/>
          </a:endParaRPr>
        </a:p>
      </dgm:t>
    </dgm:pt>
    <dgm:pt modelId="{821D78BE-D5DF-4FED-A1D0-90C931154F36}" type="parTrans" cxnId="{51CB8493-A988-4577-A4E6-7F8CCF8B77BE}">
      <dgm:prSet/>
      <dgm:spPr/>
      <dgm:t>
        <a:bodyPr/>
        <a:lstStyle/>
        <a:p>
          <a:pPr rtl="1"/>
          <a:endParaRPr lang="he-IL"/>
        </a:p>
      </dgm:t>
    </dgm:pt>
    <dgm:pt modelId="{650C4D19-FB25-4F41-899C-7861CFA93EF8}" type="sibTrans" cxnId="{51CB8493-A988-4577-A4E6-7F8CCF8B77BE}">
      <dgm:prSet/>
      <dgm:spPr/>
      <dgm:t>
        <a:bodyPr/>
        <a:lstStyle/>
        <a:p>
          <a:pPr rtl="1"/>
          <a:endParaRPr lang="he-IL"/>
        </a:p>
      </dgm:t>
    </dgm:pt>
    <dgm:pt modelId="{732B59BB-ACFC-47D2-BC16-650B51F494BE}" type="pres">
      <dgm:prSet presAssocID="{20239962-830E-4A6C-8039-49AF39B1A590}" presName="diagram" presStyleCnt="0">
        <dgm:presLayoutVars>
          <dgm:dir/>
          <dgm:animLvl val="lvl"/>
          <dgm:resizeHandles val="exact"/>
        </dgm:presLayoutVars>
      </dgm:prSet>
      <dgm:spPr/>
    </dgm:pt>
    <dgm:pt modelId="{188DEE6B-A7A0-4276-8D76-DD73AE33E7C1}" type="pres">
      <dgm:prSet presAssocID="{53E3BD34-66F5-4855-8CA0-DCFCA324F4E5}" presName="compNode" presStyleCnt="0"/>
      <dgm:spPr/>
    </dgm:pt>
    <dgm:pt modelId="{FFFD469C-1AEA-4CF9-B6E2-C8523469FDEB}" type="pres">
      <dgm:prSet presAssocID="{53E3BD34-66F5-4855-8CA0-DCFCA324F4E5}" presName="childRect" presStyleLbl="bgAcc1" presStyleIdx="0" presStyleCnt="3">
        <dgm:presLayoutVars>
          <dgm:bulletEnabled val="1"/>
        </dgm:presLayoutVars>
      </dgm:prSet>
      <dgm:spPr/>
    </dgm:pt>
    <dgm:pt modelId="{F50B181D-D15A-4388-BA97-00C1D74D8A19}" type="pres">
      <dgm:prSet presAssocID="{53E3BD34-66F5-4855-8CA0-DCFCA324F4E5}" presName="parentText" presStyleLbl="node1" presStyleIdx="0" presStyleCnt="0">
        <dgm:presLayoutVars>
          <dgm:chMax val="0"/>
          <dgm:bulletEnabled val="1"/>
        </dgm:presLayoutVars>
      </dgm:prSet>
      <dgm:spPr/>
    </dgm:pt>
    <dgm:pt modelId="{16508424-8239-48FE-87C4-1C5D01CB752F}" type="pres">
      <dgm:prSet presAssocID="{53E3BD34-66F5-4855-8CA0-DCFCA324F4E5}" presName="parentRect" presStyleLbl="alignNode1" presStyleIdx="0" presStyleCnt="3"/>
      <dgm:spPr/>
    </dgm:pt>
    <dgm:pt modelId="{EAB98454-85E1-4905-8F8E-B747AA71D25A}" type="pres">
      <dgm:prSet presAssocID="{53E3BD34-66F5-4855-8CA0-DCFCA324F4E5}" presName="adorn" presStyleLbl="fgAccFollow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 r="-1000"/>
          </a:stretch>
        </a:blipFill>
      </dgm:spPr>
    </dgm:pt>
    <dgm:pt modelId="{F42454A9-4F92-49EF-9EF7-19F1015D6408}" type="pres">
      <dgm:prSet presAssocID="{B01CDCC6-84BB-45EA-9D6C-81F13372D41B}" presName="sibTrans" presStyleLbl="sibTrans2D1" presStyleIdx="0" presStyleCnt="0"/>
      <dgm:spPr/>
    </dgm:pt>
    <dgm:pt modelId="{D3535FAD-7261-47D9-9EDD-EFE7CB34E3F7}" type="pres">
      <dgm:prSet presAssocID="{8B2FC2FE-923B-4F59-82F0-7104F35A7895}" presName="compNode" presStyleCnt="0"/>
      <dgm:spPr/>
    </dgm:pt>
    <dgm:pt modelId="{1174A013-C623-46B3-9571-FCDEA3B45C7F}" type="pres">
      <dgm:prSet presAssocID="{8B2FC2FE-923B-4F59-82F0-7104F35A7895}" presName="childRect" presStyleLbl="bgAcc1" presStyleIdx="1" presStyleCnt="3">
        <dgm:presLayoutVars>
          <dgm:bulletEnabled val="1"/>
        </dgm:presLayoutVars>
      </dgm:prSet>
      <dgm:spPr/>
    </dgm:pt>
    <dgm:pt modelId="{150D6BAC-23F2-41A6-9710-05D2ADDB10D6}" type="pres">
      <dgm:prSet presAssocID="{8B2FC2FE-923B-4F59-82F0-7104F35A7895}" presName="parentText" presStyleLbl="node1" presStyleIdx="0" presStyleCnt="0">
        <dgm:presLayoutVars>
          <dgm:chMax val="0"/>
          <dgm:bulletEnabled val="1"/>
        </dgm:presLayoutVars>
      </dgm:prSet>
      <dgm:spPr/>
    </dgm:pt>
    <dgm:pt modelId="{ABF121E8-A4BC-4C17-AAC0-CD46EBE817F7}" type="pres">
      <dgm:prSet presAssocID="{8B2FC2FE-923B-4F59-82F0-7104F35A7895}" presName="parentRect" presStyleLbl="alignNode1" presStyleIdx="1" presStyleCnt="3"/>
      <dgm:spPr/>
    </dgm:pt>
    <dgm:pt modelId="{F476AF33-99BE-4D84-9FD7-29F274E9201E}" type="pres">
      <dgm:prSet presAssocID="{8B2FC2FE-923B-4F59-82F0-7104F35A7895}" presName="adorn" presStyleLbl="fgAccFollow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1000" r="-1000"/>
          </a:stretch>
        </a:blipFill>
      </dgm:spPr>
    </dgm:pt>
    <dgm:pt modelId="{DD7A1A01-769F-4DD8-94CF-6464001A469B}" type="pres">
      <dgm:prSet presAssocID="{4CD5EAFC-6BD0-41ED-82F6-75FC2C86FEF0}" presName="sibTrans" presStyleLbl="sibTrans2D1" presStyleIdx="0" presStyleCnt="0"/>
      <dgm:spPr/>
    </dgm:pt>
    <dgm:pt modelId="{4B3D49B1-139A-47AA-891B-384C6975679D}" type="pres">
      <dgm:prSet presAssocID="{D81A2069-DDEB-4A0C-9684-67AE7ED1D944}" presName="compNode" presStyleCnt="0"/>
      <dgm:spPr/>
    </dgm:pt>
    <dgm:pt modelId="{06C5932B-F492-4C2E-97AB-614483744932}" type="pres">
      <dgm:prSet presAssocID="{D81A2069-DDEB-4A0C-9684-67AE7ED1D944}" presName="childRect" presStyleLbl="bgAcc1" presStyleIdx="2" presStyleCnt="3">
        <dgm:presLayoutVars>
          <dgm:bulletEnabled val="1"/>
        </dgm:presLayoutVars>
      </dgm:prSet>
      <dgm:spPr/>
    </dgm:pt>
    <dgm:pt modelId="{ECEFBD36-DEA1-4955-B31A-D53618DFF491}" type="pres">
      <dgm:prSet presAssocID="{D81A2069-DDEB-4A0C-9684-67AE7ED1D944}" presName="parentText" presStyleLbl="node1" presStyleIdx="0" presStyleCnt="0">
        <dgm:presLayoutVars>
          <dgm:chMax val="0"/>
          <dgm:bulletEnabled val="1"/>
        </dgm:presLayoutVars>
      </dgm:prSet>
      <dgm:spPr/>
    </dgm:pt>
    <dgm:pt modelId="{CC1FCE79-16C4-4281-885B-07240184BEC6}" type="pres">
      <dgm:prSet presAssocID="{D81A2069-DDEB-4A0C-9684-67AE7ED1D944}" presName="parentRect" presStyleLbl="alignNode1" presStyleIdx="2" presStyleCnt="3"/>
      <dgm:spPr/>
    </dgm:pt>
    <dgm:pt modelId="{92798709-7976-48FA-866F-B7789BA49F54}" type="pres">
      <dgm:prSet presAssocID="{D81A2069-DDEB-4A0C-9684-67AE7ED1D944}" presName="adorn" presStyleLbl="fgAccFollow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dgm:spPr>
    </dgm:pt>
  </dgm:ptLst>
  <dgm:cxnLst>
    <dgm:cxn modelId="{9BDEB518-ACF5-4C43-9B93-6290EB0E7888}" type="presOf" srcId="{8B2FC2FE-923B-4F59-82F0-7104F35A7895}" destId="{ABF121E8-A4BC-4C17-AAC0-CD46EBE817F7}" srcOrd="1" destOrd="0" presId="urn:microsoft.com/office/officeart/2005/8/layout/bList2"/>
    <dgm:cxn modelId="{1686603C-5EE5-45FD-A12A-095756A501EB}" type="presOf" srcId="{A420EA13-DCB3-496D-A3B4-DACE2B12F00E}" destId="{1174A013-C623-46B3-9571-FCDEA3B45C7F}" srcOrd="0" destOrd="0" presId="urn:microsoft.com/office/officeart/2005/8/layout/bList2"/>
    <dgm:cxn modelId="{A79B043D-FB8B-4F73-9D51-71496DB6C3C9}" type="presOf" srcId="{B01CDCC6-84BB-45EA-9D6C-81F13372D41B}" destId="{F42454A9-4F92-49EF-9EF7-19F1015D6408}" srcOrd="0" destOrd="0" presId="urn:microsoft.com/office/officeart/2005/8/layout/bList2"/>
    <dgm:cxn modelId="{AE6B3B44-2E5F-4059-BB9F-BBC603726330}" type="presOf" srcId="{D81A2069-DDEB-4A0C-9684-67AE7ED1D944}" destId="{ECEFBD36-DEA1-4955-B31A-D53618DFF491}" srcOrd="0" destOrd="0" presId="urn:microsoft.com/office/officeart/2005/8/layout/bList2"/>
    <dgm:cxn modelId="{98455F47-8B80-4C69-A8ED-B6F563B9582C}" srcId="{20239962-830E-4A6C-8039-49AF39B1A590}" destId="{D81A2069-DDEB-4A0C-9684-67AE7ED1D944}" srcOrd="2" destOrd="0" parTransId="{EF69801F-FC76-4429-BB20-363959BC2B37}" sibTransId="{BC89801C-12DF-41D9-ACCB-0B9D60CC00A0}"/>
    <dgm:cxn modelId="{AA6BB247-3872-46A0-ADC5-3EB740A1414D}" type="presOf" srcId="{4CD5EAFC-6BD0-41ED-82F6-75FC2C86FEF0}" destId="{DD7A1A01-769F-4DD8-94CF-6464001A469B}" srcOrd="0" destOrd="0" presId="urn:microsoft.com/office/officeart/2005/8/layout/bList2"/>
    <dgm:cxn modelId="{E5D9C37C-88E4-4971-8BB9-F6C5A19C8134}" type="presOf" srcId="{4AE113E0-75FD-44BA-96E3-AA930EEA238C}" destId="{FFFD469C-1AEA-4CF9-B6E2-C8523469FDEB}" srcOrd="0" destOrd="0" presId="urn:microsoft.com/office/officeart/2005/8/layout/bList2"/>
    <dgm:cxn modelId="{AEBFDF7F-B0BF-4A96-8AAE-A9BA8DC202E9}" srcId="{20239962-830E-4A6C-8039-49AF39B1A590}" destId="{8B2FC2FE-923B-4F59-82F0-7104F35A7895}" srcOrd="1" destOrd="0" parTransId="{8BF0F92F-48A0-4F13-9FDC-5C6E9FB3049C}" sibTransId="{4CD5EAFC-6BD0-41ED-82F6-75FC2C86FEF0}"/>
    <dgm:cxn modelId="{3E543F87-E309-4152-8FA4-CCD3430199BF}" type="presOf" srcId="{20239962-830E-4A6C-8039-49AF39B1A590}" destId="{732B59BB-ACFC-47D2-BC16-650B51F494BE}" srcOrd="0" destOrd="0" presId="urn:microsoft.com/office/officeart/2005/8/layout/bList2"/>
    <dgm:cxn modelId="{0E22BA8E-9DAE-4229-9AA8-10189EF81CFD}" type="presOf" srcId="{2582482E-36C1-4613-BCFD-E28AE2156085}" destId="{06C5932B-F492-4C2E-97AB-614483744932}" srcOrd="0" destOrd="0" presId="urn:microsoft.com/office/officeart/2005/8/layout/bList2"/>
    <dgm:cxn modelId="{51CB8493-A988-4577-A4E6-7F8CCF8B77BE}" srcId="{53E3BD34-66F5-4855-8CA0-DCFCA324F4E5}" destId="{4AE113E0-75FD-44BA-96E3-AA930EEA238C}" srcOrd="0" destOrd="0" parTransId="{821D78BE-D5DF-4FED-A1D0-90C931154F36}" sibTransId="{650C4D19-FB25-4F41-899C-7861CFA93EF8}"/>
    <dgm:cxn modelId="{FB3A23AE-3FC9-4AAE-9669-5985164FE97C}" srcId="{D81A2069-DDEB-4A0C-9684-67AE7ED1D944}" destId="{2582482E-36C1-4613-BCFD-E28AE2156085}" srcOrd="0" destOrd="0" parTransId="{05E2A985-0B8E-4F1F-9EE0-29E644C64B8B}" sibTransId="{ACDD135E-78F1-401C-993F-76ACE82BBAC6}"/>
    <dgm:cxn modelId="{C8E6C9C3-7DC5-4671-BFC9-7CA678593611}" type="presOf" srcId="{53E3BD34-66F5-4855-8CA0-DCFCA324F4E5}" destId="{F50B181D-D15A-4388-BA97-00C1D74D8A19}" srcOrd="0" destOrd="0" presId="urn:microsoft.com/office/officeart/2005/8/layout/bList2"/>
    <dgm:cxn modelId="{72CD2CC9-CCDC-4923-8790-E5D36CBD8723}" type="presOf" srcId="{D81A2069-DDEB-4A0C-9684-67AE7ED1D944}" destId="{CC1FCE79-16C4-4281-885B-07240184BEC6}" srcOrd="1" destOrd="0" presId="urn:microsoft.com/office/officeart/2005/8/layout/bList2"/>
    <dgm:cxn modelId="{9C2F30E3-BD69-47CC-83CE-F47A932240CC}" type="presOf" srcId="{8B2FC2FE-923B-4F59-82F0-7104F35A7895}" destId="{150D6BAC-23F2-41A6-9710-05D2ADDB10D6}" srcOrd="0" destOrd="0" presId="urn:microsoft.com/office/officeart/2005/8/layout/bList2"/>
    <dgm:cxn modelId="{9F77A2E4-DD91-436D-92C0-2858D88CA143}" srcId="{8B2FC2FE-923B-4F59-82F0-7104F35A7895}" destId="{A420EA13-DCB3-496D-A3B4-DACE2B12F00E}" srcOrd="0" destOrd="0" parTransId="{95127907-B3E2-4055-B628-8420A5CEE6A4}" sibTransId="{4326C6DD-57AD-436E-A230-0D5494BDEF82}"/>
    <dgm:cxn modelId="{981FFAEC-B192-40A1-9C53-DE288A5950CE}" type="presOf" srcId="{53E3BD34-66F5-4855-8CA0-DCFCA324F4E5}" destId="{16508424-8239-48FE-87C4-1C5D01CB752F}" srcOrd="1" destOrd="0" presId="urn:microsoft.com/office/officeart/2005/8/layout/bList2"/>
    <dgm:cxn modelId="{C32193FA-1D28-4832-BD35-7B08449391FF}" srcId="{20239962-830E-4A6C-8039-49AF39B1A590}" destId="{53E3BD34-66F5-4855-8CA0-DCFCA324F4E5}" srcOrd="0" destOrd="0" parTransId="{1C249604-DDE8-4CC1-B251-693CCF10E7A3}" sibTransId="{B01CDCC6-84BB-45EA-9D6C-81F13372D41B}"/>
    <dgm:cxn modelId="{A3904732-AA6E-4036-8D21-22E93B509A51}" type="presParOf" srcId="{732B59BB-ACFC-47D2-BC16-650B51F494BE}" destId="{188DEE6B-A7A0-4276-8D76-DD73AE33E7C1}" srcOrd="0" destOrd="0" presId="urn:microsoft.com/office/officeart/2005/8/layout/bList2"/>
    <dgm:cxn modelId="{D89DD0C2-8953-459E-B843-6494BACBD512}" type="presParOf" srcId="{188DEE6B-A7A0-4276-8D76-DD73AE33E7C1}" destId="{FFFD469C-1AEA-4CF9-B6E2-C8523469FDEB}" srcOrd="0" destOrd="0" presId="urn:microsoft.com/office/officeart/2005/8/layout/bList2"/>
    <dgm:cxn modelId="{8FE629D4-F938-4D32-900A-7891827D84C5}" type="presParOf" srcId="{188DEE6B-A7A0-4276-8D76-DD73AE33E7C1}" destId="{F50B181D-D15A-4388-BA97-00C1D74D8A19}" srcOrd="1" destOrd="0" presId="urn:microsoft.com/office/officeart/2005/8/layout/bList2"/>
    <dgm:cxn modelId="{71E7A37B-2C58-4DB8-B618-51B768712AD7}" type="presParOf" srcId="{188DEE6B-A7A0-4276-8D76-DD73AE33E7C1}" destId="{16508424-8239-48FE-87C4-1C5D01CB752F}" srcOrd="2" destOrd="0" presId="urn:microsoft.com/office/officeart/2005/8/layout/bList2"/>
    <dgm:cxn modelId="{6047FB86-39BE-40FA-A37A-C9738E031F20}" type="presParOf" srcId="{188DEE6B-A7A0-4276-8D76-DD73AE33E7C1}" destId="{EAB98454-85E1-4905-8F8E-B747AA71D25A}" srcOrd="3" destOrd="0" presId="urn:microsoft.com/office/officeart/2005/8/layout/bList2"/>
    <dgm:cxn modelId="{F857C4D2-D0A1-4B2B-A257-28DE54555449}" type="presParOf" srcId="{732B59BB-ACFC-47D2-BC16-650B51F494BE}" destId="{F42454A9-4F92-49EF-9EF7-19F1015D6408}" srcOrd="1" destOrd="0" presId="urn:microsoft.com/office/officeart/2005/8/layout/bList2"/>
    <dgm:cxn modelId="{D66CA87B-C04E-4DC8-9215-C4DEBB46F31E}" type="presParOf" srcId="{732B59BB-ACFC-47D2-BC16-650B51F494BE}" destId="{D3535FAD-7261-47D9-9EDD-EFE7CB34E3F7}" srcOrd="2" destOrd="0" presId="urn:microsoft.com/office/officeart/2005/8/layout/bList2"/>
    <dgm:cxn modelId="{989D7F78-1CB9-41FD-99AE-7B74D5976AB6}" type="presParOf" srcId="{D3535FAD-7261-47D9-9EDD-EFE7CB34E3F7}" destId="{1174A013-C623-46B3-9571-FCDEA3B45C7F}" srcOrd="0" destOrd="0" presId="urn:microsoft.com/office/officeart/2005/8/layout/bList2"/>
    <dgm:cxn modelId="{404A4CBD-49E1-4671-B525-D91C2C24FCDF}" type="presParOf" srcId="{D3535FAD-7261-47D9-9EDD-EFE7CB34E3F7}" destId="{150D6BAC-23F2-41A6-9710-05D2ADDB10D6}" srcOrd="1" destOrd="0" presId="urn:microsoft.com/office/officeart/2005/8/layout/bList2"/>
    <dgm:cxn modelId="{1E94086A-9E69-45BE-8F1A-87C45F3C9D07}" type="presParOf" srcId="{D3535FAD-7261-47D9-9EDD-EFE7CB34E3F7}" destId="{ABF121E8-A4BC-4C17-AAC0-CD46EBE817F7}" srcOrd="2" destOrd="0" presId="urn:microsoft.com/office/officeart/2005/8/layout/bList2"/>
    <dgm:cxn modelId="{84C16E6A-81A5-4FE4-B1F0-EC112C03DAAF}" type="presParOf" srcId="{D3535FAD-7261-47D9-9EDD-EFE7CB34E3F7}" destId="{F476AF33-99BE-4D84-9FD7-29F274E9201E}" srcOrd="3" destOrd="0" presId="urn:microsoft.com/office/officeart/2005/8/layout/bList2"/>
    <dgm:cxn modelId="{3DAD383E-B819-4B1C-B0F9-D790FD4283EF}" type="presParOf" srcId="{732B59BB-ACFC-47D2-BC16-650B51F494BE}" destId="{DD7A1A01-769F-4DD8-94CF-6464001A469B}" srcOrd="3" destOrd="0" presId="urn:microsoft.com/office/officeart/2005/8/layout/bList2"/>
    <dgm:cxn modelId="{1447BD02-7D27-4DB5-A52E-6419AC9002A1}" type="presParOf" srcId="{732B59BB-ACFC-47D2-BC16-650B51F494BE}" destId="{4B3D49B1-139A-47AA-891B-384C6975679D}" srcOrd="4" destOrd="0" presId="urn:microsoft.com/office/officeart/2005/8/layout/bList2"/>
    <dgm:cxn modelId="{86F7070D-910D-43B3-8EB6-84F28B62201A}" type="presParOf" srcId="{4B3D49B1-139A-47AA-891B-384C6975679D}" destId="{06C5932B-F492-4C2E-97AB-614483744932}" srcOrd="0" destOrd="0" presId="urn:microsoft.com/office/officeart/2005/8/layout/bList2"/>
    <dgm:cxn modelId="{A1E8E625-BFC6-402A-ADD2-69DDABE10835}" type="presParOf" srcId="{4B3D49B1-139A-47AA-891B-384C6975679D}" destId="{ECEFBD36-DEA1-4955-B31A-D53618DFF491}" srcOrd="1" destOrd="0" presId="urn:microsoft.com/office/officeart/2005/8/layout/bList2"/>
    <dgm:cxn modelId="{DAF340F6-73A3-48F3-9139-4A277C91FE11}" type="presParOf" srcId="{4B3D49B1-139A-47AA-891B-384C6975679D}" destId="{CC1FCE79-16C4-4281-885B-07240184BEC6}" srcOrd="2" destOrd="0" presId="urn:microsoft.com/office/officeart/2005/8/layout/bList2"/>
    <dgm:cxn modelId="{4355F05B-FB0A-48D5-8EBF-1C0A292B1641}" type="presParOf" srcId="{4B3D49B1-139A-47AA-891B-384C6975679D}" destId="{92798709-7976-48FA-866F-B7789BA49F54}" srcOrd="3" destOrd="0" presId="urn:microsoft.com/office/officeart/2005/8/layout/b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037095-3F8D-4F5C-9054-38F2A74774E6}" type="doc">
      <dgm:prSet loTypeId="urn:microsoft.com/office/officeart/2005/8/layout/chevron2" loCatId="list" qsTypeId="urn:microsoft.com/office/officeart/2005/8/quickstyle/simple1" qsCatId="simple" csTypeId="urn:microsoft.com/office/officeart/2005/8/colors/accent1_2" csCatId="accent1" phldr="1"/>
      <dgm:spPr/>
    </dgm:pt>
    <dgm:pt modelId="{22C14F44-7025-4603-BB92-63D6A961A6CA}">
      <dgm:prSet phldrT="[טקסט]"/>
      <dgm:spPr/>
      <dgm:t>
        <a:bodyPr/>
        <a:lstStyle/>
        <a:p>
          <a:pPr rtl="1"/>
          <a:r>
            <a:rPr lang="he-IL" b="1" i="0" dirty="0"/>
            <a:t>משותף</a:t>
          </a:r>
          <a:endParaRPr lang="he-IL" dirty="0"/>
        </a:p>
      </dgm:t>
    </dgm:pt>
    <dgm:pt modelId="{E0AC8731-1EA1-4E51-9D75-B794B560CEB3}" type="parTrans" cxnId="{76268CA3-6554-4B84-95D0-66712A0A77A4}">
      <dgm:prSet/>
      <dgm:spPr/>
      <dgm:t>
        <a:bodyPr/>
        <a:lstStyle/>
        <a:p>
          <a:pPr rtl="1"/>
          <a:endParaRPr lang="he-IL"/>
        </a:p>
      </dgm:t>
    </dgm:pt>
    <dgm:pt modelId="{29643049-80DF-496A-9200-2FCF148C632F}" type="sibTrans" cxnId="{76268CA3-6554-4B84-95D0-66712A0A77A4}">
      <dgm:prSet/>
      <dgm:spPr/>
      <dgm:t>
        <a:bodyPr/>
        <a:lstStyle/>
        <a:p>
          <a:pPr rtl="1"/>
          <a:endParaRPr lang="he-IL"/>
        </a:p>
      </dgm:t>
    </dgm:pt>
    <dgm:pt modelId="{109DF884-45CA-4AA7-A46E-37209B5C0A4D}">
      <dgm:prSet phldrT="[טקסט]"/>
      <dgm:spPr/>
      <dgm:t>
        <a:bodyPr/>
        <a:lstStyle/>
        <a:p>
          <a:pPr rtl="1"/>
          <a:r>
            <a:rPr lang="he-IL" b="1" i="0" dirty="0"/>
            <a:t>עסקי</a:t>
          </a:r>
          <a:endParaRPr lang="he-IL" dirty="0"/>
        </a:p>
      </dgm:t>
    </dgm:pt>
    <dgm:pt modelId="{265761CB-37E6-4187-B85A-9CBD3C5DAB28}" type="parTrans" cxnId="{98EE24CB-1DE8-46D9-A35B-FF966E017438}">
      <dgm:prSet/>
      <dgm:spPr/>
      <dgm:t>
        <a:bodyPr/>
        <a:lstStyle/>
        <a:p>
          <a:pPr rtl="1"/>
          <a:endParaRPr lang="he-IL"/>
        </a:p>
      </dgm:t>
    </dgm:pt>
    <dgm:pt modelId="{B5210250-0131-4C9F-AEB9-858FBC9B2EF5}" type="sibTrans" cxnId="{98EE24CB-1DE8-46D9-A35B-FF966E017438}">
      <dgm:prSet/>
      <dgm:spPr/>
      <dgm:t>
        <a:bodyPr/>
        <a:lstStyle/>
        <a:p>
          <a:pPr rtl="1"/>
          <a:endParaRPr lang="he-IL"/>
        </a:p>
      </dgm:t>
    </dgm:pt>
    <dgm:pt modelId="{D46BD690-AE3A-497E-AD9F-9499D50E143D}">
      <dgm:prSet phldrT="[טקסט]"/>
      <dgm:spPr/>
      <dgm:t>
        <a:bodyPr/>
        <a:lstStyle/>
        <a:p>
          <a:pPr rtl="1"/>
          <a:r>
            <a:rPr lang="he-IL" b="1" i="0" dirty="0"/>
            <a:t>ציבורי</a:t>
          </a:r>
          <a:endParaRPr lang="he-IL" dirty="0"/>
        </a:p>
      </dgm:t>
    </dgm:pt>
    <dgm:pt modelId="{5C88227D-3EE4-44EB-841E-4C91A40F5347}" type="parTrans" cxnId="{CF419938-09B6-482F-986D-A6AF66BAB46F}">
      <dgm:prSet/>
      <dgm:spPr/>
      <dgm:t>
        <a:bodyPr/>
        <a:lstStyle/>
        <a:p>
          <a:pPr rtl="1"/>
          <a:endParaRPr lang="he-IL"/>
        </a:p>
      </dgm:t>
    </dgm:pt>
    <dgm:pt modelId="{6A4F3BC9-6A8D-4EF4-BC8A-CE23AE9F946F}" type="sibTrans" cxnId="{CF419938-09B6-482F-986D-A6AF66BAB46F}">
      <dgm:prSet/>
      <dgm:spPr/>
      <dgm:t>
        <a:bodyPr/>
        <a:lstStyle/>
        <a:p>
          <a:pPr rtl="1"/>
          <a:endParaRPr lang="he-IL"/>
        </a:p>
      </dgm:t>
    </dgm:pt>
    <dgm:pt modelId="{115EB687-1B4E-4B6D-907B-2B9E5F0CC6F5}">
      <dgm:prSet/>
      <dgm:spPr/>
      <dgm:t>
        <a:bodyPr/>
        <a:lstStyle/>
        <a:p>
          <a:pPr rtl="1"/>
          <a:r>
            <a:rPr lang="en-US" b="1" dirty="0"/>
            <a:t>ADALYA </a:t>
          </a:r>
          <a:r>
            <a:rPr lang="he-IL" b="1" dirty="0"/>
            <a:t> מתמחה בפיתוח עסקי ואסטרטגי  בכדי למקסם הן את הפוטנציאל העסקי והן את ההשפעה שלהן על החברה והמדינה. תומכת בהשקעות אימפקט בישראל, ומספקת ייעוץ לאחריות תאגידית בתחומים כגון סביבה, פיתוח ההון האנושי ומעורבות קהילתית.</a:t>
          </a:r>
        </a:p>
      </dgm:t>
    </dgm:pt>
    <dgm:pt modelId="{7D8D23B6-7247-4BE1-B302-1201476AE355}" type="parTrans" cxnId="{71FFA0DB-5942-47EB-9CB0-3AA0DCEA59ED}">
      <dgm:prSet/>
      <dgm:spPr/>
      <dgm:t>
        <a:bodyPr/>
        <a:lstStyle/>
        <a:p>
          <a:pPr rtl="1"/>
          <a:endParaRPr lang="he-IL"/>
        </a:p>
      </dgm:t>
    </dgm:pt>
    <dgm:pt modelId="{139185C5-8AFB-4C76-AD86-E23A39224497}" type="sibTrans" cxnId="{71FFA0DB-5942-47EB-9CB0-3AA0DCEA59ED}">
      <dgm:prSet/>
      <dgm:spPr/>
      <dgm:t>
        <a:bodyPr/>
        <a:lstStyle/>
        <a:p>
          <a:pPr rtl="1"/>
          <a:endParaRPr lang="he-IL"/>
        </a:p>
      </dgm:t>
    </dgm:pt>
    <dgm:pt modelId="{34B37B0B-CA5F-4ED7-A4BE-F702AB23B2E8}">
      <dgm:prSet/>
      <dgm:spPr/>
      <dgm:t>
        <a:bodyPr/>
        <a:lstStyle/>
        <a:p>
          <a:pPr rtl="1"/>
          <a:r>
            <a:rPr lang="he-IL" b="1" dirty="0"/>
            <a:t>היכרותה המעמיקה של </a:t>
          </a:r>
          <a:r>
            <a:rPr lang="en-US" b="1" dirty="0"/>
            <a:t> ADALYA </a:t>
          </a:r>
          <a:r>
            <a:rPr lang="he-IL" b="1" dirty="0"/>
            <a:t>עם המגזר הציבורי מאפשרת לה לנהל בהצלחה פרויקטים מורכבים, משלב התכנון ועד הבקרה, תוך יצירת ערך מוסף בעבודה מול המגזר.</a:t>
          </a:r>
        </a:p>
      </dgm:t>
    </dgm:pt>
    <dgm:pt modelId="{138A8EBA-F90E-4590-9432-7857D65D8CD2}" type="parTrans" cxnId="{E912832D-B6AC-441F-9345-E0334365580D}">
      <dgm:prSet/>
      <dgm:spPr/>
      <dgm:t>
        <a:bodyPr/>
        <a:lstStyle/>
        <a:p>
          <a:pPr rtl="1"/>
          <a:endParaRPr lang="he-IL"/>
        </a:p>
      </dgm:t>
    </dgm:pt>
    <dgm:pt modelId="{A30FA8FC-70F3-449C-A376-ADB3EE93952E}" type="sibTrans" cxnId="{E912832D-B6AC-441F-9345-E0334365580D}">
      <dgm:prSet/>
      <dgm:spPr/>
      <dgm:t>
        <a:bodyPr/>
        <a:lstStyle/>
        <a:p>
          <a:pPr rtl="1"/>
          <a:endParaRPr lang="he-IL"/>
        </a:p>
      </dgm:t>
    </dgm:pt>
    <dgm:pt modelId="{6EC13834-84A3-44A4-AC4A-A333CA9428AC}">
      <dgm:prSet/>
      <dgm:spPr/>
      <dgm:t>
        <a:bodyPr/>
        <a:lstStyle/>
        <a:p>
          <a:pPr rtl="1"/>
          <a:r>
            <a:rPr lang="he-IL" b="1" dirty="0"/>
            <a:t>חברת </a:t>
          </a:r>
          <a:r>
            <a:rPr lang="en-US" b="1" dirty="0"/>
            <a:t> ADALYA </a:t>
          </a:r>
          <a:r>
            <a:rPr lang="he-IL" b="1" dirty="0"/>
            <a:t>מתמחה בייעוץ כלכלי אסטרטגי לגופים עסקיים, תוך התמקדות בייעוץ כלכלי מסורתי והגדרת תוכניות עבודה בהתאם ליעדי הארגון.</a:t>
          </a:r>
        </a:p>
      </dgm:t>
    </dgm:pt>
    <dgm:pt modelId="{8494522B-87C2-43E0-9A0A-7B24A2533886}" type="parTrans" cxnId="{5F72740F-35B2-436D-9E60-A572DF99B1ED}">
      <dgm:prSet/>
      <dgm:spPr/>
      <dgm:t>
        <a:bodyPr/>
        <a:lstStyle/>
        <a:p>
          <a:pPr rtl="1"/>
          <a:endParaRPr lang="he-IL"/>
        </a:p>
      </dgm:t>
    </dgm:pt>
    <dgm:pt modelId="{817CA473-CE1E-4F21-A2D9-7C20CF5065FC}" type="sibTrans" cxnId="{5F72740F-35B2-436D-9E60-A572DF99B1ED}">
      <dgm:prSet/>
      <dgm:spPr/>
      <dgm:t>
        <a:bodyPr/>
        <a:lstStyle/>
        <a:p>
          <a:pPr rtl="1"/>
          <a:endParaRPr lang="he-IL"/>
        </a:p>
      </dgm:t>
    </dgm:pt>
    <dgm:pt modelId="{10BFA079-03FE-4C75-89E0-2ECAE7F85FBF}" type="pres">
      <dgm:prSet presAssocID="{06037095-3F8D-4F5C-9054-38F2A74774E6}" presName="linearFlow" presStyleCnt="0">
        <dgm:presLayoutVars>
          <dgm:dir/>
          <dgm:animLvl val="lvl"/>
          <dgm:resizeHandles val="exact"/>
        </dgm:presLayoutVars>
      </dgm:prSet>
      <dgm:spPr/>
    </dgm:pt>
    <dgm:pt modelId="{38EB5C74-7E99-4D22-91D8-0B4109F9843C}" type="pres">
      <dgm:prSet presAssocID="{22C14F44-7025-4603-BB92-63D6A961A6CA}" presName="composite" presStyleCnt="0"/>
      <dgm:spPr/>
    </dgm:pt>
    <dgm:pt modelId="{31A7AACA-7894-4F0E-A92D-F6D3C3CB73D1}" type="pres">
      <dgm:prSet presAssocID="{22C14F44-7025-4603-BB92-63D6A961A6CA}" presName="parentText" presStyleLbl="alignNode1" presStyleIdx="0" presStyleCnt="3">
        <dgm:presLayoutVars>
          <dgm:chMax val="1"/>
          <dgm:bulletEnabled val="1"/>
        </dgm:presLayoutVars>
      </dgm:prSet>
      <dgm:spPr/>
    </dgm:pt>
    <dgm:pt modelId="{8BC2BE73-D17D-4853-9BCA-6C188921E813}" type="pres">
      <dgm:prSet presAssocID="{22C14F44-7025-4603-BB92-63D6A961A6CA}" presName="descendantText" presStyleLbl="alignAcc1" presStyleIdx="0" presStyleCnt="3">
        <dgm:presLayoutVars>
          <dgm:bulletEnabled val="1"/>
        </dgm:presLayoutVars>
      </dgm:prSet>
      <dgm:spPr/>
    </dgm:pt>
    <dgm:pt modelId="{68340862-8BCD-47ED-9AB7-25F7C4FF0A6A}" type="pres">
      <dgm:prSet presAssocID="{29643049-80DF-496A-9200-2FCF148C632F}" presName="sp" presStyleCnt="0"/>
      <dgm:spPr/>
    </dgm:pt>
    <dgm:pt modelId="{11572CB1-B4F3-498D-B993-85AAC5342394}" type="pres">
      <dgm:prSet presAssocID="{109DF884-45CA-4AA7-A46E-37209B5C0A4D}" presName="composite" presStyleCnt="0"/>
      <dgm:spPr/>
    </dgm:pt>
    <dgm:pt modelId="{9711CC19-6BBC-4E5F-92BD-07325EEEDAD9}" type="pres">
      <dgm:prSet presAssocID="{109DF884-45CA-4AA7-A46E-37209B5C0A4D}" presName="parentText" presStyleLbl="alignNode1" presStyleIdx="1" presStyleCnt="3">
        <dgm:presLayoutVars>
          <dgm:chMax val="1"/>
          <dgm:bulletEnabled val="1"/>
        </dgm:presLayoutVars>
      </dgm:prSet>
      <dgm:spPr/>
    </dgm:pt>
    <dgm:pt modelId="{1CB0AC0D-BBE9-48AD-B663-70532E251036}" type="pres">
      <dgm:prSet presAssocID="{109DF884-45CA-4AA7-A46E-37209B5C0A4D}" presName="descendantText" presStyleLbl="alignAcc1" presStyleIdx="1" presStyleCnt="3">
        <dgm:presLayoutVars>
          <dgm:bulletEnabled val="1"/>
        </dgm:presLayoutVars>
      </dgm:prSet>
      <dgm:spPr/>
    </dgm:pt>
    <dgm:pt modelId="{DFD8F926-CF22-4ED8-AA21-43AA6A347731}" type="pres">
      <dgm:prSet presAssocID="{B5210250-0131-4C9F-AEB9-858FBC9B2EF5}" presName="sp" presStyleCnt="0"/>
      <dgm:spPr/>
    </dgm:pt>
    <dgm:pt modelId="{B84A5877-E651-4B09-9DEA-F61F8F96A7F7}" type="pres">
      <dgm:prSet presAssocID="{D46BD690-AE3A-497E-AD9F-9499D50E143D}" presName="composite" presStyleCnt="0"/>
      <dgm:spPr/>
    </dgm:pt>
    <dgm:pt modelId="{4A71D72F-B3B0-4F24-BDCD-67AA08C2E4D0}" type="pres">
      <dgm:prSet presAssocID="{D46BD690-AE3A-497E-AD9F-9499D50E143D}" presName="parentText" presStyleLbl="alignNode1" presStyleIdx="2" presStyleCnt="3">
        <dgm:presLayoutVars>
          <dgm:chMax val="1"/>
          <dgm:bulletEnabled val="1"/>
        </dgm:presLayoutVars>
      </dgm:prSet>
      <dgm:spPr/>
    </dgm:pt>
    <dgm:pt modelId="{74E809A9-7BCE-4F0F-A842-BD67BCFE39A7}" type="pres">
      <dgm:prSet presAssocID="{D46BD690-AE3A-497E-AD9F-9499D50E143D}" presName="descendantText" presStyleLbl="alignAcc1" presStyleIdx="2" presStyleCnt="3">
        <dgm:presLayoutVars>
          <dgm:bulletEnabled val="1"/>
        </dgm:presLayoutVars>
      </dgm:prSet>
      <dgm:spPr/>
    </dgm:pt>
  </dgm:ptLst>
  <dgm:cxnLst>
    <dgm:cxn modelId="{5F72740F-35B2-436D-9E60-A572DF99B1ED}" srcId="{109DF884-45CA-4AA7-A46E-37209B5C0A4D}" destId="{6EC13834-84A3-44A4-AC4A-A333CA9428AC}" srcOrd="0" destOrd="0" parTransId="{8494522B-87C2-43E0-9A0A-7B24A2533886}" sibTransId="{817CA473-CE1E-4F21-A2D9-7C20CF5065FC}"/>
    <dgm:cxn modelId="{2DCFE114-FB44-4283-8FBD-6DB6F1861168}" type="presOf" srcId="{109DF884-45CA-4AA7-A46E-37209B5C0A4D}" destId="{9711CC19-6BBC-4E5F-92BD-07325EEEDAD9}" srcOrd="0" destOrd="0" presId="urn:microsoft.com/office/officeart/2005/8/layout/chevron2"/>
    <dgm:cxn modelId="{DF43D222-759D-4B49-9BDB-EE8067219480}" type="presOf" srcId="{22C14F44-7025-4603-BB92-63D6A961A6CA}" destId="{31A7AACA-7894-4F0E-A92D-F6D3C3CB73D1}" srcOrd="0" destOrd="0" presId="urn:microsoft.com/office/officeart/2005/8/layout/chevron2"/>
    <dgm:cxn modelId="{E912832D-B6AC-441F-9345-E0334365580D}" srcId="{D46BD690-AE3A-497E-AD9F-9499D50E143D}" destId="{34B37B0B-CA5F-4ED7-A4BE-F702AB23B2E8}" srcOrd="0" destOrd="0" parTransId="{138A8EBA-F90E-4590-9432-7857D65D8CD2}" sibTransId="{A30FA8FC-70F3-449C-A376-ADB3EE93952E}"/>
    <dgm:cxn modelId="{58B6F734-9633-454E-8DAF-E1CFE7F4C5AF}" type="presOf" srcId="{34B37B0B-CA5F-4ED7-A4BE-F702AB23B2E8}" destId="{74E809A9-7BCE-4F0F-A842-BD67BCFE39A7}" srcOrd="0" destOrd="0" presId="urn:microsoft.com/office/officeart/2005/8/layout/chevron2"/>
    <dgm:cxn modelId="{CF419938-09B6-482F-986D-A6AF66BAB46F}" srcId="{06037095-3F8D-4F5C-9054-38F2A74774E6}" destId="{D46BD690-AE3A-497E-AD9F-9499D50E143D}" srcOrd="2" destOrd="0" parTransId="{5C88227D-3EE4-44EB-841E-4C91A40F5347}" sibTransId="{6A4F3BC9-6A8D-4EF4-BC8A-CE23AE9F946F}"/>
    <dgm:cxn modelId="{EB9F7091-8FCF-43CA-AA2F-8F77C56300E0}" type="presOf" srcId="{06037095-3F8D-4F5C-9054-38F2A74774E6}" destId="{10BFA079-03FE-4C75-89E0-2ECAE7F85FBF}" srcOrd="0" destOrd="0" presId="urn:microsoft.com/office/officeart/2005/8/layout/chevron2"/>
    <dgm:cxn modelId="{76268CA3-6554-4B84-95D0-66712A0A77A4}" srcId="{06037095-3F8D-4F5C-9054-38F2A74774E6}" destId="{22C14F44-7025-4603-BB92-63D6A961A6CA}" srcOrd="0" destOrd="0" parTransId="{E0AC8731-1EA1-4E51-9D75-B794B560CEB3}" sibTransId="{29643049-80DF-496A-9200-2FCF148C632F}"/>
    <dgm:cxn modelId="{5C699BC7-E2EB-4ED6-838C-D47672C1D100}" type="presOf" srcId="{6EC13834-84A3-44A4-AC4A-A333CA9428AC}" destId="{1CB0AC0D-BBE9-48AD-B663-70532E251036}" srcOrd="0" destOrd="0" presId="urn:microsoft.com/office/officeart/2005/8/layout/chevron2"/>
    <dgm:cxn modelId="{944AFAC8-B9D8-414B-A81E-0F9D838FFF42}" type="presOf" srcId="{D46BD690-AE3A-497E-AD9F-9499D50E143D}" destId="{4A71D72F-B3B0-4F24-BDCD-67AA08C2E4D0}" srcOrd="0" destOrd="0" presId="urn:microsoft.com/office/officeart/2005/8/layout/chevron2"/>
    <dgm:cxn modelId="{98EE24CB-1DE8-46D9-A35B-FF966E017438}" srcId="{06037095-3F8D-4F5C-9054-38F2A74774E6}" destId="{109DF884-45CA-4AA7-A46E-37209B5C0A4D}" srcOrd="1" destOrd="0" parTransId="{265761CB-37E6-4187-B85A-9CBD3C5DAB28}" sibTransId="{B5210250-0131-4C9F-AEB9-858FBC9B2EF5}"/>
    <dgm:cxn modelId="{71FFA0DB-5942-47EB-9CB0-3AA0DCEA59ED}" srcId="{22C14F44-7025-4603-BB92-63D6A961A6CA}" destId="{115EB687-1B4E-4B6D-907B-2B9E5F0CC6F5}" srcOrd="0" destOrd="0" parTransId="{7D8D23B6-7247-4BE1-B302-1201476AE355}" sibTransId="{139185C5-8AFB-4C76-AD86-E23A39224497}"/>
    <dgm:cxn modelId="{A1381FE3-0EAB-47EC-93CF-8C282F044154}" type="presOf" srcId="{115EB687-1B4E-4B6D-907B-2B9E5F0CC6F5}" destId="{8BC2BE73-D17D-4853-9BCA-6C188921E813}" srcOrd="0" destOrd="0" presId="urn:microsoft.com/office/officeart/2005/8/layout/chevron2"/>
    <dgm:cxn modelId="{D10AC77B-F907-4FA1-BE61-8DAB2C333FD2}" type="presParOf" srcId="{10BFA079-03FE-4C75-89E0-2ECAE7F85FBF}" destId="{38EB5C74-7E99-4D22-91D8-0B4109F9843C}" srcOrd="0" destOrd="0" presId="urn:microsoft.com/office/officeart/2005/8/layout/chevron2"/>
    <dgm:cxn modelId="{DF4A0665-6AFE-4AA0-9E10-1D969A628A9B}" type="presParOf" srcId="{38EB5C74-7E99-4D22-91D8-0B4109F9843C}" destId="{31A7AACA-7894-4F0E-A92D-F6D3C3CB73D1}" srcOrd="0" destOrd="0" presId="urn:microsoft.com/office/officeart/2005/8/layout/chevron2"/>
    <dgm:cxn modelId="{94D9924C-0107-4F55-A396-62DB29997854}" type="presParOf" srcId="{38EB5C74-7E99-4D22-91D8-0B4109F9843C}" destId="{8BC2BE73-D17D-4853-9BCA-6C188921E813}" srcOrd="1" destOrd="0" presId="urn:microsoft.com/office/officeart/2005/8/layout/chevron2"/>
    <dgm:cxn modelId="{94D9C6C3-44DF-458F-A87C-4DAA7F1B512C}" type="presParOf" srcId="{10BFA079-03FE-4C75-89E0-2ECAE7F85FBF}" destId="{68340862-8BCD-47ED-9AB7-25F7C4FF0A6A}" srcOrd="1" destOrd="0" presId="urn:microsoft.com/office/officeart/2005/8/layout/chevron2"/>
    <dgm:cxn modelId="{1C742695-C0E2-4DD3-9BC1-2FCA53E35429}" type="presParOf" srcId="{10BFA079-03FE-4C75-89E0-2ECAE7F85FBF}" destId="{11572CB1-B4F3-498D-B993-85AAC5342394}" srcOrd="2" destOrd="0" presId="urn:microsoft.com/office/officeart/2005/8/layout/chevron2"/>
    <dgm:cxn modelId="{09235EA6-984E-4014-A714-80C93E8E2FAE}" type="presParOf" srcId="{11572CB1-B4F3-498D-B993-85AAC5342394}" destId="{9711CC19-6BBC-4E5F-92BD-07325EEEDAD9}" srcOrd="0" destOrd="0" presId="urn:microsoft.com/office/officeart/2005/8/layout/chevron2"/>
    <dgm:cxn modelId="{CC3DB9D8-F4E2-44EF-94A3-04FD8478CC32}" type="presParOf" srcId="{11572CB1-B4F3-498D-B993-85AAC5342394}" destId="{1CB0AC0D-BBE9-48AD-B663-70532E251036}" srcOrd="1" destOrd="0" presId="urn:microsoft.com/office/officeart/2005/8/layout/chevron2"/>
    <dgm:cxn modelId="{69E649EA-256D-49EA-8D80-B8FB97B9E622}" type="presParOf" srcId="{10BFA079-03FE-4C75-89E0-2ECAE7F85FBF}" destId="{DFD8F926-CF22-4ED8-AA21-43AA6A347731}" srcOrd="3" destOrd="0" presId="urn:microsoft.com/office/officeart/2005/8/layout/chevron2"/>
    <dgm:cxn modelId="{1785AD34-54C4-4306-AFC9-B982E685BFE4}" type="presParOf" srcId="{10BFA079-03FE-4C75-89E0-2ECAE7F85FBF}" destId="{B84A5877-E651-4B09-9DEA-F61F8F96A7F7}" srcOrd="4" destOrd="0" presId="urn:microsoft.com/office/officeart/2005/8/layout/chevron2"/>
    <dgm:cxn modelId="{EE90A571-5668-4E7F-8AA8-870B0A2747DF}" type="presParOf" srcId="{B84A5877-E651-4B09-9DEA-F61F8F96A7F7}" destId="{4A71D72F-B3B0-4F24-BDCD-67AA08C2E4D0}" srcOrd="0" destOrd="0" presId="urn:microsoft.com/office/officeart/2005/8/layout/chevron2"/>
    <dgm:cxn modelId="{4CED95C0-2C5C-4109-BFF5-BFB1896256F7}" type="presParOf" srcId="{B84A5877-E651-4B09-9DEA-F61F8F96A7F7}" destId="{74E809A9-7BCE-4F0F-A842-BD67BCFE39A7}"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F490341-855F-426E-BC80-A9959DA76733}"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pPr rtl="1"/>
          <a:endParaRPr lang="he-IL"/>
        </a:p>
      </dgm:t>
    </dgm:pt>
    <dgm:pt modelId="{A45F515B-B480-49AF-AF95-8705C2BE3482}">
      <dgm:prSet phldrT="[טקסט]"/>
      <dgm:spPr>
        <a:solidFill>
          <a:schemeClr val="accent1">
            <a:hueOff val="0"/>
            <a:satOff val="0"/>
            <a:lumOff val="0"/>
          </a:schemeClr>
        </a:solidFill>
      </dgm:spPr>
      <dgm:t>
        <a:bodyPr/>
        <a:lstStyle/>
        <a:p>
          <a:pPr rtl="1"/>
          <a:r>
            <a:rPr lang="he-IL" sz="1200" dirty="0"/>
            <a:t>חוזקות</a:t>
          </a:r>
        </a:p>
      </dgm:t>
    </dgm:pt>
    <dgm:pt modelId="{4688EF34-487D-415C-9559-E73121F884CC}" type="parTrans" cxnId="{D2CB1C51-8F34-453E-9C33-649657615811}">
      <dgm:prSet/>
      <dgm:spPr/>
      <dgm:t>
        <a:bodyPr/>
        <a:lstStyle/>
        <a:p>
          <a:pPr rtl="1"/>
          <a:endParaRPr lang="he-IL"/>
        </a:p>
      </dgm:t>
    </dgm:pt>
    <dgm:pt modelId="{B7C8DB05-9FE1-41E0-97D0-5F0CFCB74ECA}" type="sibTrans" cxnId="{D2CB1C51-8F34-453E-9C33-649657615811}">
      <dgm:prSet/>
      <dgm:spPr/>
      <dgm:t>
        <a:bodyPr/>
        <a:lstStyle/>
        <a:p>
          <a:pPr rtl="1"/>
          <a:endParaRPr lang="he-IL"/>
        </a:p>
      </dgm:t>
    </dgm:pt>
    <dgm:pt modelId="{8E81BD63-755E-4796-8F56-04DD9220835B}">
      <dgm:prSet phldrT="[טקסט]" custT="1"/>
      <dgm:spPr>
        <a:solidFill>
          <a:schemeClr val="accent1">
            <a:hueOff val="0"/>
            <a:satOff val="0"/>
            <a:lumOff val="0"/>
          </a:schemeClr>
        </a:solidFill>
      </dgm:spPr>
      <dgm:t>
        <a:bodyPr/>
        <a:lstStyle/>
        <a:p>
          <a:pPr rtl="1"/>
          <a:r>
            <a:rPr lang="he-IL" sz="1200" dirty="0"/>
            <a:t>לחברה מוניטין טוב מאוד בקרב כל הלקוחות. החברה משקיעה בהכשרות מקצועיות לכל העובדים ובמערכות מחשוב מתקדמות. </a:t>
          </a:r>
        </a:p>
      </dgm:t>
    </dgm:pt>
    <dgm:pt modelId="{29EA22CE-7CDE-41E5-941F-43F63250555E}" type="parTrans" cxnId="{55DB31DD-CEE7-4A90-8E40-E727BE9739E4}">
      <dgm:prSet/>
      <dgm:spPr/>
      <dgm:t>
        <a:bodyPr/>
        <a:lstStyle/>
        <a:p>
          <a:pPr rtl="1"/>
          <a:endParaRPr lang="he-IL"/>
        </a:p>
      </dgm:t>
    </dgm:pt>
    <dgm:pt modelId="{E46F9DBC-68A1-492A-8AC9-BAAEEA81BB04}" type="sibTrans" cxnId="{55DB31DD-CEE7-4A90-8E40-E727BE9739E4}">
      <dgm:prSet/>
      <dgm:spPr/>
      <dgm:t>
        <a:bodyPr/>
        <a:lstStyle/>
        <a:p>
          <a:pPr rtl="1"/>
          <a:endParaRPr lang="he-IL"/>
        </a:p>
      </dgm:t>
    </dgm:pt>
    <dgm:pt modelId="{46842450-5948-4889-8FD6-10F3A628C004}">
      <dgm:prSet phldrT="[טקסט]"/>
      <dgm:spPr/>
      <dgm:t>
        <a:bodyPr/>
        <a:lstStyle/>
        <a:p>
          <a:pPr rtl="1"/>
          <a:r>
            <a:rPr lang="he-IL" sz="1400" dirty="0"/>
            <a:t>איומים</a:t>
          </a:r>
        </a:p>
      </dgm:t>
    </dgm:pt>
    <dgm:pt modelId="{BE2A4B20-570B-42B8-AB80-37309C6B3B7D}" type="parTrans" cxnId="{6B44F473-C075-4296-AD25-06D6E8F8B9A7}">
      <dgm:prSet/>
      <dgm:spPr/>
      <dgm:t>
        <a:bodyPr/>
        <a:lstStyle/>
        <a:p>
          <a:pPr rtl="1"/>
          <a:endParaRPr lang="he-IL"/>
        </a:p>
      </dgm:t>
    </dgm:pt>
    <dgm:pt modelId="{758CD3CE-AEA4-43DC-815E-6597DB6D6E95}" type="sibTrans" cxnId="{6B44F473-C075-4296-AD25-06D6E8F8B9A7}">
      <dgm:prSet/>
      <dgm:spPr/>
      <dgm:t>
        <a:bodyPr/>
        <a:lstStyle/>
        <a:p>
          <a:pPr rtl="1"/>
          <a:endParaRPr lang="he-IL"/>
        </a:p>
      </dgm:t>
    </dgm:pt>
    <dgm:pt modelId="{0623F343-2352-48AA-8035-0FBF3990AB82}">
      <dgm:prSet phldrT="[טקסט]" custT="1"/>
      <dgm:spPr/>
      <dgm:t>
        <a:bodyPr/>
        <a:lstStyle/>
        <a:p>
          <a:pPr rtl="1"/>
          <a:r>
            <a:rPr lang="he-IL" sz="1100" dirty="0"/>
            <a:t>תחרות מוגברת בשוק הייעוץ עם כניסת שחקנים בינלאומיים לשוק המקומי - ישנם מספר חברות ייעוץ בתחומי פעילות של החברה שמתחרים על פרויקטים דומים (לדוגמה:</a:t>
          </a:r>
          <a:r>
            <a:rPr lang="en-US" sz="1100" dirty="0"/>
            <a:t>WSP</a:t>
          </a:r>
          <a:r>
            <a:rPr lang="he-IL" sz="1100" dirty="0"/>
            <a:t>).</a:t>
          </a:r>
        </a:p>
      </dgm:t>
    </dgm:pt>
    <dgm:pt modelId="{19B1FCFE-85C7-43CB-8E9C-737BA0593C21}" type="parTrans" cxnId="{16F0EEDE-B424-4892-8269-E6EF331DB3BC}">
      <dgm:prSet/>
      <dgm:spPr/>
      <dgm:t>
        <a:bodyPr/>
        <a:lstStyle/>
        <a:p>
          <a:pPr rtl="1"/>
          <a:endParaRPr lang="he-IL"/>
        </a:p>
      </dgm:t>
    </dgm:pt>
    <dgm:pt modelId="{33F441B8-E2AA-41D5-80A0-7452E1976F63}" type="sibTrans" cxnId="{16F0EEDE-B424-4892-8269-E6EF331DB3BC}">
      <dgm:prSet/>
      <dgm:spPr/>
      <dgm:t>
        <a:bodyPr/>
        <a:lstStyle/>
        <a:p>
          <a:pPr rtl="1"/>
          <a:endParaRPr lang="he-IL"/>
        </a:p>
      </dgm:t>
    </dgm:pt>
    <dgm:pt modelId="{C8AEE461-9FF8-493F-B6D2-A1E4CE2B5B6F}">
      <dgm:prSet phldrT="[טקסט]"/>
      <dgm:spPr/>
      <dgm:t>
        <a:bodyPr/>
        <a:lstStyle/>
        <a:p>
          <a:pPr rtl="1"/>
          <a:r>
            <a:rPr lang="he-IL" sz="1200" dirty="0"/>
            <a:t>הזדמנויות</a:t>
          </a:r>
        </a:p>
      </dgm:t>
    </dgm:pt>
    <dgm:pt modelId="{0B8D7988-FAD2-4285-A06C-94E09D258DC8}" type="parTrans" cxnId="{2FAA537C-CC7E-4EC9-9D5E-735A8F13A92F}">
      <dgm:prSet/>
      <dgm:spPr/>
      <dgm:t>
        <a:bodyPr/>
        <a:lstStyle/>
        <a:p>
          <a:pPr rtl="1"/>
          <a:endParaRPr lang="he-IL"/>
        </a:p>
      </dgm:t>
    </dgm:pt>
    <dgm:pt modelId="{E14B4727-BC56-4B53-8CCD-5E4C96A10687}" type="sibTrans" cxnId="{2FAA537C-CC7E-4EC9-9D5E-735A8F13A92F}">
      <dgm:prSet/>
      <dgm:spPr/>
      <dgm:t>
        <a:bodyPr/>
        <a:lstStyle/>
        <a:p>
          <a:pPr rtl="1"/>
          <a:endParaRPr lang="he-IL"/>
        </a:p>
      </dgm:t>
    </dgm:pt>
    <dgm:pt modelId="{FD8A23A6-DF27-45C4-BEE0-D1623F8C1145}">
      <dgm:prSet phldrT="[טקסט]" custT="1"/>
      <dgm:spPr/>
      <dgm:t>
        <a:bodyPr/>
        <a:lstStyle/>
        <a:p>
          <a:pPr rtl="1"/>
          <a:r>
            <a:rPr lang="he-IL" sz="1400" dirty="0"/>
            <a:t>החברה בוחנת אפשרויות כניסה לשווקי ייעוץ בין לאומיים</a:t>
          </a:r>
        </a:p>
      </dgm:t>
    </dgm:pt>
    <dgm:pt modelId="{66FA6EF5-DE9A-4954-A0BE-F7FC89D0A041}" type="parTrans" cxnId="{1FA948DA-7C6A-437D-9A68-6341E1F46BCA}">
      <dgm:prSet/>
      <dgm:spPr/>
      <dgm:t>
        <a:bodyPr/>
        <a:lstStyle/>
        <a:p>
          <a:pPr rtl="1"/>
          <a:endParaRPr lang="he-IL"/>
        </a:p>
      </dgm:t>
    </dgm:pt>
    <dgm:pt modelId="{00F1892F-FA9D-40CE-A484-481C333E4A85}" type="sibTrans" cxnId="{1FA948DA-7C6A-437D-9A68-6341E1F46BCA}">
      <dgm:prSet/>
      <dgm:spPr/>
      <dgm:t>
        <a:bodyPr/>
        <a:lstStyle/>
        <a:p>
          <a:pPr rtl="1"/>
          <a:endParaRPr lang="he-IL"/>
        </a:p>
      </dgm:t>
    </dgm:pt>
    <dgm:pt modelId="{123A603F-2535-460A-AB62-7733A1704779}">
      <dgm:prSet phldrT="[טקסט]"/>
      <dgm:spPr/>
      <dgm:t>
        <a:bodyPr/>
        <a:lstStyle/>
        <a:p>
          <a:pPr rtl="1"/>
          <a:r>
            <a:rPr lang="he-IL" sz="1100" dirty="0"/>
            <a:t>חולשות</a:t>
          </a:r>
        </a:p>
      </dgm:t>
    </dgm:pt>
    <dgm:pt modelId="{4CFFAEA5-F57A-4D91-91EB-8029466F12D7}" type="sibTrans" cxnId="{A030B21A-8AE0-4C77-839B-2CB5221DB112}">
      <dgm:prSet/>
      <dgm:spPr/>
      <dgm:t>
        <a:bodyPr/>
        <a:lstStyle/>
        <a:p>
          <a:pPr rtl="1"/>
          <a:endParaRPr lang="he-IL"/>
        </a:p>
      </dgm:t>
    </dgm:pt>
    <dgm:pt modelId="{191817EA-79E9-49EF-97D5-55C9FEA049DE}" type="parTrans" cxnId="{A030B21A-8AE0-4C77-839B-2CB5221DB112}">
      <dgm:prSet/>
      <dgm:spPr/>
      <dgm:t>
        <a:bodyPr/>
        <a:lstStyle/>
        <a:p>
          <a:pPr rtl="1"/>
          <a:endParaRPr lang="he-IL"/>
        </a:p>
      </dgm:t>
    </dgm:pt>
    <dgm:pt modelId="{9D397B48-B57A-4C1F-A387-FA667FA4B04F}">
      <dgm:prSet phldrT="[טקסט]" custT="1"/>
      <dgm:spPr/>
      <dgm:t>
        <a:bodyPr/>
        <a:lstStyle/>
        <a:p>
          <a:pPr rtl="1"/>
          <a:r>
            <a:rPr lang="he-IL" sz="1200" dirty="0"/>
            <a:t>כיוון שמספר תפקידי ניהול בחברה קטן ישנו קושי לעובדים הוותיקים להתקדם בסולם התפקידים. </a:t>
          </a:r>
        </a:p>
      </dgm:t>
    </dgm:pt>
    <dgm:pt modelId="{EFDF0DF4-3261-4E6A-BF1D-A78AEE85AE06}" type="sibTrans" cxnId="{E73D0313-3C43-4281-8FA1-212AFD044F40}">
      <dgm:prSet/>
      <dgm:spPr/>
      <dgm:t>
        <a:bodyPr/>
        <a:lstStyle/>
        <a:p>
          <a:pPr rtl="1"/>
          <a:endParaRPr lang="he-IL"/>
        </a:p>
      </dgm:t>
    </dgm:pt>
    <dgm:pt modelId="{74F0DC85-5B65-4769-921E-C1B1A8216991}" type="parTrans" cxnId="{E73D0313-3C43-4281-8FA1-212AFD044F40}">
      <dgm:prSet/>
      <dgm:spPr/>
      <dgm:t>
        <a:bodyPr/>
        <a:lstStyle/>
        <a:p>
          <a:pPr rtl="1"/>
          <a:endParaRPr lang="he-IL"/>
        </a:p>
      </dgm:t>
    </dgm:pt>
    <dgm:pt modelId="{CC22BBA0-EFCB-4A3A-A667-A700FF44EBF6}">
      <dgm:prSet phldrT="[טקסט]" custT="1"/>
      <dgm:spPr/>
      <dgm:t>
        <a:bodyPr/>
        <a:lstStyle/>
        <a:p>
          <a:pPr rtl="1"/>
          <a:r>
            <a:rPr lang="he-IL" sz="1400" dirty="0"/>
            <a:t>שימוש בטכנולוגיות מתקדמות כמו בינה מלאכותית ונתוני עתק לשיפור ייעוץ אסטרטגי- שימוש בטכנולוגיות </a:t>
          </a:r>
          <a:r>
            <a:rPr lang="en-US" sz="1400" dirty="0"/>
            <a:t>AI </a:t>
          </a:r>
          <a:r>
            <a:rPr lang="he-IL" sz="1400" dirty="0"/>
            <a:t> יכול לשפר איכות תוצרי החברה.</a:t>
          </a:r>
        </a:p>
      </dgm:t>
    </dgm:pt>
    <dgm:pt modelId="{5F98F5EB-1DDE-4020-969B-4204479A0788}" type="parTrans" cxnId="{99D5C7F3-FA1D-4835-9472-FC31FB914ED1}">
      <dgm:prSet/>
      <dgm:spPr/>
      <dgm:t>
        <a:bodyPr/>
        <a:lstStyle/>
        <a:p>
          <a:pPr rtl="1"/>
          <a:endParaRPr lang="he-IL"/>
        </a:p>
      </dgm:t>
    </dgm:pt>
    <dgm:pt modelId="{D64DFBE6-901D-4E67-BEB2-6E0CC271374E}" type="sibTrans" cxnId="{99D5C7F3-FA1D-4835-9472-FC31FB914ED1}">
      <dgm:prSet/>
      <dgm:spPr/>
      <dgm:t>
        <a:bodyPr/>
        <a:lstStyle/>
        <a:p>
          <a:pPr rtl="1"/>
          <a:endParaRPr lang="he-IL"/>
        </a:p>
      </dgm:t>
    </dgm:pt>
    <dgm:pt modelId="{198A2770-FF22-4B52-9CE2-9B96CB5CA0A3}">
      <dgm:prSet phldrT="[טקסט]" custT="1"/>
      <dgm:spPr/>
      <dgm:t>
        <a:bodyPr/>
        <a:lstStyle/>
        <a:p>
          <a:pPr rtl="1"/>
          <a:r>
            <a:rPr lang="he-IL" sz="1400" dirty="0"/>
            <a:t>הרחבת החברה ופתיחת סניפים חדשים בארץ יכולה לשפר נגישות למשרדי החברה ללקוחות </a:t>
          </a:r>
        </a:p>
      </dgm:t>
    </dgm:pt>
    <dgm:pt modelId="{73A21D2C-5D58-437F-AF2E-CC7D3003D328}" type="parTrans" cxnId="{E929B46A-27F2-49FE-BFA3-6D943632F8E5}">
      <dgm:prSet/>
      <dgm:spPr/>
      <dgm:t>
        <a:bodyPr/>
        <a:lstStyle/>
        <a:p>
          <a:pPr rtl="1"/>
          <a:endParaRPr lang="he-IL"/>
        </a:p>
      </dgm:t>
    </dgm:pt>
    <dgm:pt modelId="{B8F6AA2A-F968-41E0-8587-4AE36317AAB9}" type="sibTrans" cxnId="{E929B46A-27F2-49FE-BFA3-6D943632F8E5}">
      <dgm:prSet/>
      <dgm:spPr/>
      <dgm:t>
        <a:bodyPr/>
        <a:lstStyle/>
        <a:p>
          <a:pPr rtl="1"/>
          <a:endParaRPr lang="he-IL"/>
        </a:p>
      </dgm:t>
    </dgm:pt>
    <dgm:pt modelId="{A1C84AE4-BB8C-4550-B091-BD54721B3560}">
      <dgm:prSet phldrT="[טקסט]" custT="1"/>
      <dgm:spPr/>
      <dgm:t>
        <a:bodyPr/>
        <a:lstStyle/>
        <a:p>
          <a:pPr rtl="1"/>
          <a:r>
            <a:rPr lang="he-IL" sz="1100" dirty="0"/>
            <a:t>ככל הנראה המשק ישראלי יכנס למיתון בשנים הקרובות וזה אמור להקרין על צמצום פעילות </a:t>
          </a:r>
          <a:r>
            <a:rPr lang="he-IL" sz="1100" dirty="0" err="1"/>
            <a:t>הפרויקטלית</a:t>
          </a:r>
          <a:r>
            <a:rPr lang="he-IL" sz="1100" dirty="0"/>
            <a:t> של משרדי הממשלה וכך לצמצם את הצורך במוצרים של החברה. </a:t>
          </a:r>
        </a:p>
      </dgm:t>
    </dgm:pt>
    <dgm:pt modelId="{200A9B61-EBA7-479E-8CF7-F20810CC50D2}" type="parTrans" cxnId="{F22FCBE0-D0F4-4362-8060-797777CA659C}">
      <dgm:prSet/>
      <dgm:spPr/>
      <dgm:t>
        <a:bodyPr/>
        <a:lstStyle/>
        <a:p>
          <a:pPr rtl="1"/>
          <a:endParaRPr lang="he-IL"/>
        </a:p>
      </dgm:t>
    </dgm:pt>
    <dgm:pt modelId="{54908405-607E-40C4-86DB-8417D01D29BA}" type="sibTrans" cxnId="{F22FCBE0-D0F4-4362-8060-797777CA659C}">
      <dgm:prSet/>
      <dgm:spPr/>
      <dgm:t>
        <a:bodyPr/>
        <a:lstStyle/>
        <a:p>
          <a:pPr rtl="1"/>
          <a:endParaRPr lang="he-IL"/>
        </a:p>
      </dgm:t>
    </dgm:pt>
    <dgm:pt modelId="{CA98E138-4F89-486E-B269-553D90A17273}">
      <dgm:prSet phldrT="[טקסט]" custT="1"/>
      <dgm:spPr>
        <a:solidFill>
          <a:schemeClr val="accent1">
            <a:hueOff val="0"/>
            <a:satOff val="0"/>
            <a:lumOff val="0"/>
          </a:schemeClr>
        </a:solidFill>
      </dgm:spPr>
      <dgm:t>
        <a:bodyPr/>
        <a:lstStyle/>
        <a:p>
          <a:pPr rtl="1"/>
          <a:r>
            <a:rPr lang="he-IL" sz="1200" dirty="0"/>
            <a:t>ניסיון רב בהנחיית שיתוף פעולה בין מגזרים (ציבורי, עסקי וחברתי).</a:t>
          </a:r>
        </a:p>
      </dgm:t>
    </dgm:pt>
    <dgm:pt modelId="{DF2FB4FE-550F-4EAB-BE8A-2C2FF901BDBD}" type="parTrans" cxnId="{FF95DF4E-245C-4690-9C5D-25E51768971D}">
      <dgm:prSet/>
      <dgm:spPr/>
      <dgm:t>
        <a:bodyPr/>
        <a:lstStyle/>
        <a:p>
          <a:pPr rtl="1"/>
          <a:endParaRPr lang="he-IL"/>
        </a:p>
      </dgm:t>
    </dgm:pt>
    <dgm:pt modelId="{590F37A4-DB1D-4814-B222-E093F9B22C1B}" type="sibTrans" cxnId="{FF95DF4E-245C-4690-9C5D-25E51768971D}">
      <dgm:prSet/>
      <dgm:spPr/>
      <dgm:t>
        <a:bodyPr/>
        <a:lstStyle/>
        <a:p>
          <a:pPr rtl="1"/>
          <a:endParaRPr lang="he-IL"/>
        </a:p>
      </dgm:t>
    </dgm:pt>
    <dgm:pt modelId="{76C473E7-46FA-42E4-B57C-99CF3EC33BBF}">
      <dgm:prSet phldrT="[טקסט]"/>
      <dgm:spPr>
        <a:solidFill>
          <a:schemeClr val="accent1">
            <a:hueOff val="0"/>
            <a:satOff val="0"/>
            <a:lumOff val="0"/>
          </a:schemeClr>
        </a:solidFill>
      </dgm:spPr>
      <dgm:t>
        <a:bodyPr/>
        <a:lstStyle/>
        <a:p>
          <a:pPr rtl="1"/>
          <a:endParaRPr lang="he-IL" sz="900" dirty="0"/>
        </a:p>
      </dgm:t>
    </dgm:pt>
    <dgm:pt modelId="{D6C265B7-2CD3-43BA-AE94-2944A3B9555B}" type="parTrans" cxnId="{71FC2C10-58CE-45FD-A789-21D529FAB103}">
      <dgm:prSet/>
      <dgm:spPr/>
      <dgm:t>
        <a:bodyPr/>
        <a:lstStyle/>
        <a:p>
          <a:pPr rtl="1"/>
          <a:endParaRPr lang="he-IL"/>
        </a:p>
      </dgm:t>
    </dgm:pt>
    <dgm:pt modelId="{05C7C79C-761C-4B53-8227-B356E23EA12B}" type="sibTrans" cxnId="{71FC2C10-58CE-45FD-A789-21D529FAB103}">
      <dgm:prSet/>
      <dgm:spPr/>
      <dgm:t>
        <a:bodyPr/>
        <a:lstStyle/>
        <a:p>
          <a:pPr rtl="1"/>
          <a:endParaRPr lang="he-IL"/>
        </a:p>
      </dgm:t>
    </dgm:pt>
    <dgm:pt modelId="{3C3AE21A-4462-483A-BD93-4D4ECEE845DF}">
      <dgm:prSet phldrT="[טקסט]" custT="1"/>
      <dgm:spPr/>
      <dgm:t>
        <a:bodyPr/>
        <a:lstStyle/>
        <a:p>
          <a:pPr rtl="1"/>
          <a:r>
            <a:rPr lang="he-IL" sz="1100" dirty="0"/>
            <a:t>אי וודאות רגולטורית או שינויים פוליטיים שעלולים להקשות על פעילות החברה</a:t>
          </a:r>
        </a:p>
      </dgm:t>
    </dgm:pt>
    <dgm:pt modelId="{9978C8C2-9973-477D-B8D5-36CC7CDC516A}" type="parTrans" cxnId="{65F23608-AE67-4F8F-9DC2-657525EB057A}">
      <dgm:prSet/>
      <dgm:spPr/>
      <dgm:t>
        <a:bodyPr/>
        <a:lstStyle/>
        <a:p>
          <a:pPr rtl="1"/>
          <a:endParaRPr lang="he-IL"/>
        </a:p>
      </dgm:t>
    </dgm:pt>
    <dgm:pt modelId="{086A71B0-8B9A-4904-9158-50316146BCBA}" type="sibTrans" cxnId="{65F23608-AE67-4F8F-9DC2-657525EB057A}">
      <dgm:prSet/>
      <dgm:spPr/>
      <dgm:t>
        <a:bodyPr/>
        <a:lstStyle/>
        <a:p>
          <a:pPr rtl="1"/>
          <a:endParaRPr lang="he-IL"/>
        </a:p>
      </dgm:t>
    </dgm:pt>
    <dgm:pt modelId="{47138766-7E20-47A5-987F-1481D0D33890}">
      <dgm:prSet phldrT="[טקסט]" custT="1"/>
      <dgm:spPr>
        <a:solidFill>
          <a:schemeClr val="accent1">
            <a:hueOff val="0"/>
            <a:satOff val="0"/>
            <a:lumOff val="0"/>
          </a:schemeClr>
        </a:solidFill>
      </dgm:spPr>
      <dgm:t>
        <a:bodyPr/>
        <a:lstStyle/>
        <a:p>
          <a:pPr rtl="1"/>
          <a:r>
            <a:rPr lang="he-IL" sz="1200" dirty="0"/>
            <a:t>ניסיון רב בניהול פרויקטים מורכבים והובלת שינויים ברמה הלאומית </a:t>
          </a:r>
        </a:p>
      </dgm:t>
    </dgm:pt>
    <dgm:pt modelId="{AA222D91-AB36-49A5-9AB9-729680733FA6}" type="parTrans" cxnId="{609D5259-9616-44DA-91A6-ADE17EE91787}">
      <dgm:prSet/>
      <dgm:spPr/>
      <dgm:t>
        <a:bodyPr/>
        <a:lstStyle/>
        <a:p>
          <a:pPr rtl="1"/>
          <a:endParaRPr lang="he-IL"/>
        </a:p>
      </dgm:t>
    </dgm:pt>
    <dgm:pt modelId="{F7F2C5A6-581F-4767-81C8-6D4D934D8887}" type="sibTrans" cxnId="{609D5259-9616-44DA-91A6-ADE17EE91787}">
      <dgm:prSet/>
      <dgm:spPr/>
      <dgm:t>
        <a:bodyPr/>
        <a:lstStyle/>
        <a:p>
          <a:pPr rtl="1"/>
          <a:endParaRPr lang="he-IL"/>
        </a:p>
      </dgm:t>
    </dgm:pt>
    <dgm:pt modelId="{8A184F0A-6A67-4662-9EC3-071F735526F8}">
      <dgm:prSet phldrT="[טקסט]" custT="1"/>
      <dgm:spPr/>
      <dgm:t>
        <a:bodyPr/>
        <a:lstStyle/>
        <a:p>
          <a:pPr rtl="1"/>
          <a:r>
            <a:rPr lang="he-IL" sz="1400" dirty="0"/>
            <a:t>פוטנציאל להתרחבות לאזורי פעילות חדשים כמו קיימות, טכנולוגיה ובריאות</a:t>
          </a:r>
        </a:p>
      </dgm:t>
    </dgm:pt>
    <dgm:pt modelId="{A42F7DCD-B0A7-421B-A6DA-8A1F94395575}" type="parTrans" cxnId="{12EA618B-4080-4C38-B940-B829749D4019}">
      <dgm:prSet/>
      <dgm:spPr/>
      <dgm:t>
        <a:bodyPr/>
        <a:lstStyle/>
        <a:p>
          <a:pPr rtl="1"/>
          <a:endParaRPr lang="he-IL"/>
        </a:p>
      </dgm:t>
    </dgm:pt>
    <dgm:pt modelId="{696CEBF6-AA74-4C75-9CDF-DD1D6F9064CC}" type="sibTrans" cxnId="{12EA618B-4080-4C38-B940-B829749D4019}">
      <dgm:prSet/>
      <dgm:spPr/>
      <dgm:t>
        <a:bodyPr/>
        <a:lstStyle/>
        <a:p>
          <a:pPr rtl="1"/>
          <a:endParaRPr lang="he-IL"/>
        </a:p>
      </dgm:t>
    </dgm:pt>
    <dgm:pt modelId="{2C6E29BB-B832-4E17-BA78-FCA6F8814478}">
      <dgm:prSet phldrT="[טקסט]" custT="1"/>
      <dgm:spPr/>
      <dgm:t>
        <a:bodyPr/>
        <a:lstStyle/>
        <a:p>
          <a:pPr rtl="1"/>
          <a:r>
            <a:rPr lang="he-IL" sz="1100" dirty="0"/>
            <a:t>משברים כלכליים שעלולים להקטין את הוצאות הלקוחות על שירותי ייעוץ</a:t>
          </a:r>
        </a:p>
      </dgm:t>
    </dgm:pt>
    <dgm:pt modelId="{14207F7B-F332-4EEE-AFC3-B408B6756488}" type="parTrans" cxnId="{91500D03-CD4B-46B0-9CD3-98D0AF535432}">
      <dgm:prSet/>
      <dgm:spPr/>
      <dgm:t>
        <a:bodyPr/>
        <a:lstStyle/>
        <a:p>
          <a:pPr rtl="1"/>
          <a:endParaRPr lang="he-IL"/>
        </a:p>
      </dgm:t>
    </dgm:pt>
    <dgm:pt modelId="{3018978A-34C7-4310-A769-6CC3CC0E40B1}" type="sibTrans" cxnId="{91500D03-CD4B-46B0-9CD3-98D0AF535432}">
      <dgm:prSet/>
      <dgm:spPr/>
      <dgm:t>
        <a:bodyPr/>
        <a:lstStyle/>
        <a:p>
          <a:pPr rtl="1"/>
          <a:endParaRPr lang="he-IL"/>
        </a:p>
      </dgm:t>
    </dgm:pt>
    <dgm:pt modelId="{5B8E389F-AA68-4BC5-B361-34899CF498BE}">
      <dgm:prSet phldrT="[טקסט]"/>
      <dgm:spPr/>
      <dgm:t>
        <a:bodyPr/>
        <a:lstStyle/>
        <a:p>
          <a:pPr rtl="1"/>
          <a:endParaRPr lang="he-IL" sz="1100" dirty="0"/>
        </a:p>
      </dgm:t>
    </dgm:pt>
    <dgm:pt modelId="{079B9F37-C190-46F6-8DF2-91FDD646BFD1}" type="parTrans" cxnId="{64E019C9-9ED8-4BD3-A049-2906E590FFE7}">
      <dgm:prSet/>
      <dgm:spPr/>
      <dgm:t>
        <a:bodyPr/>
        <a:lstStyle/>
        <a:p>
          <a:pPr rtl="1"/>
          <a:endParaRPr lang="he-IL"/>
        </a:p>
      </dgm:t>
    </dgm:pt>
    <dgm:pt modelId="{91555182-1E97-468A-B349-041EC31EEE5B}" type="sibTrans" cxnId="{64E019C9-9ED8-4BD3-A049-2906E590FFE7}">
      <dgm:prSet/>
      <dgm:spPr/>
      <dgm:t>
        <a:bodyPr/>
        <a:lstStyle/>
        <a:p>
          <a:pPr rtl="1"/>
          <a:endParaRPr lang="he-IL"/>
        </a:p>
      </dgm:t>
    </dgm:pt>
    <dgm:pt modelId="{967FDCFB-E9B6-44E8-B39C-AC3FD26A5534}">
      <dgm:prSet phldrT="[טקסט]" custT="1"/>
      <dgm:spPr>
        <a:solidFill>
          <a:schemeClr val="accent1">
            <a:hueOff val="0"/>
            <a:satOff val="0"/>
            <a:lumOff val="0"/>
          </a:schemeClr>
        </a:solidFill>
      </dgm:spPr>
      <dgm:t>
        <a:bodyPr/>
        <a:lstStyle/>
        <a:p>
          <a:pPr rtl="1"/>
          <a:r>
            <a:rPr lang="he-IL" sz="1200" dirty="0"/>
            <a:t>צוות מנוסה ומגובש חברתית עם ידע מעמיק בניתוח כלכלי, ייעוץ פיננסי ומיזוגים ורכישות</a:t>
          </a:r>
        </a:p>
      </dgm:t>
    </dgm:pt>
    <dgm:pt modelId="{A525A9AB-0383-46ED-AD3F-8640EAFB5990}" type="parTrans" cxnId="{513BA361-151D-45F3-BFC3-4AD927DEA4FA}">
      <dgm:prSet/>
      <dgm:spPr/>
      <dgm:t>
        <a:bodyPr/>
        <a:lstStyle/>
        <a:p>
          <a:pPr rtl="1"/>
          <a:endParaRPr lang="he-IL"/>
        </a:p>
      </dgm:t>
    </dgm:pt>
    <dgm:pt modelId="{C0B7E552-7A18-4096-B59C-274798DB3C03}" type="sibTrans" cxnId="{513BA361-151D-45F3-BFC3-4AD927DEA4FA}">
      <dgm:prSet/>
      <dgm:spPr/>
      <dgm:t>
        <a:bodyPr/>
        <a:lstStyle/>
        <a:p>
          <a:pPr rtl="1"/>
          <a:endParaRPr lang="he-IL"/>
        </a:p>
      </dgm:t>
    </dgm:pt>
    <dgm:pt modelId="{238FD2AB-33DB-4E9A-AB33-4C20B9861246}">
      <dgm:prSet phldrT="[טקסט]" custT="1"/>
      <dgm:spPr/>
      <dgm:t>
        <a:bodyPr/>
        <a:lstStyle/>
        <a:p>
          <a:pPr rtl="1"/>
          <a:r>
            <a:rPr lang="he-IL" sz="1200" dirty="0"/>
            <a:t>מתמקדת בעיקר בתחומים מסוימים, מה שמצמצם את הפוטנציאל להתרחבות לענפים שונים או שווקים נוספים - החברה לא בוחנת אפשריות כניסה לשוק פיתוח תוכנה למרות שלחברה יש כוח אדם המתאים לצורך קידום מיזמים טכנולוגיים</a:t>
          </a:r>
        </a:p>
      </dgm:t>
    </dgm:pt>
    <dgm:pt modelId="{C0CBFFF4-3484-425A-83D2-FDA5AA97E0AB}" type="sibTrans" cxnId="{FD6A4543-739C-41E8-B61C-DA6227AA81AE}">
      <dgm:prSet/>
      <dgm:spPr/>
      <dgm:t>
        <a:bodyPr/>
        <a:lstStyle/>
        <a:p>
          <a:pPr rtl="1"/>
          <a:endParaRPr lang="he-IL"/>
        </a:p>
      </dgm:t>
    </dgm:pt>
    <dgm:pt modelId="{8094DF4A-CECD-40FA-9545-289DD8AB170F}" type="parTrans" cxnId="{FD6A4543-739C-41E8-B61C-DA6227AA81AE}">
      <dgm:prSet/>
      <dgm:spPr/>
      <dgm:t>
        <a:bodyPr/>
        <a:lstStyle/>
        <a:p>
          <a:pPr rtl="1"/>
          <a:endParaRPr lang="he-IL"/>
        </a:p>
      </dgm:t>
    </dgm:pt>
    <dgm:pt modelId="{E46EA1A1-EFEC-474A-AC03-A54606A259F9}">
      <dgm:prSet phldrT="[טקסט]" custT="1"/>
      <dgm:spPr/>
      <dgm:t>
        <a:bodyPr/>
        <a:lstStyle/>
        <a:p>
          <a:pPr rtl="1"/>
          <a:r>
            <a:rPr lang="he-IL" sz="1200" dirty="0"/>
            <a:t>התמקדות בעיקר בשוק המקומי עם העדר הנוכחות בזירה הבינלאומית.</a:t>
          </a:r>
        </a:p>
      </dgm:t>
    </dgm:pt>
    <dgm:pt modelId="{BD803B59-512A-4566-8725-2386F6B7CD94}" type="sibTrans" cxnId="{29179C14-001B-4534-9DE5-48A9726AD1AE}">
      <dgm:prSet/>
      <dgm:spPr/>
      <dgm:t>
        <a:bodyPr/>
        <a:lstStyle/>
        <a:p>
          <a:pPr rtl="1"/>
          <a:endParaRPr lang="he-IL"/>
        </a:p>
      </dgm:t>
    </dgm:pt>
    <dgm:pt modelId="{20F3E147-154B-4BC4-8D30-3FC6C25CC0B6}" type="parTrans" cxnId="{29179C14-001B-4534-9DE5-48A9726AD1AE}">
      <dgm:prSet/>
      <dgm:spPr/>
      <dgm:t>
        <a:bodyPr/>
        <a:lstStyle/>
        <a:p>
          <a:pPr rtl="1"/>
          <a:endParaRPr lang="he-IL"/>
        </a:p>
      </dgm:t>
    </dgm:pt>
    <dgm:pt modelId="{AF12E315-134C-4DEB-AD67-1FF0561992BF}" type="pres">
      <dgm:prSet presAssocID="{5F490341-855F-426E-BC80-A9959DA76733}" presName="matrix" presStyleCnt="0">
        <dgm:presLayoutVars>
          <dgm:chMax val="1"/>
          <dgm:dir/>
          <dgm:resizeHandles val="exact"/>
        </dgm:presLayoutVars>
      </dgm:prSet>
      <dgm:spPr/>
    </dgm:pt>
    <dgm:pt modelId="{F34B5A25-BAE5-4F9E-ABF1-9B9787AA69A9}" type="pres">
      <dgm:prSet presAssocID="{5F490341-855F-426E-BC80-A9959DA76733}" presName="axisShape" presStyleLbl="bgShp" presStyleIdx="0" presStyleCnt="1" custScaleX="192792"/>
      <dgm:spPr/>
    </dgm:pt>
    <dgm:pt modelId="{74C13026-4D8D-4EC4-AFA7-206670D6E8A8}" type="pres">
      <dgm:prSet presAssocID="{5F490341-855F-426E-BC80-A9959DA76733}" presName="rect1" presStyleLbl="node1" presStyleIdx="0" presStyleCnt="4" custScaleX="216629" custScaleY="103946" custLinFactNeighborX="-59613" custLinFactNeighborY="1226">
        <dgm:presLayoutVars>
          <dgm:chMax val="0"/>
          <dgm:chPref val="0"/>
          <dgm:bulletEnabled val="1"/>
        </dgm:presLayoutVars>
      </dgm:prSet>
      <dgm:spPr/>
    </dgm:pt>
    <dgm:pt modelId="{4439E1B5-1F04-48DB-AC62-EE1D78A0497E}" type="pres">
      <dgm:prSet presAssocID="{5F490341-855F-426E-BC80-A9959DA76733}" presName="rect2" presStyleLbl="node1" presStyleIdx="1" presStyleCnt="4" custScaleX="205247" custLinFactNeighborX="56697" custLinFactNeighborY="492">
        <dgm:presLayoutVars>
          <dgm:chMax val="0"/>
          <dgm:chPref val="0"/>
          <dgm:bulletEnabled val="1"/>
        </dgm:presLayoutVars>
      </dgm:prSet>
      <dgm:spPr/>
    </dgm:pt>
    <dgm:pt modelId="{AEE080E1-520B-48AE-B875-67E62B10E5CA}" type="pres">
      <dgm:prSet presAssocID="{5F490341-855F-426E-BC80-A9959DA76733}" presName="rect3" presStyleLbl="node1" presStyleIdx="2" presStyleCnt="4" custScaleX="225292" custLinFactNeighborX="-60248" custLinFactNeighborY="1277">
        <dgm:presLayoutVars>
          <dgm:chMax val="0"/>
          <dgm:chPref val="0"/>
          <dgm:bulletEnabled val="1"/>
        </dgm:presLayoutVars>
      </dgm:prSet>
      <dgm:spPr/>
    </dgm:pt>
    <dgm:pt modelId="{CABE304F-9549-4EC6-94EB-1DFA42986B69}" type="pres">
      <dgm:prSet presAssocID="{5F490341-855F-426E-BC80-A9959DA76733}" presName="rect4" presStyleLbl="node1" presStyleIdx="3" presStyleCnt="4" custScaleX="216214" custLinFactNeighborX="56701" custLinFactNeighborY="-137">
        <dgm:presLayoutVars>
          <dgm:chMax val="0"/>
          <dgm:chPref val="0"/>
          <dgm:bulletEnabled val="1"/>
        </dgm:presLayoutVars>
      </dgm:prSet>
      <dgm:spPr/>
    </dgm:pt>
  </dgm:ptLst>
  <dgm:cxnLst>
    <dgm:cxn modelId="{91500D03-CD4B-46B0-9CD3-98D0AF535432}" srcId="{46842450-5948-4889-8FD6-10F3A628C004}" destId="{2C6E29BB-B832-4E17-BA78-FCA6F8814478}" srcOrd="3" destOrd="0" parTransId="{14207F7B-F332-4EEE-AFC3-B408B6756488}" sibTransId="{3018978A-34C7-4310-A769-6CC3CC0E40B1}"/>
    <dgm:cxn modelId="{8D1C3306-70C1-44BF-AB4C-E2F77D306682}" type="presOf" srcId="{A1C84AE4-BB8C-4550-B091-BD54721B3560}" destId="{AEE080E1-520B-48AE-B875-67E62B10E5CA}" srcOrd="0" destOrd="2" presId="urn:microsoft.com/office/officeart/2005/8/layout/matrix2"/>
    <dgm:cxn modelId="{65F23608-AE67-4F8F-9DC2-657525EB057A}" srcId="{46842450-5948-4889-8FD6-10F3A628C004}" destId="{3C3AE21A-4462-483A-BD93-4D4ECEE845DF}" srcOrd="2" destOrd="0" parTransId="{9978C8C2-9973-477D-B8D5-36CC7CDC516A}" sibTransId="{086A71B0-8B9A-4904-9158-50316146BCBA}"/>
    <dgm:cxn modelId="{71FC2C10-58CE-45FD-A789-21D529FAB103}" srcId="{A45F515B-B480-49AF-AF95-8705C2BE3482}" destId="{76C473E7-46FA-42E4-B57C-99CF3EC33BBF}" srcOrd="4" destOrd="0" parTransId="{D6C265B7-2CD3-43BA-AE94-2944A3B9555B}" sibTransId="{05C7C79C-761C-4B53-8227-B356E23EA12B}"/>
    <dgm:cxn modelId="{E73D0313-3C43-4281-8FA1-212AFD044F40}" srcId="{123A603F-2535-460A-AB62-7733A1704779}" destId="{9D397B48-B57A-4C1F-A387-FA667FA4B04F}" srcOrd="0" destOrd="0" parTransId="{74F0DC85-5B65-4769-921E-C1B1A8216991}" sibTransId="{EFDF0DF4-3261-4E6A-BF1D-A78AEE85AE06}"/>
    <dgm:cxn modelId="{29179C14-001B-4534-9DE5-48A9726AD1AE}" srcId="{123A603F-2535-460A-AB62-7733A1704779}" destId="{E46EA1A1-EFEC-474A-AC03-A54606A259F9}" srcOrd="2" destOrd="0" parTransId="{20F3E147-154B-4BC4-8D30-3FC6C25CC0B6}" sibTransId="{BD803B59-512A-4566-8725-2386F6B7CD94}"/>
    <dgm:cxn modelId="{A030B21A-8AE0-4C77-839B-2CB5221DB112}" srcId="{5F490341-855F-426E-BC80-A9959DA76733}" destId="{123A603F-2535-460A-AB62-7733A1704779}" srcOrd="0" destOrd="0" parTransId="{191817EA-79E9-49EF-97D5-55C9FEA049DE}" sibTransId="{4CFFAEA5-F57A-4D91-91EB-8029466F12D7}"/>
    <dgm:cxn modelId="{69FC271C-7E39-45DE-A718-05E47AF15FF7}" type="presOf" srcId="{0623F343-2352-48AA-8035-0FBF3990AB82}" destId="{AEE080E1-520B-48AE-B875-67E62B10E5CA}" srcOrd="0" destOrd="1" presId="urn:microsoft.com/office/officeart/2005/8/layout/matrix2"/>
    <dgm:cxn modelId="{A4EEAD20-7128-4CAA-AA9B-00217550EBFB}" type="presOf" srcId="{123A603F-2535-460A-AB62-7733A1704779}" destId="{74C13026-4D8D-4EC4-AFA7-206670D6E8A8}" srcOrd="0" destOrd="0" presId="urn:microsoft.com/office/officeart/2005/8/layout/matrix2"/>
    <dgm:cxn modelId="{F57EB320-74F9-4209-816D-3AA7946CF4D0}" type="presOf" srcId="{47138766-7E20-47A5-987F-1481D0D33890}" destId="{4439E1B5-1F04-48DB-AC62-EE1D78A0497E}" srcOrd="0" destOrd="3" presId="urn:microsoft.com/office/officeart/2005/8/layout/matrix2"/>
    <dgm:cxn modelId="{AC2CC240-F471-42F9-A707-A1AA5F8E4148}" type="presOf" srcId="{CA98E138-4F89-486E-B269-553D90A17273}" destId="{4439E1B5-1F04-48DB-AC62-EE1D78A0497E}" srcOrd="0" destOrd="2" presId="urn:microsoft.com/office/officeart/2005/8/layout/matrix2"/>
    <dgm:cxn modelId="{1E75C15C-921B-4B60-B413-D1E980742DCD}" type="presOf" srcId="{FD8A23A6-DF27-45C4-BEE0-D1623F8C1145}" destId="{CABE304F-9549-4EC6-94EB-1DFA42986B69}" srcOrd="0" destOrd="1" presId="urn:microsoft.com/office/officeart/2005/8/layout/matrix2"/>
    <dgm:cxn modelId="{E8ED1C5F-7F23-49FA-8625-BD2076050987}" type="presOf" srcId="{5F490341-855F-426E-BC80-A9959DA76733}" destId="{AF12E315-134C-4DEB-AD67-1FF0561992BF}" srcOrd="0" destOrd="0" presId="urn:microsoft.com/office/officeart/2005/8/layout/matrix2"/>
    <dgm:cxn modelId="{513BA361-151D-45F3-BFC3-4AD927DEA4FA}" srcId="{A45F515B-B480-49AF-AF95-8705C2BE3482}" destId="{967FDCFB-E9B6-44E8-B39C-AC3FD26A5534}" srcOrd="3" destOrd="0" parTransId="{A525A9AB-0383-46ED-AD3F-8640EAFB5990}" sibTransId="{C0B7E552-7A18-4096-B59C-274798DB3C03}"/>
    <dgm:cxn modelId="{FD6A4543-739C-41E8-B61C-DA6227AA81AE}" srcId="{123A603F-2535-460A-AB62-7733A1704779}" destId="{238FD2AB-33DB-4E9A-AB33-4C20B9861246}" srcOrd="1" destOrd="0" parTransId="{8094DF4A-CECD-40FA-9545-289DD8AB170F}" sibTransId="{C0CBFFF4-3484-425A-83D2-FDA5AA97E0AB}"/>
    <dgm:cxn modelId="{E3173246-FB19-490E-8F69-4D3C4D3666E0}" type="presOf" srcId="{46842450-5948-4889-8FD6-10F3A628C004}" destId="{AEE080E1-520B-48AE-B875-67E62B10E5CA}" srcOrd="0" destOrd="0" presId="urn:microsoft.com/office/officeart/2005/8/layout/matrix2"/>
    <dgm:cxn modelId="{E929B46A-27F2-49FE-BFA3-6D943632F8E5}" srcId="{C8AEE461-9FF8-493F-B6D2-A1E4CE2B5B6F}" destId="{198A2770-FF22-4B52-9CE2-9B96CB5CA0A3}" srcOrd="2" destOrd="0" parTransId="{73A21D2C-5D58-437F-AF2E-CC7D3003D328}" sibTransId="{B8F6AA2A-F968-41E0-8587-4AE36317AAB9}"/>
    <dgm:cxn modelId="{2D024D4D-3F36-423B-A51F-0B9262951182}" type="presOf" srcId="{3C3AE21A-4462-483A-BD93-4D4ECEE845DF}" destId="{AEE080E1-520B-48AE-B875-67E62B10E5CA}" srcOrd="0" destOrd="3" presId="urn:microsoft.com/office/officeart/2005/8/layout/matrix2"/>
    <dgm:cxn modelId="{FF95DF4E-245C-4690-9C5D-25E51768971D}" srcId="{A45F515B-B480-49AF-AF95-8705C2BE3482}" destId="{CA98E138-4F89-486E-B269-553D90A17273}" srcOrd="1" destOrd="0" parTransId="{DF2FB4FE-550F-4EAB-BE8A-2C2FF901BDBD}" sibTransId="{590F37A4-DB1D-4814-B222-E093F9B22C1B}"/>
    <dgm:cxn modelId="{8AFE9C4F-771B-4EFB-9D6C-B210E1278961}" type="presOf" srcId="{967FDCFB-E9B6-44E8-B39C-AC3FD26A5534}" destId="{4439E1B5-1F04-48DB-AC62-EE1D78A0497E}" srcOrd="0" destOrd="4" presId="urn:microsoft.com/office/officeart/2005/8/layout/matrix2"/>
    <dgm:cxn modelId="{D2CB1C51-8F34-453E-9C33-649657615811}" srcId="{5F490341-855F-426E-BC80-A9959DA76733}" destId="{A45F515B-B480-49AF-AF95-8705C2BE3482}" srcOrd="1" destOrd="0" parTransId="{4688EF34-487D-415C-9559-E73121F884CC}" sibTransId="{B7C8DB05-9FE1-41E0-97D0-5F0CFCB74ECA}"/>
    <dgm:cxn modelId="{6B44F473-C075-4296-AD25-06D6E8F8B9A7}" srcId="{5F490341-855F-426E-BC80-A9959DA76733}" destId="{46842450-5948-4889-8FD6-10F3A628C004}" srcOrd="2" destOrd="0" parTransId="{BE2A4B20-570B-42B8-AB80-37309C6B3B7D}" sibTransId="{758CD3CE-AEA4-43DC-815E-6597DB6D6E95}"/>
    <dgm:cxn modelId="{365CB876-956A-447A-BDB1-689CEBD3BD82}" type="presOf" srcId="{2C6E29BB-B832-4E17-BA78-FCA6F8814478}" destId="{AEE080E1-520B-48AE-B875-67E62B10E5CA}" srcOrd="0" destOrd="4" presId="urn:microsoft.com/office/officeart/2005/8/layout/matrix2"/>
    <dgm:cxn modelId="{609D5259-9616-44DA-91A6-ADE17EE91787}" srcId="{A45F515B-B480-49AF-AF95-8705C2BE3482}" destId="{47138766-7E20-47A5-987F-1481D0D33890}" srcOrd="2" destOrd="0" parTransId="{AA222D91-AB36-49A5-9AB9-729680733FA6}" sibTransId="{F7F2C5A6-581F-4767-81C8-6D4D934D8887}"/>
    <dgm:cxn modelId="{5DA3EA7A-49E8-4D80-B7DE-12472E25A907}" type="presOf" srcId="{8A184F0A-6A67-4662-9EC3-071F735526F8}" destId="{CABE304F-9549-4EC6-94EB-1DFA42986B69}" srcOrd="0" destOrd="4" presId="urn:microsoft.com/office/officeart/2005/8/layout/matrix2"/>
    <dgm:cxn modelId="{2FAA537C-CC7E-4EC9-9D5E-735A8F13A92F}" srcId="{5F490341-855F-426E-BC80-A9959DA76733}" destId="{C8AEE461-9FF8-493F-B6D2-A1E4CE2B5B6F}" srcOrd="3" destOrd="0" parTransId="{0B8D7988-FAD2-4285-A06C-94E09D258DC8}" sibTransId="{E14B4727-BC56-4B53-8CCD-5E4C96A10687}"/>
    <dgm:cxn modelId="{9FFA6A7D-CC91-4A78-988F-8D6BEC2609ED}" type="presOf" srcId="{CC22BBA0-EFCB-4A3A-A667-A700FF44EBF6}" destId="{CABE304F-9549-4EC6-94EB-1DFA42986B69}" srcOrd="0" destOrd="2" presId="urn:microsoft.com/office/officeart/2005/8/layout/matrix2"/>
    <dgm:cxn modelId="{1479668A-ABD7-444B-8997-35D6AB8E8DF4}" type="presOf" srcId="{A45F515B-B480-49AF-AF95-8705C2BE3482}" destId="{4439E1B5-1F04-48DB-AC62-EE1D78A0497E}" srcOrd="0" destOrd="0" presId="urn:microsoft.com/office/officeart/2005/8/layout/matrix2"/>
    <dgm:cxn modelId="{12EA618B-4080-4C38-B940-B829749D4019}" srcId="{C8AEE461-9FF8-493F-B6D2-A1E4CE2B5B6F}" destId="{8A184F0A-6A67-4662-9EC3-071F735526F8}" srcOrd="3" destOrd="0" parTransId="{A42F7DCD-B0A7-421B-A6DA-8A1F94395575}" sibTransId="{696CEBF6-AA74-4C75-9CDF-DD1D6F9064CC}"/>
    <dgm:cxn modelId="{AB7FC1A4-6F84-445E-BB02-14AE36B08CEC}" type="presOf" srcId="{198A2770-FF22-4B52-9CE2-9B96CB5CA0A3}" destId="{CABE304F-9549-4EC6-94EB-1DFA42986B69}" srcOrd="0" destOrd="3" presId="urn:microsoft.com/office/officeart/2005/8/layout/matrix2"/>
    <dgm:cxn modelId="{F7CE3CB6-B39A-4A8B-A19F-3F6BB714D69E}" type="presOf" srcId="{5B8E389F-AA68-4BC5-B361-34899CF498BE}" destId="{AEE080E1-520B-48AE-B875-67E62B10E5CA}" srcOrd="0" destOrd="5" presId="urn:microsoft.com/office/officeart/2005/8/layout/matrix2"/>
    <dgm:cxn modelId="{CFBEA2BF-BA33-420D-B78A-3EFB377E2A12}" type="presOf" srcId="{238FD2AB-33DB-4E9A-AB33-4C20B9861246}" destId="{74C13026-4D8D-4EC4-AFA7-206670D6E8A8}" srcOrd="0" destOrd="2" presId="urn:microsoft.com/office/officeart/2005/8/layout/matrix2"/>
    <dgm:cxn modelId="{58D18BC8-47FB-44D1-9FD0-C0FC76FDA69C}" type="presOf" srcId="{9D397B48-B57A-4C1F-A387-FA667FA4B04F}" destId="{74C13026-4D8D-4EC4-AFA7-206670D6E8A8}" srcOrd="0" destOrd="1" presId="urn:microsoft.com/office/officeart/2005/8/layout/matrix2"/>
    <dgm:cxn modelId="{64E019C9-9ED8-4BD3-A049-2906E590FFE7}" srcId="{46842450-5948-4889-8FD6-10F3A628C004}" destId="{5B8E389F-AA68-4BC5-B361-34899CF498BE}" srcOrd="4" destOrd="0" parTransId="{079B9F37-C190-46F6-8DF2-91FDD646BFD1}" sibTransId="{91555182-1E97-468A-B349-041EC31EEE5B}"/>
    <dgm:cxn modelId="{1FA948DA-7C6A-437D-9A68-6341E1F46BCA}" srcId="{C8AEE461-9FF8-493F-B6D2-A1E4CE2B5B6F}" destId="{FD8A23A6-DF27-45C4-BEE0-D1623F8C1145}" srcOrd="0" destOrd="0" parTransId="{66FA6EF5-DE9A-4954-A0BE-F7FC89D0A041}" sibTransId="{00F1892F-FA9D-40CE-A484-481C333E4A85}"/>
    <dgm:cxn modelId="{55DB31DD-CEE7-4A90-8E40-E727BE9739E4}" srcId="{A45F515B-B480-49AF-AF95-8705C2BE3482}" destId="{8E81BD63-755E-4796-8F56-04DD9220835B}" srcOrd="0" destOrd="0" parTransId="{29EA22CE-7CDE-41E5-941F-43F63250555E}" sibTransId="{E46F9DBC-68A1-492A-8AC9-BAAEEA81BB04}"/>
    <dgm:cxn modelId="{16F0EEDE-B424-4892-8269-E6EF331DB3BC}" srcId="{46842450-5948-4889-8FD6-10F3A628C004}" destId="{0623F343-2352-48AA-8035-0FBF3990AB82}" srcOrd="0" destOrd="0" parTransId="{19B1FCFE-85C7-43CB-8E9C-737BA0593C21}" sibTransId="{33F441B8-E2AA-41D5-80A0-7452E1976F63}"/>
    <dgm:cxn modelId="{F22FCBE0-D0F4-4362-8060-797777CA659C}" srcId="{46842450-5948-4889-8FD6-10F3A628C004}" destId="{A1C84AE4-BB8C-4550-B091-BD54721B3560}" srcOrd="1" destOrd="0" parTransId="{200A9B61-EBA7-479E-8CF7-F20810CC50D2}" sibTransId="{54908405-607E-40C4-86DB-8417D01D29BA}"/>
    <dgm:cxn modelId="{774B5EE4-8157-4D9A-BED4-FD56CA5A0723}" type="presOf" srcId="{C8AEE461-9FF8-493F-B6D2-A1E4CE2B5B6F}" destId="{CABE304F-9549-4EC6-94EB-1DFA42986B69}" srcOrd="0" destOrd="0" presId="urn:microsoft.com/office/officeart/2005/8/layout/matrix2"/>
    <dgm:cxn modelId="{95543FEE-B1BE-4ABC-9BE5-FEC17E5CD1B4}" type="presOf" srcId="{E46EA1A1-EFEC-474A-AC03-A54606A259F9}" destId="{74C13026-4D8D-4EC4-AFA7-206670D6E8A8}" srcOrd="0" destOrd="3" presId="urn:microsoft.com/office/officeart/2005/8/layout/matrix2"/>
    <dgm:cxn modelId="{99D5C7F3-FA1D-4835-9472-FC31FB914ED1}" srcId="{C8AEE461-9FF8-493F-B6D2-A1E4CE2B5B6F}" destId="{CC22BBA0-EFCB-4A3A-A667-A700FF44EBF6}" srcOrd="1" destOrd="0" parTransId="{5F98F5EB-1DDE-4020-969B-4204479A0788}" sibTransId="{D64DFBE6-901D-4E67-BEB2-6E0CC271374E}"/>
    <dgm:cxn modelId="{662C2AF5-45CD-4F92-8D1F-AD4B226F732C}" type="presOf" srcId="{8E81BD63-755E-4796-8F56-04DD9220835B}" destId="{4439E1B5-1F04-48DB-AC62-EE1D78A0497E}" srcOrd="0" destOrd="1" presId="urn:microsoft.com/office/officeart/2005/8/layout/matrix2"/>
    <dgm:cxn modelId="{EE8337F7-46B8-4A5D-8D3D-14831346EE50}" type="presOf" srcId="{76C473E7-46FA-42E4-B57C-99CF3EC33BBF}" destId="{4439E1B5-1F04-48DB-AC62-EE1D78A0497E}" srcOrd="0" destOrd="5" presId="urn:microsoft.com/office/officeart/2005/8/layout/matrix2"/>
    <dgm:cxn modelId="{3A0933DF-AB93-46B1-B393-07DEBDC35AB9}" type="presParOf" srcId="{AF12E315-134C-4DEB-AD67-1FF0561992BF}" destId="{F34B5A25-BAE5-4F9E-ABF1-9B9787AA69A9}" srcOrd="0" destOrd="0" presId="urn:microsoft.com/office/officeart/2005/8/layout/matrix2"/>
    <dgm:cxn modelId="{38BF0683-F6DA-414E-9BB2-F6E8EF8D4423}" type="presParOf" srcId="{AF12E315-134C-4DEB-AD67-1FF0561992BF}" destId="{74C13026-4D8D-4EC4-AFA7-206670D6E8A8}" srcOrd="1" destOrd="0" presId="urn:microsoft.com/office/officeart/2005/8/layout/matrix2"/>
    <dgm:cxn modelId="{4F7EC66D-FB6F-49D6-AA14-3ABAC30AE5A2}" type="presParOf" srcId="{AF12E315-134C-4DEB-AD67-1FF0561992BF}" destId="{4439E1B5-1F04-48DB-AC62-EE1D78A0497E}" srcOrd="2" destOrd="0" presId="urn:microsoft.com/office/officeart/2005/8/layout/matrix2"/>
    <dgm:cxn modelId="{3278D8EA-9F77-4CAB-8D4D-32D1045CCE9D}" type="presParOf" srcId="{AF12E315-134C-4DEB-AD67-1FF0561992BF}" destId="{AEE080E1-520B-48AE-B875-67E62B10E5CA}" srcOrd="3" destOrd="0" presId="urn:microsoft.com/office/officeart/2005/8/layout/matrix2"/>
    <dgm:cxn modelId="{82F45EE8-C79B-437B-9413-DE76BD406535}" type="presParOf" srcId="{AF12E315-134C-4DEB-AD67-1FF0561992BF}" destId="{CABE304F-9549-4EC6-94EB-1DFA42986B69}" srcOrd="4" destOrd="0" presId="urn:microsoft.com/office/officeart/2005/8/layout/matrix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F490341-855F-426E-BC80-A9959DA76733}"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pPr rtl="1"/>
          <a:endParaRPr lang="he-IL"/>
        </a:p>
      </dgm:t>
    </dgm:pt>
    <dgm:pt modelId="{A45F515B-B480-49AF-AF95-8705C2BE3482}">
      <dgm:prSet phldrT="[טקסט]"/>
      <dgm:spPr>
        <a:solidFill>
          <a:schemeClr val="accent1">
            <a:hueOff val="0"/>
            <a:satOff val="0"/>
            <a:lumOff val="0"/>
          </a:schemeClr>
        </a:solidFill>
      </dgm:spPr>
      <dgm:t>
        <a:bodyPr/>
        <a:lstStyle/>
        <a:p>
          <a:pPr rtl="1"/>
          <a:r>
            <a:rPr lang="he-IL" sz="1300" dirty="0"/>
            <a:t>חוזקות והזדמנויות</a:t>
          </a:r>
        </a:p>
      </dgm:t>
    </dgm:pt>
    <dgm:pt modelId="{4688EF34-487D-415C-9559-E73121F884CC}" type="parTrans" cxnId="{D2CB1C51-8F34-453E-9C33-649657615811}">
      <dgm:prSet/>
      <dgm:spPr/>
      <dgm:t>
        <a:bodyPr/>
        <a:lstStyle/>
        <a:p>
          <a:pPr rtl="1"/>
          <a:endParaRPr lang="he-IL"/>
        </a:p>
      </dgm:t>
    </dgm:pt>
    <dgm:pt modelId="{B7C8DB05-9FE1-41E0-97D0-5F0CFCB74ECA}" type="sibTrans" cxnId="{D2CB1C51-8F34-453E-9C33-649657615811}">
      <dgm:prSet/>
      <dgm:spPr/>
      <dgm:t>
        <a:bodyPr/>
        <a:lstStyle/>
        <a:p>
          <a:pPr rtl="1"/>
          <a:endParaRPr lang="he-IL"/>
        </a:p>
      </dgm:t>
    </dgm:pt>
    <dgm:pt modelId="{8E81BD63-755E-4796-8F56-04DD9220835B}">
      <dgm:prSet phldrT="[טקסט]" custT="1"/>
      <dgm:spPr>
        <a:solidFill>
          <a:schemeClr val="accent1">
            <a:hueOff val="0"/>
            <a:satOff val="0"/>
            <a:lumOff val="0"/>
          </a:schemeClr>
        </a:solidFill>
      </dgm:spPr>
      <dgm:t>
        <a:bodyPr/>
        <a:lstStyle/>
        <a:p>
          <a:pPr rtl="1"/>
          <a:r>
            <a:rPr lang="he-IL" sz="1400" dirty="0"/>
            <a:t> החברה יכולה לנצל את המוניטין החיובי והכישורים המקצועיים שלה כדי להיכנס לשווקי ייעוץ בינלאומיים.</a:t>
          </a:r>
        </a:p>
      </dgm:t>
    </dgm:pt>
    <dgm:pt modelId="{29EA22CE-7CDE-41E5-941F-43F63250555E}" type="parTrans" cxnId="{55DB31DD-CEE7-4A90-8E40-E727BE9739E4}">
      <dgm:prSet/>
      <dgm:spPr/>
      <dgm:t>
        <a:bodyPr/>
        <a:lstStyle/>
        <a:p>
          <a:pPr rtl="1"/>
          <a:endParaRPr lang="he-IL"/>
        </a:p>
      </dgm:t>
    </dgm:pt>
    <dgm:pt modelId="{E46F9DBC-68A1-492A-8AC9-BAAEEA81BB04}" type="sibTrans" cxnId="{55DB31DD-CEE7-4A90-8E40-E727BE9739E4}">
      <dgm:prSet/>
      <dgm:spPr/>
      <dgm:t>
        <a:bodyPr/>
        <a:lstStyle/>
        <a:p>
          <a:pPr rtl="1"/>
          <a:endParaRPr lang="he-IL"/>
        </a:p>
      </dgm:t>
    </dgm:pt>
    <dgm:pt modelId="{46842450-5948-4889-8FD6-10F3A628C004}">
      <dgm:prSet phldrT="[טקסט]"/>
      <dgm:spPr/>
      <dgm:t>
        <a:bodyPr/>
        <a:lstStyle/>
        <a:p>
          <a:pPr rtl="1"/>
          <a:r>
            <a:rPr lang="he-IL" sz="1400" dirty="0"/>
            <a:t>חולשות ואיומים</a:t>
          </a:r>
        </a:p>
      </dgm:t>
    </dgm:pt>
    <dgm:pt modelId="{BE2A4B20-570B-42B8-AB80-37309C6B3B7D}" type="parTrans" cxnId="{6B44F473-C075-4296-AD25-06D6E8F8B9A7}">
      <dgm:prSet/>
      <dgm:spPr/>
      <dgm:t>
        <a:bodyPr/>
        <a:lstStyle/>
        <a:p>
          <a:pPr rtl="1"/>
          <a:endParaRPr lang="he-IL"/>
        </a:p>
      </dgm:t>
    </dgm:pt>
    <dgm:pt modelId="{758CD3CE-AEA4-43DC-815E-6597DB6D6E95}" type="sibTrans" cxnId="{6B44F473-C075-4296-AD25-06D6E8F8B9A7}">
      <dgm:prSet/>
      <dgm:spPr/>
      <dgm:t>
        <a:bodyPr/>
        <a:lstStyle/>
        <a:p>
          <a:pPr rtl="1"/>
          <a:endParaRPr lang="he-IL"/>
        </a:p>
      </dgm:t>
    </dgm:pt>
    <dgm:pt modelId="{0623F343-2352-48AA-8035-0FBF3990AB82}">
      <dgm:prSet phldrT="[טקסט]" custT="1"/>
      <dgm:spPr/>
      <dgm:t>
        <a:bodyPr/>
        <a:lstStyle/>
        <a:p>
          <a:pPr rtl="1"/>
          <a:r>
            <a:rPr lang="he-IL" sz="1200" dirty="0"/>
            <a:t>התמקדות בשוק המקומי והתמקדות בתחום מסוים עלולה להוות חולשה משמעותית אם ישנה תחרות גוברת ותנודות כלכליות. החברה צריכה לפתח אסטרטגיות לצמצום התלות הזו על ידי התרחבות לשווקים חדשים והרחבת מגוון השירותים.</a:t>
          </a:r>
        </a:p>
      </dgm:t>
    </dgm:pt>
    <dgm:pt modelId="{19B1FCFE-85C7-43CB-8E9C-737BA0593C21}" type="parTrans" cxnId="{16F0EEDE-B424-4892-8269-E6EF331DB3BC}">
      <dgm:prSet/>
      <dgm:spPr/>
      <dgm:t>
        <a:bodyPr/>
        <a:lstStyle/>
        <a:p>
          <a:pPr rtl="1"/>
          <a:endParaRPr lang="he-IL"/>
        </a:p>
      </dgm:t>
    </dgm:pt>
    <dgm:pt modelId="{33F441B8-E2AA-41D5-80A0-7452E1976F63}" type="sibTrans" cxnId="{16F0EEDE-B424-4892-8269-E6EF331DB3BC}">
      <dgm:prSet/>
      <dgm:spPr/>
      <dgm:t>
        <a:bodyPr/>
        <a:lstStyle/>
        <a:p>
          <a:pPr rtl="1"/>
          <a:endParaRPr lang="he-IL"/>
        </a:p>
      </dgm:t>
    </dgm:pt>
    <dgm:pt modelId="{C8AEE461-9FF8-493F-B6D2-A1E4CE2B5B6F}">
      <dgm:prSet phldrT="[טקסט]"/>
      <dgm:spPr/>
      <dgm:t>
        <a:bodyPr/>
        <a:lstStyle/>
        <a:p>
          <a:pPr rtl="1"/>
          <a:r>
            <a:rPr lang="he-IL" sz="1200" dirty="0"/>
            <a:t>חולשות והזדמנויות</a:t>
          </a:r>
        </a:p>
      </dgm:t>
    </dgm:pt>
    <dgm:pt modelId="{0B8D7988-FAD2-4285-A06C-94E09D258DC8}" type="parTrans" cxnId="{2FAA537C-CC7E-4EC9-9D5E-735A8F13A92F}">
      <dgm:prSet/>
      <dgm:spPr/>
      <dgm:t>
        <a:bodyPr/>
        <a:lstStyle/>
        <a:p>
          <a:pPr rtl="1"/>
          <a:endParaRPr lang="he-IL"/>
        </a:p>
      </dgm:t>
    </dgm:pt>
    <dgm:pt modelId="{E14B4727-BC56-4B53-8CCD-5E4C96A10687}" type="sibTrans" cxnId="{2FAA537C-CC7E-4EC9-9D5E-735A8F13A92F}">
      <dgm:prSet/>
      <dgm:spPr/>
      <dgm:t>
        <a:bodyPr/>
        <a:lstStyle/>
        <a:p>
          <a:pPr rtl="1"/>
          <a:endParaRPr lang="he-IL"/>
        </a:p>
      </dgm:t>
    </dgm:pt>
    <dgm:pt modelId="{FD8A23A6-DF27-45C4-BEE0-D1623F8C1145}">
      <dgm:prSet phldrT="[טקסט]" custT="1"/>
      <dgm:spPr/>
      <dgm:t>
        <a:bodyPr/>
        <a:lstStyle/>
        <a:p>
          <a:pPr rtl="1"/>
          <a:r>
            <a:rPr lang="he-IL" sz="900" dirty="0"/>
            <a:t> </a:t>
          </a:r>
          <a:r>
            <a:rPr lang="he-IL" sz="1400" dirty="0"/>
            <a:t>פתיחת סניפים חדשים בארץ והתרחבות לשווקים בינלאומיים יכולים ליצר תפקידים חדשים, מה שיכול להוות פתרון לבעיית וליצור הזדמנויות צמיחה פנימיות. קידום העובדים </a:t>
          </a:r>
        </a:p>
      </dgm:t>
    </dgm:pt>
    <dgm:pt modelId="{66FA6EF5-DE9A-4954-A0BE-F7FC89D0A041}" type="parTrans" cxnId="{1FA948DA-7C6A-437D-9A68-6341E1F46BCA}">
      <dgm:prSet/>
      <dgm:spPr/>
      <dgm:t>
        <a:bodyPr/>
        <a:lstStyle/>
        <a:p>
          <a:pPr rtl="1"/>
          <a:endParaRPr lang="he-IL"/>
        </a:p>
      </dgm:t>
    </dgm:pt>
    <dgm:pt modelId="{00F1892F-FA9D-40CE-A484-481C333E4A85}" type="sibTrans" cxnId="{1FA948DA-7C6A-437D-9A68-6341E1F46BCA}">
      <dgm:prSet/>
      <dgm:spPr/>
      <dgm:t>
        <a:bodyPr/>
        <a:lstStyle/>
        <a:p>
          <a:pPr rtl="1"/>
          <a:endParaRPr lang="he-IL"/>
        </a:p>
      </dgm:t>
    </dgm:pt>
    <dgm:pt modelId="{123A603F-2535-460A-AB62-7733A1704779}">
      <dgm:prSet phldrT="[טקסט]"/>
      <dgm:spPr/>
      <dgm:t>
        <a:bodyPr/>
        <a:lstStyle/>
        <a:p>
          <a:pPr rtl="1"/>
          <a:r>
            <a:rPr lang="he-IL" sz="1100" dirty="0"/>
            <a:t>חוזקות ואיומים</a:t>
          </a:r>
        </a:p>
      </dgm:t>
    </dgm:pt>
    <dgm:pt modelId="{4CFFAEA5-F57A-4D91-91EB-8029466F12D7}" type="sibTrans" cxnId="{A030B21A-8AE0-4C77-839B-2CB5221DB112}">
      <dgm:prSet/>
      <dgm:spPr/>
      <dgm:t>
        <a:bodyPr/>
        <a:lstStyle/>
        <a:p>
          <a:pPr rtl="1"/>
          <a:endParaRPr lang="he-IL"/>
        </a:p>
      </dgm:t>
    </dgm:pt>
    <dgm:pt modelId="{191817EA-79E9-49EF-97D5-55C9FEA049DE}" type="parTrans" cxnId="{A030B21A-8AE0-4C77-839B-2CB5221DB112}">
      <dgm:prSet/>
      <dgm:spPr/>
      <dgm:t>
        <a:bodyPr/>
        <a:lstStyle/>
        <a:p>
          <a:pPr rtl="1"/>
          <a:endParaRPr lang="he-IL"/>
        </a:p>
      </dgm:t>
    </dgm:pt>
    <dgm:pt modelId="{9D397B48-B57A-4C1F-A387-FA667FA4B04F}">
      <dgm:prSet phldrT="[טקסט]" custT="1"/>
      <dgm:spPr/>
      <dgm:t>
        <a:bodyPr/>
        <a:lstStyle/>
        <a:p>
          <a:pPr rtl="1"/>
          <a:r>
            <a:rPr lang="he-IL" sz="1400" dirty="0"/>
            <a:t>ניסיון הרב של כוח האדם בחברה יכול לסייע לה להתמודד עם התחרות הגבוהה ולצמצם את הסיכון של שינויים רגולטוריים.</a:t>
          </a:r>
        </a:p>
      </dgm:t>
    </dgm:pt>
    <dgm:pt modelId="{EFDF0DF4-3261-4E6A-BF1D-A78AEE85AE06}" type="sibTrans" cxnId="{E73D0313-3C43-4281-8FA1-212AFD044F40}">
      <dgm:prSet/>
      <dgm:spPr/>
      <dgm:t>
        <a:bodyPr/>
        <a:lstStyle/>
        <a:p>
          <a:pPr rtl="1"/>
          <a:endParaRPr lang="he-IL"/>
        </a:p>
      </dgm:t>
    </dgm:pt>
    <dgm:pt modelId="{74F0DC85-5B65-4769-921E-C1B1A8216991}" type="parTrans" cxnId="{E73D0313-3C43-4281-8FA1-212AFD044F40}">
      <dgm:prSet/>
      <dgm:spPr/>
      <dgm:t>
        <a:bodyPr/>
        <a:lstStyle/>
        <a:p>
          <a:pPr rtl="1"/>
          <a:endParaRPr lang="he-IL"/>
        </a:p>
      </dgm:t>
    </dgm:pt>
    <dgm:pt modelId="{DBBF10E7-0B86-4788-BBEF-1E3DB4DBD90F}">
      <dgm:prSet/>
      <dgm:spPr/>
      <dgm:t>
        <a:bodyPr/>
        <a:lstStyle/>
        <a:p>
          <a:pPr rtl="1"/>
          <a:endParaRPr lang="he-IL" sz="1000" dirty="0"/>
        </a:p>
      </dgm:t>
    </dgm:pt>
    <dgm:pt modelId="{230437E7-71C8-4CB0-9CFF-ADB534706D3E}" type="parTrans" cxnId="{5CB75842-4808-46B3-94B4-6732A2C7DB72}">
      <dgm:prSet/>
      <dgm:spPr/>
      <dgm:t>
        <a:bodyPr/>
        <a:lstStyle/>
        <a:p>
          <a:pPr rtl="1"/>
          <a:endParaRPr lang="he-IL"/>
        </a:p>
      </dgm:t>
    </dgm:pt>
    <dgm:pt modelId="{D0EBF599-DB1E-40B1-82CB-4E8D99DC78DA}" type="sibTrans" cxnId="{5CB75842-4808-46B3-94B4-6732A2C7DB72}">
      <dgm:prSet/>
      <dgm:spPr/>
      <dgm:t>
        <a:bodyPr/>
        <a:lstStyle/>
        <a:p>
          <a:pPr rtl="1"/>
          <a:endParaRPr lang="he-IL"/>
        </a:p>
      </dgm:t>
    </dgm:pt>
    <dgm:pt modelId="{8755D3A1-B5EA-4F71-8FA3-B7F7616C06CA}">
      <dgm:prSet/>
      <dgm:spPr/>
      <dgm:t>
        <a:bodyPr/>
        <a:lstStyle/>
        <a:p>
          <a:pPr rtl="1"/>
          <a:endParaRPr lang="he-IL" sz="900" dirty="0"/>
        </a:p>
      </dgm:t>
    </dgm:pt>
    <dgm:pt modelId="{DF4841EF-7395-431A-A29B-BE8B24065808}" type="parTrans" cxnId="{394ECEC5-0160-40D1-B831-72128FF07D22}">
      <dgm:prSet/>
      <dgm:spPr/>
      <dgm:t>
        <a:bodyPr/>
        <a:lstStyle/>
        <a:p>
          <a:pPr rtl="1"/>
          <a:endParaRPr lang="he-IL"/>
        </a:p>
      </dgm:t>
    </dgm:pt>
    <dgm:pt modelId="{4ADB3425-1821-4DD0-A046-9097E2ED9972}" type="sibTrans" cxnId="{394ECEC5-0160-40D1-B831-72128FF07D22}">
      <dgm:prSet/>
      <dgm:spPr/>
      <dgm:t>
        <a:bodyPr/>
        <a:lstStyle/>
        <a:p>
          <a:pPr rtl="1"/>
          <a:endParaRPr lang="he-IL"/>
        </a:p>
      </dgm:t>
    </dgm:pt>
    <dgm:pt modelId="{DB5E200A-5ACE-464C-9423-AD3660ADD61B}">
      <dgm:prSet phldrT="[טקסט]" custT="1"/>
      <dgm:spPr>
        <a:solidFill>
          <a:schemeClr val="accent1">
            <a:hueOff val="0"/>
            <a:satOff val="0"/>
            <a:lumOff val="0"/>
          </a:schemeClr>
        </a:solidFill>
      </dgm:spPr>
      <dgm:t>
        <a:bodyPr/>
        <a:lstStyle/>
        <a:p>
          <a:pPr rtl="1"/>
          <a:r>
            <a:rPr lang="he-IL" sz="1400" dirty="0"/>
            <a:t> השימוש בטכנולוגיות </a:t>
          </a:r>
          <a:r>
            <a:rPr lang="en-US" sz="1400" dirty="0"/>
            <a:t>AI </a:t>
          </a:r>
          <a:r>
            <a:rPr lang="he-IL" sz="1400" dirty="0"/>
            <a:t>ונתוני עתק לשיפור ייעוץ אסטרטגי יכול להעצים את היכולת של החברה לספק פתרונות חדשניים ומדויקים יותר. זה גם מחזק את המוניטין של החברה כפורצת דרך בתחום.</a:t>
          </a:r>
        </a:p>
      </dgm:t>
    </dgm:pt>
    <dgm:pt modelId="{0A706A0E-C18A-4631-9D0A-C76C07E50064}" type="parTrans" cxnId="{5C917DA1-82A7-4281-B53E-C45D37348CE9}">
      <dgm:prSet/>
      <dgm:spPr/>
      <dgm:t>
        <a:bodyPr/>
        <a:lstStyle/>
        <a:p>
          <a:pPr rtl="1"/>
          <a:endParaRPr lang="he-IL"/>
        </a:p>
      </dgm:t>
    </dgm:pt>
    <dgm:pt modelId="{169710F3-D601-4871-B5C6-B049FC56A4DD}" type="sibTrans" cxnId="{5C917DA1-82A7-4281-B53E-C45D37348CE9}">
      <dgm:prSet/>
      <dgm:spPr/>
      <dgm:t>
        <a:bodyPr/>
        <a:lstStyle/>
        <a:p>
          <a:pPr rtl="1"/>
          <a:endParaRPr lang="he-IL"/>
        </a:p>
      </dgm:t>
    </dgm:pt>
    <dgm:pt modelId="{56540770-ECC7-4A01-9945-D2B74F73B000}">
      <dgm:prSet phldrT="[טקסט]" custT="1"/>
      <dgm:spPr/>
      <dgm:t>
        <a:bodyPr/>
        <a:lstStyle/>
        <a:p>
          <a:pPr rtl="1"/>
          <a:r>
            <a:rPr lang="he-IL" sz="1400" dirty="0"/>
            <a:t>התמודדות עם תחרות גוברת ושחקנים בינלאומיים יכולה להיות מאתגרת, אך המוניטין והידע העמוק של הצוות יכולים לסייע לחברה להציע ערך מוסף וליצור יתרון תחרותי.</a:t>
          </a:r>
        </a:p>
      </dgm:t>
    </dgm:pt>
    <dgm:pt modelId="{C6142E66-80A1-41D0-A234-A84FA28D42E5}" type="parTrans" cxnId="{9593D678-F590-4BBA-958B-704150D6CD8E}">
      <dgm:prSet/>
      <dgm:spPr/>
      <dgm:t>
        <a:bodyPr/>
        <a:lstStyle/>
        <a:p>
          <a:pPr rtl="1"/>
          <a:endParaRPr lang="he-IL"/>
        </a:p>
      </dgm:t>
    </dgm:pt>
    <dgm:pt modelId="{14D51FF5-F7AE-4464-A25B-751C9EDAAD5F}" type="sibTrans" cxnId="{9593D678-F590-4BBA-958B-704150D6CD8E}">
      <dgm:prSet/>
      <dgm:spPr/>
      <dgm:t>
        <a:bodyPr/>
        <a:lstStyle/>
        <a:p>
          <a:pPr rtl="1"/>
          <a:endParaRPr lang="he-IL"/>
        </a:p>
      </dgm:t>
    </dgm:pt>
    <dgm:pt modelId="{DF022DA4-7173-4BA7-81FF-E007C68C4002}">
      <dgm:prSet phldrT="[טקסט]" custT="1"/>
      <dgm:spPr/>
      <dgm:t>
        <a:bodyPr/>
        <a:lstStyle/>
        <a:p>
          <a:pPr rtl="1"/>
          <a:r>
            <a:rPr lang="he-IL" sz="1400" dirty="0"/>
            <a:t>הכניסה לתחומים כמו טכנולוגיה ובריאות עשויה לדרוש תפקידים ומיומנויות חדשים, מה שיכול לפתוח דלתות קידום והשתלבות לצוות הקיים</a:t>
          </a:r>
        </a:p>
      </dgm:t>
    </dgm:pt>
    <dgm:pt modelId="{1865ED76-0961-49A0-A1F2-14B21584083F}" type="parTrans" cxnId="{1E31CA1D-22B6-4BE4-AD71-4A38D6D0E5BF}">
      <dgm:prSet/>
      <dgm:spPr/>
      <dgm:t>
        <a:bodyPr/>
        <a:lstStyle/>
        <a:p>
          <a:pPr rtl="1"/>
          <a:endParaRPr lang="he-IL"/>
        </a:p>
      </dgm:t>
    </dgm:pt>
    <dgm:pt modelId="{634A88FF-EB99-40E7-83F3-59331BE5CDDD}" type="sibTrans" cxnId="{1E31CA1D-22B6-4BE4-AD71-4A38D6D0E5BF}">
      <dgm:prSet/>
      <dgm:spPr/>
      <dgm:t>
        <a:bodyPr/>
        <a:lstStyle/>
        <a:p>
          <a:pPr rtl="1"/>
          <a:endParaRPr lang="he-IL"/>
        </a:p>
      </dgm:t>
    </dgm:pt>
    <dgm:pt modelId="{9ABDE444-3A7E-4612-964F-9E89C0BAF5BF}">
      <dgm:prSet phldrT="[טקסט]" custT="1"/>
      <dgm:spPr/>
      <dgm:t>
        <a:bodyPr/>
        <a:lstStyle/>
        <a:p>
          <a:pPr rtl="1"/>
          <a:r>
            <a:rPr lang="he-IL" sz="1200" dirty="0"/>
            <a:t> כאשר החברה מתמקדת בתחום מסוים בלבד (בתחום היעוץ), היא חשופה לסיכונים הקשורים לירידת הביקוש או לאי יציבות כלכלית. החברה צריכה להרחיב את תחומי הפעילות שלה ולהכין את עצמה למקרים של ירידת ביקוש בתחום המרכזי על ידי גיוון הפעילות והחדרת תחומים חדשים שיכולים לשמור על יציבותה הכלכלית.</a:t>
          </a:r>
        </a:p>
      </dgm:t>
    </dgm:pt>
    <dgm:pt modelId="{43332CCF-25CC-4BCA-85D1-E50A183F4AA2}" type="parTrans" cxnId="{3C4EA19C-4034-41FD-BC60-D582544F684C}">
      <dgm:prSet/>
      <dgm:spPr/>
      <dgm:t>
        <a:bodyPr/>
        <a:lstStyle/>
        <a:p>
          <a:pPr rtl="1"/>
          <a:endParaRPr lang="he-IL"/>
        </a:p>
      </dgm:t>
    </dgm:pt>
    <dgm:pt modelId="{D7B6F52C-9B0B-47BE-B194-B9F5E2C3E5D6}" type="sibTrans" cxnId="{3C4EA19C-4034-41FD-BC60-D582544F684C}">
      <dgm:prSet/>
      <dgm:spPr/>
      <dgm:t>
        <a:bodyPr/>
        <a:lstStyle/>
        <a:p>
          <a:pPr rtl="1"/>
          <a:endParaRPr lang="he-IL"/>
        </a:p>
      </dgm:t>
    </dgm:pt>
    <dgm:pt modelId="{AF12E315-134C-4DEB-AD67-1FF0561992BF}" type="pres">
      <dgm:prSet presAssocID="{5F490341-855F-426E-BC80-A9959DA76733}" presName="matrix" presStyleCnt="0">
        <dgm:presLayoutVars>
          <dgm:chMax val="1"/>
          <dgm:dir/>
          <dgm:resizeHandles val="exact"/>
        </dgm:presLayoutVars>
      </dgm:prSet>
      <dgm:spPr/>
    </dgm:pt>
    <dgm:pt modelId="{F34B5A25-BAE5-4F9E-ABF1-9B9787AA69A9}" type="pres">
      <dgm:prSet presAssocID="{5F490341-855F-426E-BC80-A9959DA76733}" presName="axisShape" presStyleLbl="bgShp" presStyleIdx="0" presStyleCnt="1" custScaleX="192792"/>
      <dgm:spPr/>
    </dgm:pt>
    <dgm:pt modelId="{74C13026-4D8D-4EC4-AFA7-206670D6E8A8}" type="pres">
      <dgm:prSet presAssocID="{5F490341-855F-426E-BC80-A9959DA76733}" presName="rect1" presStyleLbl="node1" presStyleIdx="0" presStyleCnt="4" custScaleX="216629" custScaleY="103946" custLinFactNeighborX="-59613" custLinFactNeighborY="1226">
        <dgm:presLayoutVars>
          <dgm:chMax val="0"/>
          <dgm:chPref val="0"/>
          <dgm:bulletEnabled val="1"/>
        </dgm:presLayoutVars>
      </dgm:prSet>
      <dgm:spPr/>
    </dgm:pt>
    <dgm:pt modelId="{4439E1B5-1F04-48DB-AC62-EE1D78A0497E}" type="pres">
      <dgm:prSet presAssocID="{5F490341-855F-426E-BC80-A9959DA76733}" presName="rect2" presStyleLbl="node1" presStyleIdx="1" presStyleCnt="4" custScaleX="205247" custLinFactNeighborX="56697" custLinFactNeighborY="463">
        <dgm:presLayoutVars>
          <dgm:chMax val="0"/>
          <dgm:chPref val="0"/>
          <dgm:bulletEnabled val="1"/>
        </dgm:presLayoutVars>
      </dgm:prSet>
      <dgm:spPr/>
    </dgm:pt>
    <dgm:pt modelId="{AEE080E1-520B-48AE-B875-67E62B10E5CA}" type="pres">
      <dgm:prSet presAssocID="{5F490341-855F-426E-BC80-A9959DA76733}" presName="rect3" presStyleLbl="node1" presStyleIdx="2" presStyleCnt="4" custScaleX="225292" custLinFactNeighborX="-60248" custLinFactNeighborY="1277">
        <dgm:presLayoutVars>
          <dgm:chMax val="0"/>
          <dgm:chPref val="0"/>
          <dgm:bulletEnabled val="1"/>
        </dgm:presLayoutVars>
      </dgm:prSet>
      <dgm:spPr/>
    </dgm:pt>
    <dgm:pt modelId="{CABE304F-9549-4EC6-94EB-1DFA42986B69}" type="pres">
      <dgm:prSet presAssocID="{5F490341-855F-426E-BC80-A9959DA76733}" presName="rect4" presStyleLbl="node1" presStyleIdx="3" presStyleCnt="4" custScaleX="216214" custLinFactNeighborX="56701" custLinFactNeighborY="-137">
        <dgm:presLayoutVars>
          <dgm:chMax val="0"/>
          <dgm:chPref val="0"/>
          <dgm:bulletEnabled val="1"/>
        </dgm:presLayoutVars>
      </dgm:prSet>
      <dgm:spPr/>
    </dgm:pt>
  </dgm:ptLst>
  <dgm:cxnLst>
    <dgm:cxn modelId="{C57BD605-B26A-4AD9-B74F-36C6651DFD69}" type="presOf" srcId="{DBBF10E7-0B86-4788-BBEF-1E3DB4DBD90F}" destId="{4439E1B5-1F04-48DB-AC62-EE1D78A0497E}" srcOrd="0" destOrd="3" presId="urn:microsoft.com/office/officeart/2005/8/layout/matrix2"/>
    <dgm:cxn modelId="{E73D0313-3C43-4281-8FA1-212AFD044F40}" srcId="{123A603F-2535-460A-AB62-7733A1704779}" destId="{9D397B48-B57A-4C1F-A387-FA667FA4B04F}" srcOrd="0" destOrd="0" parTransId="{74F0DC85-5B65-4769-921E-C1B1A8216991}" sibTransId="{EFDF0DF4-3261-4E6A-BF1D-A78AEE85AE06}"/>
    <dgm:cxn modelId="{A030B21A-8AE0-4C77-839B-2CB5221DB112}" srcId="{5F490341-855F-426E-BC80-A9959DA76733}" destId="{123A603F-2535-460A-AB62-7733A1704779}" srcOrd="0" destOrd="0" parTransId="{191817EA-79E9-49EF-97D5-55C9FEA049DE}" sibTransId="{4CFFAEA5-F57A-4D91-91EB-8029466F12D7}"/>
    <dgm:cxn modelId="{69FC271C-7E39-45DE-A718-05E47AF15FF7}" type="presOf" srcId="{0623F343-2352-48AA-8035-0FBF3990AB82}" destId="{AEE080E1-520B-48AE-B875-67E62B10E5CA}" srcOrd="0" destOrd="1" presId="urn:microsoft.com/office/officeart/2005/8/layout/matrix2"/>
    <dgm:cxn modelId="{1E31CA1D-22B6-4BE4-AD71-4A38D6D0E5BF}" srcId="{C8AEE461-9FF8-493F-B6D2-A1E4CE2B5B6F}" destId="{DF022DA4-7173-4BA7-81FF-E007C68C4002}" srcOrd="1" destOrd="0" parTransId="{1865ED76-0961-49A0-A1F2-14B21584083F}" sibTransId="{634A88FF-EB99-40E7-83F3-59331BE5CDDD}"/>
    <dgm:cxn modelId="{A4EEAD20-7128-4CAA-AA9B-00217550EBFB}" type="presOf" srcId="{123A603F-2535-460A-AB62-7733A1704779}" destId="{74C13026-4D8D-4EC4-AFA7-206670D6E8A8}" srcOrd="0" destOrd="0" presId="urn:microsoft.com/office/officeart/2005/8/layout/matrix2"/>
    <dgm:cxn modelId="{BE02E624-FD2B-4DDA-91FE-4222E61A076D}" type="presOf" srcId="{8755D3A1-B5EA-4F71-8FA3-B7F7616C06CA}" destId="{CABE304F-9549-4EC6-94EB-1DFA42986B69}" srcOrd="0" destOrd="3" presId="urn:microsoft.com/office/officeart/2005/8/layout/matrix2"/>
    <dgm:cxn modelId="{96F84831-E7D3-427F-8102-3EDD38E48C22}" type="presOf" srcId="{56540770-ECC7-4A01-9945-D2B74F73B000}" destId="{74C13026-4D8D-4EC4-AFA7-206670D6E8A8}" srcOrd="0" destOrd="2" presId="urn:microsoft.com/office/officeart/2005/8/layout/matrix2"/>
    <dgm:cxn modelId="{1E75C15C-921B-4B60-B413-D1E980742DCD}" type="presOf" srcId="{FD8A23A6-DF27-45C4-BEE0-D1623F8C1145}" destId="{CABE304F-9549-4EC6-94EB-1DFA42986B69}" srcOrd="0" destOrd="1" presId="urn:microsoft.com/office/officeart/2005/8/layout/matrix2"/>
    <dgm:cxn modelId="{E8ED1C5F-7F23-49FA-8625-BD2076050987}" type="presOf" srcId="{5F490341-855F-426E-BC80-A9959DA76733}" destId="{AF12E315-134C-4DEB-AD67-1FF0561992BF}" srcOrd="0" destOrd="0" presId="urn:microsoft.com/office/officeart/2005/8/layout/matrix2"/>
    <dgm:cxn modelId="{5CB75842-4808-46B3-94B4-6732A2C7DB72}" srcId="{A45F515B-B480-49AF-AF95-8705C2BE3482}" destId="{DBBF10E7-0B86-4788-BBEF-1E3DB4DBD90F}" srcOrd="2" destOrd="0" parTransId="{230437E7-71C8-4CB0-9CFF-ADB534706D3E}" sibTransId="{D0EBF599-DB1E-40B1-82CB-4E8D99DC78DA}"/>
    <dgm:cxn modelId="{E3173246-FB19-490E-8F69-4D3C4D3666E0}" type="presOf" srcId="{46842450-5948-4889-8FD6-10F3A628C004}" destId="{AEE080E1-520B-48AE-B875-67E62B10E5CA}" srcOrd="0" destOrd="0" presId="urn:microsoft.com/office/officeart/2005/8/layout/matrix2"/>
    <dgm:cxn modelId="{D0F13050-DDE8-4B1B-A13D-521D10D890CF}" type="presOf" srcId="{DF022DA4-7173-4BA7-81FF-E007C68C4002}" destId="{CABE304F-9549-4EC6-94EB-1DFA42986B69}" srcOrd="0" destOrd="2" presId="urn:microsoft.com/office/officeart/2005/8/layout/matrix2"/>
    <dgm:cxn modelId="{D2CB1C51-8F34-453E-9C33-649657615811}" srcId="{5F490341-855F-426E-BC80-A9959DA76733}" destId="{A45F515B-B480-49AF-AF95-8705C2BE3482}" srcOrd="1" destOrd="0" parTransId="{4688EF34-487D-415C-9559-E73121F884CC}" sibTransId="{B7C8DB05-9FE1-41E0-97D0-5F0CFCB74ECA}"/>
    <dgm:cxn modelId="{6B44F473-C075-4296-AD25-06D6E8F8B9A7}" srcId="{5F490341-855F-426E-BC80-A9959DA76733}" destId="{46842450-5948-4889-8FD6-10F3A628C004}" srcOrd="2" destOrd="0" parTransId="{BE2A4B20-570B-42B8-AB80-37309C6B3B7D}" sibTransId="{758CD3CE-AEA4-43DC-815E-6597DB6D6E95}"/>
    <dgm:cxn modelId="{4D043354-0634-4975-88D6-D8F17B6329AA}" type="presOf" srcId="{9ABDE444-3A7E-4612-964F-9E89C0BAF5BF}" destId="{AEE080E1-520B-48AE-B875-67E62B10E5CA}" srcOrd="0" destOrd="2" presId="urn:microsoft.com/office/officeart/2005/8/layout/matrix2"/>
    <dgm:cxn modelId="{9593D678-F590-4BBA-958B-704150D6CD8E}" srcId="{123A603F-2535-460A-AB62-7733A1704779}" destId="{56540770-ECC7-4A01-9945-D2B74F73B000}" srcOrd="1" destOrd="0" parTransId="{C6142E66-80A1-41D0-A234-A84FA28D42E5}" sibTransId="{14D51FF5-F7AE-4464-A25B-751C9EDAAD5F}"/>
    <dgm:cxn modelId="{2FAA537C-CC7E-4EC9-9D5E-735A8F13A92F}" srcId="{5F490341-855F-426E-BC80-A9959DA76733}" destId="{C8AEE461-9FF8-493F-B6D2-A1E4CE2B5B6F}" srcOrd="3" destOrd="0" parTransId="{0B8D7988-FAD2-4285-A06C-94E09D258DC8}" sibTransId="{E14B4727-BC56-4B53-8CCD-5E4C96A10687}"/>
    <dgm:cxn modelId="{1479668A-ABD7-444B-8997-35D6AB8E8DF4}" type="presOf" srcId="{A45F515B-B480-49AF-AF95-8705C2BE3482}" destId="{4439E1B5-1F04-48DB-AC62-EE1D78A0497E}" srcOrd="0" destOrd="0" presId="urn:microsoft.com/office/officeart/2005/8/layout/matrix2"/>
    <dgm:cxn modelId="{3C4EA19C-4034-41FD-BC60-D582544F684C}" srcId="{46842450-5948-4889-8FD6-10F3A628C004}" destId="{9ABDE444-3A7E-4612-964F-9E89C0BAF5BF}" srcOrd="1" destOrd="0" parTransId="{43332CCF-25CC-4BCA-85D1-E50A183F4AA2}" sibTransId="{D7B6F52C-9B0B-47BE-B194-B9F5E2C3E5D6}"/>
    <dgm:cxn modelId="{5C917DA1-82A7-4281-B53E-C45D37348CE9}" srcId="{A45F515B-B480-49AF-AF95-8705C2BE3482}" destId="{DB5E200A-5ACE-464C-9423-AD3660ADD61B}" srcOrd="1" destOrd="0" parTransId="{0A706A0E-C18A-4631-9D0A-C76C07E50064}" sibTransId="{169710F3-D601-4871-B5C6-B049FC56A4DD}"/>
    <dgm:cxn modelId="{394ECEC5-0160-40D1-B831-72128FF07D22}" srcId="{C8AEE461-9FF8-493F-B6D2-A1E4CE2B5B6F}" destId="{8755D3A1-B5EA-4F71-8FA3-B7F7616C06CA}" srcOrd="2" destOrd="0" parTransId="{DF4841EF-7395-431A-A29B-BE8B24065808}" sibTransId="{4ADB3425-1821-4DD0-A046-9097E2ED9972}"/>
    <dgm:cxn modelId="{58D18BC8-47FB-44D1-9FD0-C0FC76FDA69C}" type="presOf" srcId="{9D397B48-B57A-4C1F-A387-FA667FA4B04F}" destId="{74C13026-4D8D-4EC4-AFA7-206670D6E8A8}" srcOrd="0" destOrd="1" presId="urn:microsoft.com/office/officeart/2005/8/layout/matrix2"/>
    <dgm:cxn modelId="{1FA948DA-7C6A-437D-9A68-6341E1F46BCA}" srcId="{C8AEE461-9FF8-493F-B6D2-A1E4CE2B5B6F}" destId="{FD8A23A6-DF27-45C4-BEE0-D1623F8C1145}" srcOrd="0" destOrd="0" parTransId="{66FA6EF5-DE9A-4954-A0BE-F7FC89D0A041}" sibTransId="{00F1892F-FA9D-40CE-A484-481C333E4A85}"/>
    <dgm:cxn modelId="{55DB31DD-CEE7-4A90-8E40-E727BE9739E4}" srcId="{A45F515B-B480-49AF-AF95-8705C2BE3482}" destId="{8E81BD63-755E-4796-8F56-04DD9220835B}" srcOrd="0" destOrd="0" parTransId="{29EA22CE-7CDE-41E5-941F-43F63250555E}" sibTransId="{E46F9DBC-68A1-492A-8AC9-BAAEEA81BB04}"/>
    <dgm:cxn modelId="{16F0EEDE-B424-4892-8269-E6EF331DB3BC}" srcId="{46842450-5948-4889-8FD6-10F3A628C004}" destId="{0623F343-2352-48AA-8035-0FBF3990AB82}" srcOrd="0" destOrd="0" parTransId="{19B1FCFE-85C7-43CB-8E9C-737BA0593C21}" sibTransId="{33F441B8-E2AA-41D5-80A0-7452E1976F63}"/>
    <dgm:cxn modelId="{774B5EE4-8157-4D9A-BED4-FD56CA5A0723}" type="presOf" srcId="{C8AEE461-9FF8-493F-B6D2-A1E4CE2B5B6F}" destId="{CABE304F-9549-4EC6-94EB-1DFA42986B69}" srcOrd="0" destOrd="0" presId="urn:microsoft.com/office/officeart/2005/8/layout/matrix2"/>
    <dgm:cxn modelId="{F2B306ED-3B4C-4752-8F89-5AEF2AC61C0B}" type="presOf" srcId="{DB5E200A-5ACE-464C-9423-AD3660ADD61B}" destId="{4439E1B5-1F04-48DB-AC62-EE1D78A0497E}" srcOrd="0" destOrd="2" presId="urn:microsoft.com/office/officeart/2005/8/layout/matrix2"/>
    <dgm:cxn modelId="{662C2AF5-45CD-4F92-8D1F-AD4B226F732C}" type="presOf" srcId="{8E81BD63-755E-4796-8F56-04DD9220835B}" destId="{4439E1B5-1F04-48DB-AC62-EE1D78A0497E}" srcOrd="0" destOrd="1" presId="urn:microsoft.com/office/officeart/2005/8/layout/matrix2"/>
    <dgm:cxn modelId="{3A0933DF-AB93-46B1-B393-07DEBDC35AB9}" type="presParOf" srcId="{AF12E315-134C-4DEB-AD67-1FF0561992BF}" destId="{F34B5A25-BAE5-4F9E-ABF1-9B9787AA69A9}" srcOrd="0" destOrd="0" presId="urn:microsoft.com/office/officeart/2005/8/layout/matrix2"/>
    <dgm:cxn modelId="{38BF0683-F6DA-414E-9BB2-F6E8EF8D4423}" type="presParOf" srcId="{AF12E315-134C-4DEB-AD67-1FF0561992BF}" destId="{74C13026-4D8D-4EC4-AFA7-206670D6E8A8}" srcOrd="1" destOrd="0" presId="urn:microsoft.com/office/officeart/2005/8/layout/matrix2"/>
    <dgm:cxn modelId="{4F7EC66D-FB6F-49D6-AA14-3ABAC30AE5A2}" type="presParOf" srcId="{AF12E315-134C-4DEB-AD67-1FF0561992BF}" destId="{4439E1B5-1F04-48DB-AC62-EE1D78A0497E}" srcOrd="2" destOrd="0" presId="urn:microsoft.com/office/officeart/2005/8/layout/matrix2"/>
    <dgm:cxn modelId="{3278D8EA-9F77-4CAB-8D4D-32D1045CCE9D}" type="presParOf" srcId="{AF12E315-134C-4DEB-AD67-1FF0561992BF}" destId="{AEE080E1-520B-48AE-B875-67E62B10E5CA}" srcOrd="3" destOrd="0" presId="urn:microsoft.com/office/officeart/2005/8/layout/matrix2"/>
    <dgm:cxn modelId="{82F45EE8-C79B-437B-9413-DE76BD406535}" type="presParOf" srcId="{AF12E315-134C-4DEB-AD67-1FF0561992BF}" destId="{CABE304F-9549-4EC6-94EB-1DFA42986B69}" srcOrd="4" destOrd="0" presId="urn:microsoft.com/office/officeart/2005/8/layout/matrix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CA40912-3637-47C4-A16B-695AB2B2E73C}" type="doc">
      <dgm:prSet loTypeId="urn:microsoft.com/office/officeart/2005/8/layout/cycle6" loCatId="cycle" qsTypeId="urn:microsoft.com/office/officeart/2005/8/quickstyle/simple1" qsCatId="simple" csTypeId="urn:microsoft.com/office/officeart/2005/8/colors/accent1_2" csCatId="accent1" phldr="1"/>
      <dgm:spPr/>
      <dgm:t>
        <a:bodyPr/>
        <a:lstStyle/>
        <a:p>
          <a:pPr rtl="1"/>
          <a:endParaRPr lang="he-IL"/>
        </a:p>
      </dgm:t>
    </dgm:pt>
    <dgm:pt modelId="{4A72E6C5-FC14-4AC7-AE87-9D8B14447976}">
      <dgm:prSet phldrT="[טקסט]"/>
      <dgm:spPr/>
      <dgm:t>
        <a:bodyPr/>
        <a:lstStyle/>
        <a:p>
          <a:pPr rtl="1"/>
          <a:r>
            <a:rPr lang="he-IL" dirty="0"/>
            <a:t>מתחרים פוטנציאליים</a:t>
          </a:r>
        </a:p>
      </dgm:t>
    </dgm:pt>
    <dgm:pt modelId="{AB485E04-20A7-48B4-9B4F-4E36646FAD9D}" type="parTrans" cxnId="{95813032-83E0-4C71-A1AB-EF26D32604EE}">
      <dgm:prSet/>
      <dgm:spPr/>
      <dgm:t>
        <a:bodyPr/>
        <a:lstStyle/>
        <a:p>
          <a:pPr rtl="1"/>
          <a:endParaRPr lang="he-IL"/>
        </a:p>
      </dgm:t>
    </dgm:pt>
    <dgm:pt modelId="{1DE92E9E-B278-41F8-B517-ABA0B32BFB40}" type="sibTrans" cxnId="{95813032-83E0-4C71-A1AB-EF26D32604EE}">
      <dgm:prSet/>
      <dgm:spPr/>
      <dgm:t>
        <a:bodyPr/>
        <a:lstStyle/>
        <a:p>
          <a:pPr rtl="1"/>
          <a:endParaRPr lang="he-IL"/>
        </a:p>
      </dgm:t>
    </dgm:pt>
    <dgm:pt modelId="{5A9B5890-0A1C-4311-A3FA-E42DA69CA162}">
      <dgm:prSet phldrT="[טקסט]"/>
      <dgm:spPr/>
      <dgm:t>
        <a:bodyPr/>
        <a:lstStyle/>
        <a:p>
          <a:pPr rtl="1"/>
          <a:r>
            <a:rPr lang="he-IL" dirty="0"/>
            <a:t>ספקים</a:t>
          </a:r>
        </a:p>
      </dgm:t>
    </dgm:pt>
    <dgm:pt modelId="{2F059E33-BC31-488F-AE4E-DCDB1142EBEB}" type="parTrans" cxnId="{1684FD99-8EBE-4EA7-9AED-EB1EFF9ADC5D}">
      <dgm:prSet/>
      <dgm:spPr/>
      <dgm:t>
        <a:bodyPr/>
        <a:lstStyle/>
        <a:p>
          <a:pPr rtl="1"/>
          <a:endParaRPr lang="he-IL"/>
        </a:p>
      </dgm:t>
    </dgm:pt>
    <dgm:pt modelId="{3B4FD9BE-6A90-4C25-9550-0954E1B2C972}" type="sibTrans" cxnId="{1684FD99-8EBE-4EA7-9AED-EB1EFF9ADC5D}">
      <dgm:prSet/>
      <dgm:spPr/>
      <dgm:t>
        <a:bodyPr/>
        <a:lstStyle/>
        <a:p>
          <a:pPr rtl="1"/>
          <a:endParaRPr lang="he-IL"/>
        </a:p>
      </dgm:t>
    </dgm:pt>
    <dgm:pt modelId="{53E6E81D-CD9F-4775-82D0-9FBA4A335379}">
      <dgm:prSet phldrT="[טקסט]"/>
      <dgm:spPr/>
      <dgm:t>
        <a:bodyPr/>
        <a:lstStyle/>
        <a:p>
          <a:pPr rtl="1"/>
          <a:r>
            <a:rPr lang="he-IL" dirty="0"/>
            <a:t>לקוחות</a:t>
          </a:r>
        </a:p>
      </dgm:t>
    </dgm:pt>
    <dgm:pt modelId="{A0C431E2-A884-4FA8-874B-C92EE38F34CC}" type="parTrans" cxnId="{11A464D6-1479-4921-ABB8-D73392618E40}">
      <dgm:prSet/>
      <dgm:spPr/>
      <dgm:t>
        <a:bodyPr/>
        <a:lstStyle/>
        <a:p>
          <a:pPr rtl="1"/>
          <a:endParaRPr lang="he-IL"/>
        </a:p>
      </dgm:t>
    </dgm:pt>
    <dgm:pt modelId="{F7807459-756F-4DE4-AC2A-4D1CF82BF8B0}" type="sibTrans" cxnId="{11A464D6-1479-4921-ABB8-D73392618E40}">
      <dgm:prSet/>
      <dgm:spPr/>
      <dgm:t>
        <a:bodyPr/>
        <a:lstStyle/>
        <a:p>
          <a:pPr rtl="1"/>
          <a:endParaRPr lang="he-IL"/>
        </a:p>
      </dgm:t>
    </dgm:pt>
    <dgm:pt modelId="{2D6FA9AE-3609-4EA7-9732-1CFDEE890237}">
      <dgm:prSet phldrT="[טקסט]"/>
      <dgm:spPr/>
      <dgm:t>
        <a:bodyPr/>
        <a:lstStyle/>
        <a:p>
          <a:pPr rtl="1"/>
          <a:r>
            <a:rPr lang="he-IL" dirty="0"/>
            <a:t>מוצרים תחליפים</a:t>
          </a:r>
        </a:p>
      </dgm:t>
    </dgm:pt>
    <dgm:pt modelId="{0046750E-F756-4CF0-80C0-49E5E4105B37}" type="parTrans" cxnId="{F0462D4D-DCD1-421E-B27B-1D1FEA8BBECA}">
      <dgm:prSet/>
      <dgm:spPr/>
      <dgm:t>
        <a:bodyPr/>
        <a:lstStyle/>
        <a:p>
          <a:pPr rtl="1"/>
          <a:endParaRPr lang="he-IL"/>
        </a:p>
      </dgm:t>
    </dgm:pt>
    <dgm:pt modelId="{777B5D74-36F1-41F2-BE0A-62A17124769B}" type="sibTrans" cxnId="{F0462D4D-DCD1-421E-B27B-1D1FEA8BBECA}">
      <dgm:prSet/>
      <dgm:spPr/>
      <dgm:t>
        <a:bodyPr/>
        <a:lstStyle/>
        <a:p>
          <a:pPr rtl="1"/>
          <a:endParaRPr lang="he-IL"/>
        </a:p>
      </dgm:t>
    </dgm:pt>
    <dgm:pt modelId="{93783108-1B7D-49D2-B312-08ED77ECB64C}">
      <dgm:prSet phldrT="[טקסט]"/>
      <dgm:spPr/>
      <dgm:t>
        <a:bodyPr/>
        <a:lstStyle/>
        <a:p>
          <a:pPr rtl="1"/>
          <a:r>
            <a:rPr lang="he-IL" dirty="0"/>
            <a:t>מתחרות קיימות</a:t>
          </a:r>
        </a:p>
      </dgm:t>
    </dgm:pt>
    <dgm:pt modelId="{C761CAF8-44BE-42C4-A9D0-BBB76C53F963}" type="parTrans" cxnId="{9FF6B025-6429-4A09-99EA-CFF6DAAF7522}">
      <dgm:prSet/>
      <dgm:spPr/>
      <dgm:t>
        <a:bodyPr/>
        <a:lstStyle/>
        <a:p>
          <a:pPr rtl="1"/>
          <a:endParaRPr lang="he-IL"/>
        </a:p>
      </dgm:t>
    </dgm:pt>
    <dgm:pt modelId="{84F9F9F2-7ACA-4F98-916B-583298F9E74B}" type="sibTrans" cxnId="{9FF6B025-6429-4A09-99EA-CFF6DAAF7522}">
      <dgm:prSet/>
      <dgm:spPr/>
      <dgm:t>
        <a:bodyPr/>
        <a:lstStyle/>
        <a:p>
          <a:pPr rtl="1"/>
          <a:endParaRPr lang="he-IL"/>
        </a:p>
      </dgm:t>
    </dgm:pt>
    <dgm:pt modelId="{7A175178-7AD9-403F-95A5-99C35F0983B9}" type="pres">
      <dgm:prSet presAssocID="{0CA40912-3637-47C4-A16B-695AB2B2E73C}" presName="cycle" presStyleCnt="0">
        <dgm:presLayoutVars>
          <dgm:dir/>
          <dgm:resizeHandles val="exact"/>
        </dgm:presLayoutVars>
      </dgm:prSet>
      <dgm:spPr/>
    </dgm:pt>
    <dgm:pt modelId="{DE9192B6-7C88-4C02-A08D-E68866C5B586}" type="pres">
      <dgm:prSet presAssocID="{4A72E6C5-FC14-4AC7-AE87-9D8B14447976}" presName="node" presStyleLbl="node1" presStyleIdx="0" presStyleCnt="5">
        <dgm:presLayoutVars>
          <dgm:bulletEnabled val="1"/>
        </dgm:presLayoutVars>
      </dgm:prSet>
      <dgm:spPr/>
    </dgm:pt>
    <dgm:pt modelId="{636DA540-A8FE-493A-AC2D-BE5CBD5D6092}" type="pres">
      <dgm:prSet presAssocID="{4A72E6C5-FC14-4AC7-AE87-9D8B14447976}" presName="spNode" presStyleCnt="0"/>
      <dgm:spPr/>
    </dgm:pt>
    <dgm:pt modelId="{74B6D6D0-907F-4E56-B63C-F0641449B3AD}" type="pres">
      <dgm:prSet presAssocID="{1DE92E9E-B278-41F8-B517-ABA0B32BFB40}" presName="sibTrans" presStyleLbl="sibTrans1D1" presStyleIdx="0" presStyleCnt="5"/>
      <dgm:spPr/>
    </dgm:pt>
    <dgm:pt modelId="{8BD76E38-6617-481C-91CC-BA3FF205D943}" type="pres">
      <dgm:prSet presAssocID="{5A9B5890-0A1C-4311-A3FA-E42DA69CA162}" presName="node" presStyleLbl="node1" presStyleIdx="1" presStyleCnt="5" custRadScaleRad="99834" custRadScaleInc="-5975">
        <dgm:presLayoutVars>
          <dgm:bulletEnabled val="1"/>
        </dgm:presLayoutVars>
      </dgm:prSet>
      <dgm:spPr/>
    </dgm:pt>
    <dgm:pt modelId="{CE5624E4-1FA9-4A19-B23B-9E0079B8BA33}" type="pres">
      <dgm:prSet presAssocID="{5A9B5890-0A1C-4311-A3FA-E42DA69CA162}" presName="spNode" presStyleCnt="0"/>
      <dgm:spPr/>
    </dgm:pt>
    <dgm:pt modelId="{E1F7B2A2-C5FD-430E-8BDC-69711074E843}" type="pres">
      <dgm:prSet presAssocID="{3B4FD9BE-6A90-4C25-9550-0954E1B2C972}" presName="sibTrans" presStyleLbl="sibTrans1D1" presStyleIdx="1" presStyleCnt="5"/>
      <dgm:spPr/>
    </dgm:pt>
    <dgm:pt modelId="{6FDBFB9B-9A60-4068-BCB0-415A314A20E0}" type="pres">
      <dgm:prSet presAssocID="{53E6E81D-CD9F-4775-82D0-9FBA4A335379}" presName="node" presStyleLbl="node1" presStyleIdx="2" presStyleCnt="5">
        <dgm:presLayoutVars>
          <dgm:bulletEnabled val="1"/>
        </dgm:presLayoutVars>
      </dgm:prSet>
      <dgm:spPr/>
    </dgm:pt>
    <dgm:pt modelId="{54137A74-B9A6-47D2-A7AF-7B7012A18001}" type="pres">
      <dgm:prSet presAssocID="{53E6E81D-CD9F-4775-82D0-9FBA4A335379}" presName="spNode" presStyleCnt="0"/>
      <dgm:spPr/>
    </dgm:pt>
    <dgm:pt modelId="{1BD1A94F-9BA4-42E0-9311-A51909B878D0}" type="pres">
      <dgm:prSet presAssocID="{F7807459-756F-4DE4-AC2A-4D1CF82BF8B0}" presName="sibTrans" presStyleLbl="sibTrans1D1" presStyleIdx="2" presStyleCnt="5"/>
      <dgm:spPr/>
    </dgm:pt>
    <dgm:pt modelId="{9ED318DE-4CFB-4EA0-A7CB-99C8E8F3B362}" type="pres">
      <dgm:prSet presAssocID="{2D6FA9AE-3609-4EA7-9732-1CFDEE890237}" presName="node" presStyleLbl="node1" presStyleIdx="3" presStyleCnt="5">
        <dgm:presLayoutVars>
          <dgm:bulletEnabled val="1"/>
        </dgm:presLayoutVars>
      </dgm:prSet>
      <dgm:spPr/>
    </dgm:pt>
    <dgm:pt modelId="{1D8561E6-13CA-4387-988E-999589C5A958}" type="pres">
      <dgm:prSet presAssocID="{2D6FA9AE-3609-4EA7-9732-1CFDEE890237}" presName="spNode" presStyleCnt="0"/>
      <dgm:spPr/>
    </dgm:pt>
    <dgm:pt modelId="{DD630A64-C466-4958-8403-4160D15A6360}" type="pres">
      <dgm:prSet presAssocID="{777B5D74-36F1-41F2-BE0A-62A17124769B}" presName="sibTrans" presStyleLbl="sibTrans1D1" presStyleIdx="3" presStyleCnt="5"/>
      <dgm:spPr/>
    </dgm:pt>
    <dgm:pt modelId="{510E3DCA-DF1C-4367-AAC7-5200A50DA787}" type="pres">
      <dgm:prSet presAssocID="{93783108-1B7D-49D2-B312-08ED77ECB64C}" presName="node" presStyleLbl="node1" presStyleIdx="4" presStyleCnt="5">
        <dgm:presLayoutVars>
          <dgm:bulletEnabled val="1"/>
        </dgm:presLayoutVars>
      </dgm:prSet>
      <dgm:spPr/>
    </dgm:pt>
    <dgm:pt modelId="{1D0272A9-E1FB-4F4E-8F7C-4BA298C2CB08}" type="pres">
      <dgm:prSet presAssocID="{93783108-1B7D-49D2-B312-08ED77ECB64C}" presName="spNode" presStyleCnt="0"/>
      <dgm:spPr/>
    </dgm:pt>
    <dgm:pt modelId="{18ED9E9B-E9CC-4F58-ABE2-4AC2A6E9902F}" type="pres">
      <dgm:prSet presAssocID="{84F9F9F2-7ACA-4F98-916B-583298F9E74B}" presName="sibTrans" presStyleLbl="sibTrans1D1" presStyleIdx="4" presStyleCnt="5"/>
      <dgm:spPr/>
    </dgm:pt>
  </dgm:ptLst>
  <dgm:cxnLst>
    <dgm:cxn modelId="{8F0B8510-5A18-4744-8354-4A14F60CC3BB}" type="presOf" srcId="{777B5D74-36F1-41F2-BE0A-62A17124769B}" destId="{DD630A64-C466-4958-8403-4160D15A6360}" srcOrd="0" destOrd="0" presId="urn:microsoft.com/office/officeart/2005/8/layout/cycle6"/>
    <dgm:cxn modelId="{9FF6B025-6429-4A09-99EA-CFF6DAAF7522}" srcId="{0CA40912-3637-47C4-A16B-695AB2B2E73C}" destId="{93783108-1B7D-49D2-B312-08ED77ECB64C}" srcOrd="4" destOrd="0" parTransId="{C761CAF8-44BE-42C4-A9D0-BBB76C53F963}" sibTransId="{84F9F9F2-7ACA-4F98-916B-583298F9E74B}"/>
    <dgm:cxn modelId="{95813032-83E0-4C71-A1AB-EF26D32604EE}" srcId="{0CA40912-3637-47C4-A16B-695AB2B2E73C}" destId="{4A72E6C5-FC14-4AC7-AE87-9D8B14447976}" srcOrd="0" destOrd="0" parTransId="{AB485E04-20A7-48B4-9B4F-4E36646FAD9D}" sibTransId="{1DE92E9E-B278-41F8-B517-ABA0B32BFB40}"/>
    <dgm:cxn modelId="{F0462D4D-DCD1-421E-B27B-1D1FEA8BBECA}" srcId="{0CA40912-3637-47C4-A16B-695AB2B2E73C}" destId="{2D6FA9AE-3609-4EA7-9732-1CFDEE890237}" srcOrd="3" destOrd="0" parTransId="{0046750E-F756-4CF0-80C0-49E5E4105B37}" sibTransId="{777B5D74-36F1-41F2-BE0A-62A17124769B}"/>
    <dgm:cxn modelId="{02DFF053-FC4D-46E7-9C8F-EF50D441C38B}" type="presOf" srcId="{93783108-1B7D-49D2-B312-08ED77ECB64C}" destId="{510E3DCA-DF1C-4367-AAC7-5200A50DA787}" srcOrd="0" destOrd="0" presId="urn:microsoft.com/office/officeart/2005/8/layout/cycle6"/>
    <dgm:cxn modelId="{D5ACB579-D7DF-45D3-BFC6-69D72D175E66}" type="presOf" srcId="{84F9F9F2-7ACA-4F98-916B-583298F9E74B}" destId="{18ED9E9B-E9CC-4F58-ABE2-4AC2A6E9902F}" srcOrd="0" destOrd="0" presId="urn:microsoft.com/office/officeart/2005/8/layout/cycle6"/>
    <dgm:cxn modelId="{0BD38D89-50F6-47DB-BFF9-E651A9739FF0}" type="presOf" srcId="{4A72E6C5-FC14-4AC7-AE87-9D8B14447976}" destId="{DE9192B6-7C88-4C02-A08D-E68866C5B586}" srcOrd="0" destOrd="0" presId="urn:microsoft.com/office/officeart/2005/8/layout/cycle6"/>
    <dgm:cxn modelId="{1684FD99-8EBE-4EA7-9AED-EB1EFF9ADC5D}" srcId="{0CA40912-3637-47C4-A16B-695AB2B2E73C}" destId="{5A9B5890-0A1C-4311-A3FA-E42DA69CA162}" srcOrd="1" destOrd="0" parTransId="{2F059E33-BC31-488F-AE4E-DCDB1142EBEB}" sibTransId="{3B4FD9BE-6A90-4C25-9550-0954E1B2C972}"/>
    <dgm:cxn modelId="{F9FED0AA-13C5-4A06-B421-1220A673F02D}" type="presOf" srcId="{2D6FA9AE-3609-4EA7-9732-1CFDEE890237}" destId="{9ED318DE-4CFB-4EA0-A7CB-99C8E8F3B362}" srcOrd="0" destOrd="0" presId="urn:microsoft.com/office/officeart/2005/8/layout/cycle6"/>
    <dgm:cxn modelId="{DC9F49AE-0010-46CC-9226-98649D1BC844}" type="presOf" srcId="{53E6E81D-CD9F-4775-82D0-9FBA4A335379}" destId="{6FDBFB9B-9A60-4068-BCB0-415A314A20E0}" srcOrd="0" destOrd="0" presId="urn:microsoft.com/office/officeart/2005/8/layout/cycle6"/>
    <dgm:cxn modelId="{91A7FCB6-33FA-4131-82C6-55B7A81F840E}" type="presOf" srcId="{5A9B5890-0A1C-4311-A3FA-E42DA69CA162}" destId="{8BD76E38-6617-481C-91CC-BA3FF205D943}" srcOrd="0" destOrd="0" presId="urn:microsoft.com/office/officeart/2005/8/layout/cycle6"/>
    <dgm:cxn modelId="{11A464D6-1479-4921-ABB8-D73392618E40}" srcId="{0CA40912-3637-47C4-A16B-695AB2B2E73C}" destId="{53E6E81D-CD9F-4775-82D0-9FBA4A335379}" srcOrd="2" destOrd="0" parTransId="{A0C431E2-A884-4FA8-874B-C92EE38F34CC}" sibTransId="{F7807459-756F-4DE4-AC2A-4D1CF82BF8B0}"/>
    <dgm:cxn modelId="{2BFA59EE-8A02-4899-A1F4-88A78CCAC857}" type="presOf" srcId="{0CA40912-3637-47C4-A16B-695AB2B2E73C}" destId="{7A175178-7AD9-403F-95A5-99C35F0983B9}" srcOrd="0" destOrd="0" presId="urn:microsoft.com/office/officeart/2005/8/layout/cycle6"/>
    <dgm:cxn modelId="{C26143F6-3FF5-4285-9282-7862FFCB560A}" type="presOf" srcId="{F7807459-756F-4DE4-AC2A-4D1CF82BF8B0}" destId="{1BD1A94F-9BA4-42E0-9311-A51909B878D0}" srcOrd="0" destOrd="0" presId="urn:microsoft.com/office/officeart/2005/8/layout/cycle6"/>
    <dgm:cxn modelId="{45ED4CF9-3EC8-4DFF-AC35-70B18BF23DFF}" type="presOf" srcId="{1DE92E9E-B278-41F8-B517-ABA0B32BFB40}" destId="{74B6D6D0-907F-4E56-B63C-F0641449B3AD}" srcOrd="0" destOrd="0" presId="urn:microsoft.com/office/officeart/2005/8/layout/cycle6"/>
    <dgm:cxn modelId="{07D423FD-0FA4-4B64-935E-44B2F0879312}" type="presOf" srcId="{3B4FD9BE-6A90-4C25-9550-0954E1B2C972}" destId="{E1F7B2A2-C5FD-430E-8BDC-69711074E843}" srcOrd="0" destOrd="0" presId="urn:microsoft.com/office/officeart/2005/8/layout/cycle6"/>
    <dgm:cxn modelId="{685017CF-9FF2-43FC-9C38-F1EFC64B1080}" type="presParOf" srcId="{7A175178-7AD9-403F-95A5-99C35F0983B9}" destId="{DE9192B6-7C88-4C02-A08D-E68866C5B586}" srcOrd="0" destOrd="0" presId="urn:microsoft.com/office/officeart/2005/8/layout/cycle6"/>
    <dgm:cxn modelId="{B694FD60-F6F1-46CD-BD57-5403C7133EF0}" type="presParOf" srcId="{7A175178-7AD9-403F-95A5-99C35F0983B9}" destId="{636DA540-A8FE-493A-AC2D-BE5CBD5D6092}" srcOrd="1" destOrd="0" presId="urn:microsoft.com/office/officeart/2005/8/layout/cycle6"/>
    <dgm:cxn modelId="{3FC2ED87-A99A-4F44-A0DA-798B63CEF396}" type="presParOf" srcId="{7A175178-7AD9-403F-95A5-99C35F0983B9}" destId="{74B6D6D0-907F-4E56-B63C-F0641449B3AD}" srcOrd="2" destOrd="0" presId="urn:microsoft.com/office/officeart/2005/8/layout/cycle6"/>
    <dgm:cxn modelId="{4992C60A-EC94-4AD1-ACE6-183C8C5D31E5}" type="presParOf" srcId="{7A175178-7AD9-403F-95A5-99C35F0983B9}" destId="{8BD76E38-6617-481C-91CC-BA3FF205D943}" srcOrd="3" destOrd="0" presId="urn:microsoft.com/office/officeart/2005/8/layout/cycle6"/>
    <dgm:cxn modelId="{BD1DBA99-6357-484D-80D0-DA3920E9EF2A}" type="presParOf" srcId="{7A175178-7AD9-403F-95A5-99C35F0983B9}" destId="{CE5624E4-1FA9-4A19-B23B-9E0079B8BA33}" srcOrd="4" destOrd="0" presId="urn:microsoft.com/office/officeart/2005/8/layout/cycle6"/>
    <dgm:cxn modelId="{D8A4E676-A7AB-4B11-B9E6-32327E822F30}" type="presParOf" srcId="{7A175178-7AD9-403F-95A5-99C35F0983B9}" destId="{E1F7B2A2-C5FD-430E-8BDC-69711074E843}" srcOrd="5" destOrd="0" presId="urn:microsoft.com/office/officeart/2005/8/layout/cycle6"/>
    <dgm:cxn modelId="{0A158666-141E-431E-9460-D4D07F5AF22D}" type="presParOf" srcId="{7A175178-7AD9-403F-95A5-99C35F0983B9}" destId="{6FDBFB9B-9A60-4068-BCB0-415A314A20E0}" srcOrd="6" destOrd="0" presId="urn:microsoft.com/office/officeart/2005/8/layout/cycle6"/>
    <dgm:cxn modelId="{B764E49B-16AC-464C-98BB-22D522B04959}" type="presParOf" srcId="{7A175178-7AD9-403F-95A5-99C35F0983B9}" destId="{54137A74-B9A6-47D2-A7AF-7B7012A18001}" srcOrd="7" destOrd="0" presId="urn:microsoft.com/office/officeart/2005/8/layout/cycle6"/>
    <dgm:cxn modelId="{0A62BE4B-8597-4A5F-9711-ED57DC7EDEA1}" type="presParOf" srcId="{7A175178-7AD9-403F-95A5-99C35F0983B9}" destId="{1BD1A94F-9BA4-42E0-9311-A51909B878D0}" srcOrd="8" destOrd="0" presId="urn:microsoft.com/office/officeart/2005/8/layout/cycle6"/>
    <dgm:cxn modelId="{85D39D16-B6F8-4385-8AAA-1F94DDD98741}" type="presParOf" srcId="{7A175178-7AD9-403F-95A5-99C35F0983B9}" destId="{9ED318DE-4CFB-4EA0-A7CB-99C8E8F3B362}" srcOrd="9" destOrd="0" presId="urn:microsoft.com/office/officeart/2005/8/layout/cycle6"/>
    <dgm:cxn modelId="{73581DC1-2C9D-4388-928C-4BB761FEE2A5}" type="presParOf" srcId="{7A175178-7AD9-403F-95A5-99C35F0983B9}" destId="{1D8561E6-13CA-4387-988E-999589C5A958}" srcOrd="10" destOrd="0" presId="urn:microsoft.com/office/officeart/2005/8/layout/cycle6"/>
    <dgm:cxn modelId="{1E7C44B7-ADB0-4010-B6A4-44B2B04268BD}" type="presParOf" srcId="{7A175178-7AD9-403F-95A5-99C35F0983B9}" destId="{DD630A64-C466-4958-8403-4160D15A6360}" srcOrd="11" destOrd="0" presId="urn:microsoft.com/office/officeart/2005/8/layout/cycle6"/>
    <dgm:cxn modelId="{6BD07053-4762-4F7F-846D-897A1FE72B66}" type="presParOf" srcId="{7A175178-7AD9-403F-95A5-99C35F0983B9}" destId="{510E3DCA-DF1C-4367-AAC7-5200A50DA787}" srcOrd="12" destOrd="0" presId="urn:microsoft.com/office/officeart/2005/8/layout/cycle6"/>
    <dgm:cxn modelId="{CFCB6D4F-7DDD-4F50-A93C-1EB0325F7F83}" type="presParOf" srcId="{7A175178-7AD9-403F-95A5-99C35F0983B9}" destId="{1D0272A9-E1FB-4F4E-8F7C-4BA298C2CB08}" srcOrd="13" destOrd="0" presId="urn:microsoft.com/office/officeart/2005/8/layout/cycle6"/>
    <dgm:cxn modelId="{85EBA98D-913E-4F9E-9DB8-120FD9FD8718}" type="presParOf" srcId="{7A175178-7AD9-403F-95A5-99C35F0983B9}" destId="{18ED9E9B-E9CC-4F58-ABE2-4AC2A6E9902F}" srcOrd="14" destOrd="0" presId="urn:microsoft.com/office/officeart/2005/8/layout/cycle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6BC221B-8B4E-4ABB-9EE7-0B388BC0C2CE}" type="doc">
      <dgm:prSet loTypeId="urn:microsoft.com/office/officeart/2005/8/layout/pList1" loCatId="list" qsTypeId="urn:microsoft.com/office/officeart/2005/8/quickstyle/simple1" qsCatId="simple" csTypeId="urn:microsoft.com/office/officeart/2005/8/colors/accent1_2" csCatId="accent1" phldr="1"/>
      <dgm:spPr/>
      <dgm:t>
        <a:bodyPr/>
        <a:lstStyle/>
        <a:p>
          <a:pPr rtl="1"/>
          <a:endParaRPr lang="he-IL"/>
        </a:p>
      </dgm:t>
    </dgm:pt>
    <dgm:pt modelId="{34ED0998-CA59-4021-9941-E2424F336E1F}">
      <dgm:prSet phldrT="[טקסט]"/>
      <dgm:spPr/>
      <dgm:t>
        <a:bodyPr/>
        <a:lstStyle/>
        <a:p>
          <a:pPr rtl="1"/>
          <a:r>
            <a:rPr lang="he-IL" dirty="0"/>
            <a:t>רשת קשרים</a:t>
          </a:r>
        </a:p>
      </dgm:t>
    </dgm:pt>
    <dgm:pt modelId="{D4B36333-D95B-4241-9B49-5548504EEB36}" type="parTrans" cxnId="{DD3A9191-8DF6-46FD-9211-EEB68B8617CE}">
      <dgm:prSet/>
      <dgm:spPr/>
      <dgm:t>
        <a:bodyPr/>
        <a:lstStyle/>
        <a:p>
          <a:pPr rtl="1"/>
          <a:endParaRPr lang="he-IL"/>
        </a:p>
      </dgm:t>
    </dgm:pt>
    <dgm:pt modelId="{6DDEBB9A-5F13-4D3A-8650-8F65C1375547}" type="sibTrans" cxnId="{DD3A9191-8DF6-46FD-9211-EEB68B8617CE}">
      <dgm:prSet/>
      <dgm:spPr/>
      <dgm:t>
        <a:bodyPr/>
        <a:lstStyle/>
        <a:p>
          <a:pPr rtl="1"/>
          <a:endParaRPr lang="he-IL"/>
        </a:p>
      </dgm:t>
    </dgm:pt>
    <dgm:pt modelId="{256DDF83-EF50-48F7-A8A7-C25A70E9E3B7}">
      <dgm:prSet phldrT="[טקסט]"/>
      <dgm:spPr/>
      <dgm:t>
        <a:bodyPr/>
        <a:lstStyle/>
        <a:p>
          <a:pPr rtl="1"/>
          <a:r>
            <a:rPr lang="he-IL" dirty="0"/>
            <a:t>מוניטין חזק</a:t>
          </a:r>
        </a:p>
      </dgm:t>
    </dgm:pt>
    <dgm:pt modelId="{783D2B88-F139-4236-9268-3E6C973FD78C}" type="parTrans" cxnId="{D3CDC4AF-D6EA-4A8D-A3EF-2726BEB416F6}">
      <dgm:prSet/>
      <dgm:spPr/>
      <dgm:t>
        <a:bodyPr/>
        <a:lstStyle/>
        <a:p>
          <a:pPr rtl="1"/>
          <a:endParaRPr lang="he-IL"/>
        </a:p>
      </dgm:t>
    </dgm:pt>
    <dgm:pt modelId="{4B4B68CA-C847-40DF-AB20-2C60E286DEBA}" type="sibTrans" cxnId="{D3CDC4AF-D6EA-4A8D-A3EF-2726BEB416F6}">
      <dgm:prSet/>
      <dgm:spPr/>
      <dgm:t>
        <a:bodyPr/>
        <a:lstStyle/>
        <a:p>
          <a:pPr rtl="1"/>
          <a:endParaRPr lang="he-IL"/>
        </a:p>
      </dgm:t>
    </dgm:pt>
    <dgm:pt modelId="{E6C82CAE-4B13-44A0-9C11-B18BDFD95D6A}">
      <dgm:prSet phldrT="[טקסט]"/>
      <dgm:spPr/>
      <dgm:t>
        <a:bodyPr/>
        <a:lstStyle/>
        <a:p>
          <a:pPr rtl="1"/>
          <a:r>
            <a:rPr lang="he-IL" dirty="0"/>
            <a:t>ניסיון רב</a:t>
          </a:r>
        </a:p>
      </dgm:t>
    </dgm:pt>
    <dgm:pt modelId="{173DD825-BD5E-487F-A5C7-233920134F10}" type="parTrans" cxnId="{A7B7A908-D184-4192-93D0-3534BFF809A2}">
      <dgm:prSet/>
      <dgm:spPr/>
      <dgm:t>
        <a:bodyPr/>
        <a:lstStyle/>
        <a:p>
          <a:pPr rtl="1"/>
          <a:endParaRPr lang="he-IL"/>
        </a:p>
      </dgm:t>
    </dgm:pt>
    <dgm:pt modelId="{802E64A2-C0E1-4B6A-883D-9C3DF87C2D34}" type="sibTrans" cxnId="{A7B7A908-D184-4192-93D0-3534BFF809A2}">
      <dgm:prSet/>
      <dgm:spPr/>
      <dgm:t>
        <a:bodyPr/>
        <a:lstStyle/>
        <a:p>
          <a:pPr rtl="1"/>
          <a:endParaRPr lang="he-IL"/>
        </a:p>
      </dgm:t>
    </dgm:pt>
    <dgm:pt modelId="{EA7116AF-710B-4DAB-9C65-7228A0223F5C}">
      <dgm:prSet phldrT="[טקסט]"/>
      <dgm:spPr/>
      <dgm:t>
        <a:bodyPr/>
        <a:lstStyle/>
        <a:p>
          <a:pPr rtl="1"/>
          <a:r>
            <a:rPr lang="he-IL" dirty="0"/>
            <a:t>צוות מקצועי</a:t>
          </a:r>
        </a:p>
      </dgm:t>
    </dgm:pt>
    <dgm:pt modelId="{E2C9DB81-A4FB-446F-9CAD-51AAF4CA4EF0}" type="parTrans" cxnId="{88B9A60F-D148-46AC-8DE1-D07BC5C9947B}">
      <dgm:prSet/>
      <dgm:spPr/>
      <dgm:t>
        <a:bodyPr/>
        <a:lstStyle/>
        <a:p>
          <a:pPr rtl="1"/>
          <a:endParaRPr lang="he-IL"/>
        </a:p>
      </dgm:t>
    </dgm:pt>
    <dgm:pt modelId="{0E1A89A8-B2BB-43EB-B606-FC7EFA89AF2F}" type="sibTrans" cxnId="{88B9A60F-D148-46AC-8DE1-D07BC5C9947B}">
      <dgm:prSet/>
      <dgm:spPr/>
      <dgm:t>
        <a:bodyPr/>
        <a:lstStyle/>
        <a:p>
          <a:pPr rtl="1"/>
          <a:endParaRPr lang="he-IL"/>
        </a:p>
      </dgm:t>
    </dgm:pt>
    <dgm:pt modelId="{A4B3FFAB-A7DE-47B9-8A41-5E70E288C272}" type="pres">
      <dgm:prSet presAssocID="{46BC221B-8B4E-4ABB-9EE7-0B388BC0C2CE}" presName="Name0" presStyleCnt="0">
        <dgm:presLayoutVars>
          <dgm:dir/>
          <dgm:resizeHandles val="exact"/>
        </dgm:presLayoutVars>
      </dgm:prSet>
      <dgm:spPr/>
    </dgm:pt>
    <dgm:pt modelId="{0F6BF6EC-B7B0-4B76-8986-2A426B598DDB}" type="pres">
      <dgm:prSet presAssocID="{34ED0998-CA59-4021-9941-E2424F336E1F}" presName="compNode" presStyleCnt="0"/>
      <dgm:spPr/>
    </dgm:pt>
    <dgm:pt modelId="{A358AE84-207D-47FC-9952-1B5DBE04051B}" type="pres">
      <dgm:prSet presAssocID="{34ED0998-CA59-4021-9941-E2424F336E1F}" presName="pict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אנשי עסקים נחים ביחד במשרד"/>
        </a:ext>
      </dgm:extLst>
    </dgm:pt>
    <dgm:pt modelId="{3C75C0EA-4C13-41F9-9FF9-40AE9A9CC2C5}" type="pres">
      <dgm:prSet presAssocID="{34ED0998-CA59-4021-9941-E2424F336E1F}" presName="textRect" presStyleLbl="revTx" presStyleIdx="0" presStyleCnt="4">
        <dgm:presLayoutVars>
          <dgm:bulletEnabled val="1"/>
        </dgm:presLayoutVars>
      </dgm:prSet>
      <dgm:spPr/>
    </dgm:pt>
    <dgm:pt modelId="{2125FE26-1479-4A75-B781-7E697B09E139}" type="pres">
      <dgm:prSet presAssocID="{6DDEBB9A-5F13-4D3A-8650-8F65C1375547}" presName="sibTrans" presStyleLbl="sibTrans2D1" presStyleIdx="0" presStyleCnt="0"/>
      <dgm:spPr/>
    </dgm:pt>
    <dgm:pt modelId="{EE8B546B-E426-425A-9B3A-6D6FBF67DCF4}" type="pres">
      <dgm:prSet presAssocID="{256DDF83-EF50-48F7-A8A7-C25A70E9E3B7}" presName="compNode" presStyleCnt="0"/>
      <dgm:spPr/>
    </dgm:pt>
    <dgm:pt modelId="{E04A55A4-9CB8-48F5-8A80-E563A21FE025}" type="pres">
      <dgm:prSet presAssocID="{256DDF83-EF50-48F7-A8A7-C25A70E9E3B7}" presName="pictRect" presStyleLbl="nod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רופא לוחצת ידיים עם מטופלת בצורה ידידותית"/>
        </a:ext>
      </dgm:extLst>
    </dgm:pt>
    <dgm:pt modelId="{4A899539-5B45-41BC-A808-291AE004CA52}" type="pres">
      <dgm:prSet presAssocID="{256DDF83-EF50-48F7-A8A7-C25A70E9E3B7}" presName="textRect" presStyleLbl="revTx" presStyleIdx="1" presStyleCnt="4">
        <dgm:presLayoutVars>
          <dgm:bulletEnabled val="1"/>
        </dgm:presLayoutVars>
      </dgm:prSet>
      <dgm:spPr/>
    </dgm:pt>
    <dgm:pt modelId="{1DAB571B-1118-417B-87E0-ED2AEF83568E}" type="pres">
      <dgm:prSet presAssocID="{4B4B68CA-C847-40DF-AB20-2C60E286DEBA}" presName="sibTrans" presStyleLbl="sibTrans2D1" presStyleIdx="0" presStyleCnt="0"/>
      <dgm:spPr/>
    </dgm:pt>
    <dgm:pt modelId="{C5F8A9F9-D58A-4118-A849-5F8D21E6BD43}" type="pres">
      <dgm:prSet presAssocID="{E6C82CAE-4B13-44A0-9C11-B18BDFD95D6A}" presName="compNode" presStyleCnt="0"/>
      <dgm:spPr/>
    </dgm:pt>
    <dgm:pt modelId="{57463712-C763-41C8-854F-06589998AF47}" type="pres">
      <dgm:prSet presAssocID="{E6C82CAE-4B13-44A0-9C11-B18BDFD95D6A}" presName="pict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עיפרון במחברת"/>
        </a:ext>
      </dgm:extLst>
    </dgm:pt>
    <dgm:pt modelId="{32C666D0-A105-4C05-B05C-C47C1F2822E4}" type="pres">
      <dgm:prSet presAssocID="{E6C82CAE-4B13-44A0-9C11-B18BDFD95D6A}" presName="textRect" presStyleLbl="revTx" presStyleIdx="2" presStyleCnt="4">
        <dgm:presLayoutVars>
          <dgm:bulletEnabled val="1"/>
        </dgm:presLayoutVars>
      </dgm:prSet>
      <dgm:spPr/>
    </dgm:pt>
    <dgm:pt modelId="{D41F2310-FFD4-4968-82EB-5B52B04CFDCF}" type="pres">
      <dgm:prSet presAssocID="{802E64A2-C0E1-4B6A-883D-9C3DF87C2D34}" presName="sibTrans" presStyleLbl="sibTrans2D1" presStyleIdx="0" presStyleCnt="0"/>
      <dgm:spPr/>
    </dgm:pt>
    <dgm:pt modelId="{6B5867F6-E617-4FB0-BF45-52FCC3D16EFF}" type="pres">
      <dgm:prSet presAssocID="{EA7116AF-710B-4DAB-9C65-7228A0223F5C}" presName="compNode" presStyleCnt="0"/>
      <dgm:spPr/>
    </dgm:pt>
    <dgm:pt modelId="{6D55597B-02BF-4F2C-9AC0-0EA216AA5CE8}" type="pres">
      <dgm:prSet presAssocID="{EA7116AF-710B-4DAB-9C65-7228A0223F5C}" presName="pictRect" presStyleLbl="nod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אנשים עם Tablet"/>
        </a:ext>
      </dgm:extLst>
    </dgm:pt>
    <dgm:pt modelId="{37B4D41F-618C-4041-90E5-6505A9D51FBC}" type="pres">
      <dgm:prSet presAssocID="{EA7116AF-710B-4DAB-9C65-7228A0223F5C}" presName="textRect" presStyleLbl="revTx" presStyleIdx="3" presStyleCnt="4">
        <dgm:presLayoutVars>
          <dgm:bulletEnabled val="1"/>
        </dgm:presLayoutVars>
      </dgm:prSet>
      <dgm:spPr/>
    </dgm:pt>
  </dgm:ptLst>
  <dgm:cxnLst>
    <dgm:cxn modelId="{A7B7A908-D184-4192-93D0-3534BFF809A2}" srcId="{46BC221B-8B4E-4ABB-9EE7-0B388BC0C2CE}" destId="{E6C82CAE-4B13-44A0-9C11-B18BDFD95D6A}" srcOrd="2" destOrd="0" parTransId="{173DD825-BD5E-487F-A5C7-233920134F10}" sibTransId="{802E64A2-C0E1-4B6A-883D-9C3DF87C2D34}"/>
    <dgm:cxn modelId="{C673960E-AD6F-4DCB-B672-25A2D469CDE9}" type="presOf" srcId="{E6C82CAE-4B13-44A0-9C11-B18BDFD95D6A}" destId="{32C666D0-A105-4C05-B05C-C47C1F2822E4}" srcOrd="0" destOrd="0" presId="urn:microsoft.com/office/officeart/2005/8/layout/pList1"/>
    <dgm:cxn modelId="{88B9A60F-D148-46AC-8DE1-D07BC5C9947B}" srcId="{46BC221B-8B4E-4ABB-9EE7-0B388BC0C2CE}" destId="{EA7116AF-710B-4DAB-9C65-7228A0223F5C}" srcOrd="3" destOrd="0" parTransId="{E2C9DB81-A4FB-446F-9CAD-51AAF4CA4EF0}" sibTransId="{0E1A89A8-B2BB-43EB-B606-FC7EFA89AF2F}"/>
    <dgm:cxn modelId="{F2006B82-B204-403D-A18F-868E7A426B14}" type="presOf" srcId="{256DDF83-EF50-48F7-A8A7-C25A70E9E3B7}" destId="{4A899539-5B45-41BC-A808-291AE004CA52}" srcOrd="0" destOrd="0" presId="urn:microsoft.com/office/officeart/2005/8/layout/pList1"/>
    <dgm:cxn modelId="{1A405A8F-FA63-4EB8-AA7B-E1D7B8CAECB4}" type="presOf" srcId="{EA7116AF-710B-4DAB-9C65-7228A0223F5C}" destId="{37B4D41F-618C-4041-90E5-6505A9D51FBC}" srcOrd="0" destOrd="0" presId="urn:microsoft.com/office/officeart/2005/8/layout/pList1"/>
    <dgm:cxn modelId="{DD3A9191-8DF6-46FD-9211-EEB68B8617CE}" srcId="{46BC221B-8B4E-4ABB-9EE7-0B388BC0C2CE}" destId="{34ED0998-CA59-4021-9941-E2424F336E1F}" srcOrd="0" destOrd="0" parTransId="{D4B36333-D95B-4241-9B49-5548504EEB36}" sibTransId="{6DDEBB9A-5F13-4D3A-8650-8F65C1375547}"/>
    <dgm:cxn modelId="{CB360C9A-C05E-4426-8787-107C240E7373}" type="presOf" srcId="{34ED0998-CA59-4021-9941-E2424F336E1F}" destId="{3C75C0EA-4C13-41F9-9FF9-40AE9A9CC2C5}" srcOrd="0" destOrd="0" presId="urn:microsoft.com/office/officeart/2005/8/layout/pList1"/>
    <dgm:cxn modelId="{39BB08AE-839E-403A-BBE2-92DF9CAC43EE}" type="presOf" srcId="{802E64A2-C0E1-4B6A-883D-9C3DF87C2D34}" destId="{D41F2310-FFD4-4968-82EB-5B52B04CFDCF}" srcOrd="0" destOrd="0" presId="urn:microsoft.com/office/officeart/2005/8/layout/pList1"/>
    <dgm:cxn modelId="{D3CDC4AF-D6EA-4A8D-A3EF-2726BEB416F6}" srcId="{46BC221B-8B4E-4ABB-9EE7-0B388BC0C2CE}" destId="{256DDF83-EF50-48F7-A8A7-C25A70E9E3B7}" srcOrd="1" destOrd="0" parTransId="{783D2B88-F139-4236-9268-3E6C973FD78C}" sibTransId="{4B4B68CA-C847-40DF-AB20-2C60E286DEBA}"/>
    <dgm:cxn modelId="{22B840CB-81E0-4E12-827D-2C6CCABFB01E}" type="presOf" srcId="{46BC221B-8B4E-4ABB-9EE7-0B388BC0C2CE}" destId="{A4B3FFAB-A7DE-47B9-8A41-5E70E288C272}" srcOrd="0" destOrd="0" presId="urn:microsoft.com/office/officeart/2005/8/layout/pList1"/>
    <dgm:cxn modelId="{B76ADBE4-07FC-441F-9F79-9A621A3BAEB4}" type="presOf" srcId="{6DDEBB9A-5F13-4D3A-8650-8F65C1375547}" destId="{2125FE26-1479-4A75-B781-7E697B09E139}" srcOrd="0" destOrd="0" presId="urn:microsoft.com/office/officeart/2005/8/layout/pList1"/>
    <dgm:cxn modelId="{9A8260F2-0709-4ECF-A2FA-B7225A1AEA2A}" type="presOf" srcId="{4B4B68CA-C847-40DF-AB20-2C60E286DEBA}" destId="{1DAB571B-1118-417B-87E0-ED2AEF83568E}" srcOrd="0" destOrd="0" presId="urn:microsoft.com/office/officeart/2005/8/layout/pList1"/>
    <dgm:cxn modelId="{3B84A1BF-81B9-41E4-B54D-0E1AB62AD26B}" type="presParOf" srcId="{A4B3FFAB-A7DE-47B9-8A41-5E70E288C272}" destId="{0F6BF6EC-B7B0-4B76-8986-2A426B598DDB}" srcOrd="0" destOrd="0" presId="urn:microsoft.com/office/officeart/2005/8/layout/pList1"/>
    <dgm:cxn modelId="{AE935209-0CDD-4130-ACC8-02469F45189C}" type="presParOf" srcId="{0F6BF6EC-B7B0-4B76-8986-2A426B598DDB}" destId="{A358AE84-207D-47FC-9952-1B5DBE04051B}" srcOrd="0" destOrd="0" presId="urn:microsoft.com/office/officeart/2005/8/layout/pList1"/>
    <dgm:cxn modelId="{D8135141-964F-4A45-90A5-C99EDC8A136B}" type="presParOf" srcId="{0F6BF6EC-B7B0-4B76-8986-2A426B598DDB}" destId="{3C75C0EA-4C13-41F9-9FF9-40AE9A9CC2C5}" srcOrd="1" destOrd="0" presId="urn:microsoft.com/office/officeart/2005/8/layout/pList1"/>
    <dgm:cxn modelId="{49A0510A-E7A1-4434-9C77-73D437BED04F}" type="presParOf" srcId="{A4B3FFAB-A7DE-47B9-8A41-5E70E288C272}" destId="{2125FE26-1479-4A75-B781-7E697B09E139}" srcOrd="1" destOrd="0" presId="urn:microsoft.com/office/officeart/2005/8/layout/pList1"/>
    <dgm:cxn modelId="{3AC1B282-B0FD-4769-BD39-E27F4EAF1309}" type="presParOf" srcId="{A4B3FFAB-A7DE-47B9-8A41-5E70E288C272}" destId="{EE8B546B-E426-425A-9B3A-6D6FBF67DCF4}" srcOrd="2" destOrd="0" presId="urn:microsoft.com/office/officeart/2005/8/layout/pList1"/>
    <dgm:cxn modelId="{AB1FD195-D7A7-4227-BD0D-8BAEBB9D61FC}" type="presParOf" srcId="{EE8B546B-E426-425A-9B3A-6D6FBF67DCF4}" destId="{E04A55A4-9CB8-48F5-8A80-E563A21FE025}" srcOrd="0" destOrd="0" presId="urn:microsoft.com/office/officeart/2005/8/layout/pList1"/>
    <dgm:cxn modelId="{9A9A0698-5946-4C12-A163-0FFD40FE3937}" type="presParOf" srcId="{EE8B546B-E426-425A-9B3A-6D6FBF67DCF4}" destId="{4A899539-5B45-41BC-A808-291AE004CA52}" srcOrd="1" destOrd="0" presId="urn:microsoft.com/office/officeart/2005/8/layout/pList1"/>
    <dgm:cxn modelId="{8F37E6D2-D570-49DB-86BE-42D92B88205B}" type="presParOf" srcId="{A4B3FFAB-A7DE-47B9-8A41-5E70E288C272}" destId="{1DAB571B-1118-417B-87E0-ED2AEF83568E}" srcOrd="3" destOrd="0" presId="urn:microsoft.com/office/officeart/2005/8/layout/pList1"/>
    <dgm:cxn modelId="{7CB35DA8-87A0-43DF-9720-0AB3C7834F5F}" type="presParOf" srcId="{A4B3FFAB-A7DE-47B9-8A41-5E70E288C272}" destId="{C5F8A9F9-D58A-4118-A849-5F8D21E6BD43}" srcOrd="4" destOrd="0" presId="urn:microsoft.com/office/officeart/2005/8/layout/pList1"/>
    <dgm:cxn modelId="{84490E0C-933D-4C4C-9C27-5054CB5A89F0}" type="presParOf" srcId="{C5F8A9F9-D58A-4118-A849-5F8D21E6BD43}" destId="{57463712-C763-41C8-854F-06589998AF47}" srcOrd="0" destOrd="0" presId="urn:microsoft.com/office/officeart/2005/8/layout/pList1"/>
    <dgm:cxn modelId="{0438C9CD-545F-4F2B-96D8-2D900FEF7F3F}" type="presParOf" srcId="{C5F8A9F9-D58A-4118-A849-5F8D21E6BD43}" destId="{32C666D0-A105-4C05-B05C-C47C1F2822E4}" srcOrd="1" destOrd="0" presId="urn:microsoft.com/office/officeart/2005/8/layout/pList1"/>
    <dgm:cxn modelId="{EE85F1F4-B83F-442C-BADC-483604BDB5E3}" type="presParOf" srcId="{A4B3FFAB-A7DE-47B9-8A41-5E70E288C272}" destId="{D41F2310-FFD4-4968-82EB-5B52B04CFDCF}" srcOrd="5" destOrd="0" presId="urn:microsoft.com/office/officeart/2005/8/layout/pList1"/>
    <dgm:cxn modelId="{79E002BC-4FF1-4A26-B17B-E0740E5C4475}" type="presParOf" srcId="{A4B3FFAB-A7DE-47B9-8A41-5E70E288C272}" destId="{6B5867F6-E617-4FB0-BF45-52FCC3D16EFF}" srcOrd="6" destOrd="0" presId="urn:microsoft.com/office/officeart/2005/8/layout/pList1"/>
    <dgm:cxn modelId="{FD5874DC-09E4-4578-B093-77653DAC6E3F}" type="presParOf" srcId="{6B5867F6-E617-4FB0-BF45-52FCC3D16EFF}" destId="{6D55597B-02BF-4F2C-9AC0-0EA216AA5CE8}" srcOrd="0" destOrd="0" presId="urn:microsoft.com/office/officeart/2005/8/layout/pList1"/>
    <dgm:cxn modelId="{711AE743-9C91-4D0A-844B-426FD0E824D0}" type="presParOf" srcId="{6B5867F6-E617-4FB0-BF45-52FCC3D16EFF}" destId="{37B4D41F-618C-4041-90E5-6505A9D51FBC}" srcOrd="1" destOrd="0" presId="urn:microsoft.com/office/officeart/2005/8/layout/p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A53C792-1C4C-429C-8560-131C10DFCEF3}" type="doc">
      <dgm:prSet loTypeId="urn:microsoft.com/office/officeart/2005/8/layout/chevron2" loCatId="list" qsTypeId="urn:microsoft.com/office/officeart/2005/8/quickstyle/simple1" qsCatId="simple" csTypeId="urn:microsoft.com/office/officeart/2005/8/colors/accent1_2" csCatId="accent1" phldr="1"/>
      <dgm:spPr/>
      <dgm:t>
        <a:bodyPr/>
        <a:lstStyle/>
        <a:p>
          <a:pPr rtl="1"/>
          <a:endParaRPr lang="he-IL"/>
        </a:p>
      </dgm:t>
    </dgm:pt>
    <dgm:pt modelId="{28D97CA6-E8C9-4D4D-93D7-F0A6602035B5}">
      <dgm:prSet phldrT="[טקסט]"/>
      <dgm:spPr/>
      <dgm:t>
        <a:bodyPr/>
        <a:lstStyle/>
        <a:p>
          <a:pPr rtl="1"/>
          <a:r>
            <a:rPr lang="he-IL" dirty="0"/>
            <a:t>ערך</a:t>
          </a:r>
        </a:p>
      </dgm:t>
    </dgm:pt>
    <dgm:pt modelId="{9C132FB0-C40B-4CB0-9397-ACAD16E53F1A}" type="parTrans" cxnId="{C2FAA1BF-1677-4DCC-BAFE-C0B980047807}">
      <dgm:prSet/>
      <dgm:spPr/>
      <dgm:t>
        <a:bodyPr/>
        <a:lstStyle/>
        <a:p>
          <a:pPr rtl="1"/>
          <a:endParaRPr lang="he-IL"/>
        </a:p>
      </dgm:t>
    </dgm:pt>
    <dgm:pt modelId="{7E97B555-47D1-49B3-B3C1-38FDECCF31E7}" type="sibTrans" cxnId="{C2FAA1BF-1677-4DCC-BAFE-C0B980047807}">
      <dgm:prSet/>
      <dgm:spPr/>
      <dgm:t>
        <a:bodyPr/>
        <a:lstStyle/>
        <a:p>
          <a:pPr rtl="1"/>
          <a:endParaRPr lang="he-IL"/>
        </a:p>
      </dgm:t>
    </dgm:pt>
    <dgm:pt modelId="{95015E99-032B-4C3D-8A48-23BC16ABF0CA}">
      <dgm:prSet phldrT="[טקסט]"/>
      <dgm:spPr/>
      <dgm:t>
        <a:bodyPr/>
        <a:lstStyle/>
        <a:p>
          <a:pPr rtl="1"/>
          <a:endParaRPr lang="he-IL" sz="1400" dirty="0"/>
        </a:p>
      </dgm:t>
    </dgm:pt>
    <dgm:pt modelId="{42E26BBA-55BD-4CD0-9D8E-558960764865}" type="parTrans" cxnId="{009EB59F-6A9E-4406-BE26-2CF3EF7090C2}">
      <dgm:prSet/>
      <dgm:spPr/>
      <dgm:t>
        <a:bodyPr/>
        <a:lstStyle/>
        <a:p>
          <a:pPr rtl="1"/>
          <a:endParaRPr lang="he-IL"/>
        </a:p>
      </dgm:t>
    </dgm:pt>
    <dgm:pt modelId="{AF6DCF08-6540-4951-81F9-2CE3937010D8}" type="sibTrans" cxnId="{009EB59F-6A9E-4406-BE26-2CF3EF7090C2}">
      <dgm:prSet/>
      <dgm:spPr/>
      <dgm:t>
        <a:bodyPr/>
        <a:lstStyle/>
        <a:p>
          <a:pPr rtl="1"/>
          <a:endParaRPr lang="he-IL"/>
        </a:p>
      </dgm:t>
    </dgm:pt>
    <dgm:pt modelId="{C031BE85-04B2-4280-8B73-115D9E0A7DE3}">
      <dgm:prSet phldrT="[טקסט]"/>
      <dgm:spPr/>
      <dgm:t>
        <a:bodyPr/>
        <a:lstStyle/>
        <a:p>
          <a:pPr rtl="1"/>
          <a:r>
            <a:rPr lang="he-IL" dirty="0"/>
            <a:t>יכולת לחיקוי</a:t>
          </a:r>
        </a:p>
      </dgm:t>
    </dgm:pt>
    <dgm:pt modelId="{23DFE851-8907-4C3F-B578-00A5AC499EFE}" type="parTrans" cxnId="{01DB7564-1AE4-46F3-B22C-A5E57CFD4725}">
      <dgm:prSet/>
      <dgm:spPr/>
      <dgm:t>
        <a:bodyPr/>
        <a:lstStyle/>
        <a:p>
          <a:pPr rtl="1"/>
          <a:endParaRPr lang="he-IL"/>
        </a:p>
      </dgm:t>
    </dgm:pt>
    <dgm:pt modelId="{4BAC9CA0-2777-4609-8E21-E2377ACEBFD8}" type="sibTrans" cxnId="{01DB7564-1AE4-46F3-B22C-A5E57CFD4725}">
      <dgm:prSet/>
      <dgm:spPr/>
      <dgm:t>
        <a:bodyPr/>
        <a:lstStyle/>
        <a:p>
          <a:pPr rtl="1"/>
          <a:endParaRPr lang="he-IL"/>
        </a:p>
      </dgm:t>
    </dgm:pt>
    <dgm:pt modelId="{781DA240-0A87-4B17-9313-D75FDD10F0AC}">
      <dgm:prSet phldrT="[טקסט]"/>
      <dgm:spPr/>
      <dgm:t>
        <a:bodyPr/>
        <a:lstStyle/>
        <a:p>
          <a:pPr rtl="1"/>
          <a:r>
            <a:rPr lang="he-IL" dirty="0"/>
            <a:t>ארגון</a:t>
          </a:r>
        </a:p>
      </dgm:t>
    </dgm:pt>
    <dgm:pt modelId="{82E1A7F0-C1D6-4D79-918F-9F5179EAD11A}" type="parTrans" cxnId="{45F86CC9-281A-48FF-89DC-443D17C9B2EC}">
      <dgm:prSet/>
      <dgm:spPr/>
      <dgm:t>
        <a:bodyPr/>
        <a:lstStyle/>
        <a:p>
          <a:pPr rtl="1"/>
          <a:endParaRPr lang="he-IL"/>
        </a:p>
      </dgm:t>
    </dgm:pt>
    <dgm:pt modelId="{D88E9BCD-71C9-4E64-8DC8-066616CBD09C}" type="sibTrans" cxnId="{45F86CC9-281A-48FF-89DC-443D17C9B2EC}">
      <dgm:prSet/>
      <dgm:spPr/>
      <dgm:t>
        <a:bodyPr/>
        <a:lstStyle/>
        <a:p>
          <a:pPr rtl="1"/>
          <a:endParaRPr lang="he-IL"/>
        </a:p>
      </dgm:t>
    </dgm:pt>
    <dgm:pt modelId="{82C56511-91D9-491A-B708-89B9EABFA24E}">
      <dgm:prSet phldrT="[טקסט]"/>
      <dgm:spPr/>
      <dgm:t>
        <a:bodyPr/>
        <a:lstStyle/>
        <a:p>
          <a:pPr rtl="1"/>
          <a:r>
            <a:rPr lang="he-IL" dirty="0"/>
            <a:t>חברת </a:t>
          </a:r>
          <a:r>
            <a:rPr lang="he-IL" dirty="0" err="1"/>
            <a:t>עדליא</a:t>
          </a:r>
          <a:r>
            <a:rPr lang="he-IL" dirty="0"/>
            <a:t> מבינה את החשיבות של ארגון הידע והניסיון שלה ומשקיעה במשאבים כדי לוודא שהניסיון שנצבר ישמש את הצוות בצורה האופטימלית</a:t>
          </a:r>
        </a:p>
      </dgm:t>
    </dgm:pt>
    <dgm:pt modelId="{0D15B53D-7F58-4116-9227-90BEC569C855}" type="parTrans" cxnId="{ABDF91E4-86EB-48FC-A882-C0BE651D990A}">
      <dgm:prSet/>
      <dgm:spPr/>
      <dgm:t>
        <a:bodyPr/>
        <a:lstStyle/>
        <a:p>
          <a:pPr rtl="1"/>
          <a:endParaRPr lang="he-IL"/>
        </a:p>
      </dgm:t>
    </dgm:pt>
    <dgm:pt modelId="{F3DA3B51-756C-4E2D-9214-961052DE062B}" type="sibTrans" cxnId="{ABDF91E4-86EB-48FC-A882-C0BE651D990A}">
      <dgm:prSet/>
      <dgm:spPr/>
      <dgm:t>
        <a:bodyPr/>
        <a:lstStyle/>
        <a:p>
          <a:pPr rtl="1"/>
          <a:endParaRPr lang="he-IL"/>
        </a:p>
      </dgm:t>
    </dgm:pt>
    <dgm:pt modelId="{E1380F84-FD41-4367-A9E3-22EFAD76655B}">
      <dgm:prSet phldrT="[טקסט]"/>
      <dgm:spPr/>
      <dgm:t>
        <a:bodyPr/>
        <a:lstStyle/>
        <a:p>
          <a:pPr rtl="1"/>
          <a:r>
            <a:rPr lang="he-IL" dirty="0"/>
            <a:t>נדירות</a:t>
          </a:r>
        </a:p>
      </dgm:t>
    </dgm:pt>
    <dgm:pt modelId="{DBE30F2D-B3FF-4A8A-9606-98CEA7948F86}" type="parTrans" cxnId="{4512E9DA-FE41-4190-8853-136307AF5F03}">
      <dgm:prSet/>
      <dgm:spPr/>
      <dgm:t>
        <a:bodyPr/>
        <a:lstStyle/>
        <a:p>
          <a:pPr rtl="1"/>
          <a:endParaRPr lang="he-IL"/>
        </a:p>
      </dgm:t>
    </dgm:pt>
    <dgm:pt modelId="{2FCCC62D-DDFF-4E50-99D3-D7A948DB2C02}" type="sibTrans" cxnId="{4512E9DA-FE41-4190-8853-136307AF5F03}">
      <dgm:prSet/>
      <dgm:spPr/>
      <dgm:t>
        <a:bodyPr/>
        <a:lstStyle/>
        <a:p>
          <a:pPr rtl="1"/>
          <a:endParaRPr lang="he-IL"/>
        </a:p>
      </dgm:t>
    </dgm:pt>
    <dgm:pt modelId="{5700A4B7-5418-4801-A1A8-575EE9D006BF}">
      <dgm:prSet custT="1"/>
      <dgm:spPr/>
      <dgm:t>
        <a:bodyPr/>
        <a:lstStyle/>
        <a:p>
          <a:pPr rtl="1"/>
          <a:r>
            <a:rPr lang="he-IL" sz="2000" dirty="0"/>
            <a:t>מאפשר לחברה לספק שירותים ברמה גבוהה יותר. הידע שנצבר בפרויקטים שונים מאפשר לה להבין את צורכי הלקוחות בצורה מעמיקה.</a:t>
          </a:r>
        </a:p>
      </dgm:t>
    </dgm:pt>
    <dgm:pt modelId="{E2D6CA3F-C438-47E4-A540-4940F6B3A2A3}" type="parTrans" cxnId="{C07D6DDF-E485-4977-9BBF-44F7985272E9}">
      <dgm:prSet/>
      <dgm:spPr/>
      <dgm:t>
        <a:bodyPr/>
        <a:lstStyle/>
        <a:p>
          <a:pPr rtl="1"/>
          <a:endParaRPr lang="he-IL"/>
        </a:p>
      </dgm:t>
    </dgm:pt>
    <dgm:pt modelId="{11C45899-DB9E-4029-A872-91057AC04273}" type="sibTrans" cxnId="{C07D6DDF-E485-4977-9BBF-44F7985272E9}">
      <dgm:prSet/>
      <dgm:spPr/>
      <dgm:t>
        <a:bodyPr/>
        <a:lstStyle/>
        <a:p>
          <a:pPr rtl="1"/>
          <a:endParaRPr lang="he-IL"/>
        </a:p>
      </dgm:t>
    </dgm:pt>
    <dgm:pt modelId="{4EDA579C-22DC-4E63-AB06-C68CCD111FCD}">
      <dgm:prSet/>
      <dgm:spPr/>
      <dgm:t>
        <a:bodyPr/>
        <a:lstStyle/>
        <a:p>
          <a:pPr rtl="1"/>
          <a:r>
            <a:rPr lang="he-IL" dirty="0"/>
            <a:t>הניסיון שצברה </a:t>
          </a:r>
          <a:r>
            <a:rPr lang="he-IL" dirty="0" err="1"/>
            <a:t>עדליא</a:t>
          </a:r>
          <a:r>
            <a:rPr lang="he-IL" dirty="0"/>
            <a:t> אינו נפוץ בקרב חברות ייעוץ </a:t>
          </a:r>
          <a:r>
            <a:rPr lang="he-IL" dirty="0" err="1"/>
            <a:t>אחרות.,אם</a:t>
          </a:r>
          <a:r>
            <a:rPr lang="he-IL" dirty="0"/>
            <a:t> זאת חברות רבות יכולת להתחרות על הניסון שקיים גם להם.</a:t>
          </a:r>
        </a:p>
      </dgm:t>
    </dgm:pt>
    <dgm:pt modelId="{65F9D77B-BE36-4C5F-8A64-F757251FB1E3}" type="parTrans" cxnId="{AF63D1F7-5E58-44B9-A299-42A3684501A5}">
      <dgm:prSet/>
      <dgm:spPr/>
      <dgm:t>
        <a:bodyPr/>
        <a:lstStyle/>
        <a:p>
          <a:pPr rtl="1"/>
          <a:endParaRPr lang="he-IL"/>
        </a:p>
      </dgm:t>
    </dgm:pt>
    <dgm:pt modelId="{B6071A6E-323A-4BB5-8B39-A61D586ADE41}" type="sibTrans" cxnId="{AF63D1F7-5E58-44B9-A299-42A3684501A5}">
      <dgm:prSet/>
      <dgm:spPr/>
      <dgm:t>
        <a:bodyPr/>
        <a:lstStyle/>
        <a:p>
          <a:pPr rtl="1"/>
          <a:endParaRPr lang="he-IL"/>
        </a:p>
      </dgm:t>
    </dgm:pt>
    <dgm:pt modelId="{9D2080AE-593A-498E-B3F0-920BF95CAB0C}">
      <dgm:prSet/>
      <dgm:spPr/>
      <dgm:t>
        <a:bodyPr/>
        <a:lstStyle/>
        <a:p>
          <a:pPr rtl="1"/>
          <a:r>
            <a:rPr lang="he-IL" dirty="0"/>
            <a:t>הניסיון של </a:t>
          </a:r>
          <a:r>
            <a:rPr lang="he-IL" dirty="0" err="1"/>
            <a:t>עדליא</a:t>
          </a:r>
          <a:r>
            <a:rPr lang="he-IL" dirty="0"/>
            <a:t> הוא משאב שקשה לחקות. אף על פי שחברות אחרות עשויות לנסות ללמוד מניסיונם של לקוחות, לא ניתן פשוט להעתיק את הלמידה שנצברה על פני השנים.</a:t>
          </a:r>
        </a:p>
      </dgm:t>
    </dgm:pt>
    <dgm:pt modelId="{1B0C2E56-550E-49C4-AAB8-098F8FB58CE9}" type="parTrans" cxnId="{8148B73C-AD79-4B2A-BA8D-1AB6DEDAF447}">
      <dgm:prSet/>
      <dgm:spPr/>
      <dgm:t>
        <a:bodyPr/>
        <a:lstStyle/>
        <a:p>
          <a:pPr rtl="1"/>
          <a:endParaRPr lang="he-IL"/>
        </a:p>
      </dgm:t>
    </dgm:pt>
    <dgm:pt modelId="{D0E14DC6-D746-4709-AB98-DA5AB490B5AB}" type="sibTrans" cxnId="{8148B73C-AD79-4B2A-BA8D-1AB6DEDAF447}">
      <dgm:prSet/>
      <dgm:spPr/>
      <dgm:t>
        <a:bodyPr/>
        <a:lstStyle/>
        <a:p>
          <a:pPr rtl="1"/>
          <a:endParaRPr lang="he-IL"/>
        </a:p>
      </dgm:t>
    </dgm:pt>
    <dgm:pt modelId="{DDC8876E-592C-4A48-8B30-D585DA9CE4EC}" type="pres">
      <dgm:prSet presAssocID="{4A53C792-1C4C-429C-8560-131C10DFCEF3}" presName="linearFlow" presStyleCnt="0">
        <dgm:presLayoutVars>
          <dgm:dir/>
          <dgm:animLvl val="lvl"/>
          <dgm:resizeHandles val="exact"/>
        </dgm:presLayoutVars>
      </dgm:prSet>
      <dgm:spPr/>
    </dgm:pt>
    <dgm:pt modelId="{985DACD9-67A8-4288-A921-A9854967CCD2}" type="pres">
      <dgm:prSet presAssocID="{28D97CA6-E8C9-4D4D-93D7-F0A6602035B5}" presName="composite" presStyleCnt="0"/>
      <dgm:spPr/>
    </dgm:pt>
    <dgm:pt modelId="{5A43C91B-2E4F-45FD-B003-78E76A1FD13E}" type="pres">
      <dgm:prSet presAssocID="{28D97CA6-E8C9-4D4D-93D7-F0A6602035B5}" presName="parentText" presStyleLbl="alignNode1" presStyleIdx="0" presStyleCnt="4">
        <dgm:presLayoutVars>
          <dgm:chMax val="1"/>
          <dgm:bulletEnabled val="1"/>
        </dgm:presLayoutVars>
      </dgm:prSet>
      <dgm:spPr/>
    </dgm:pt>
    <dgm:pt modelId="{F13F0F60-EAA6-4D5A-8C11-2BCBE9DFF83E}" type="pres">
      <dgm:prSet presAssocID="{28D97CA6-E8C9-4D4D-93D7-F0A6602035B5}" presName="descendantText" presStyleLbl="alignAcc1" presStyleIdx="0" presStyleCnt="4">
        <dgm:presLayoutVars>
          <dgm:bulletEnabled val="1"/>
        </dgm:presLayoutVars>
      </dgm:prSet>
      <dgm:spPr/>
    </dgm:pt>
    <dgm:pt modelId="{94E54F6E-45DF-4EBB-9E3B-38B299B6EED4}" type="pres">
      <dgm:prSet presAssocID="{7E97B555-47D1-49B3-B3C1-38FDECCF31E7}" presName="sp" presStyleCnt="0"/>
      <dgm:spPr/>
    </dgm:pt>
    <dgm:pt modelId="{A0235178-1DC1-4E72-B092-3C55FE3CC95D}" type="pres">
      <dgm:prSet presAssocID="{E1380F84-FD41-4367-A9E3-22EFAD76655B}" presName="composite" presStyleCnt="0"/>
      <dgm:spPr/>
    </dgm:pt>
    <dgm:pt modelId="{810AE2A9-0E99-4AF5-AED5-668B2A9AF736}" type="pres">
      <dgm:prSet presAssocID="{E1380F84-FD41-4367-A9E3-22EFAD76655B}" presName="parentText" presStyleLbl="alignNode1" presStyleIdx="1" presStyleCnt="4">
        <dgm:presLayoutVars>
          <dgm:chMax val="1"/>
          <dgm:bulletEnabled val="1"/>
        </dgm:presLayoutVars>
      </dgm:prSet>
      <dgm:spPr/>
    </dgm:pt>
    <dgm:pt modelId="{E6E66C12-CFC7-4265-959F-A9F009306392}" type="pres">
      <dgm:prSet presAssocID="{E1380F84-FD41-4367-A9E3-22EFAD76655B}" presName="descendantText" presStyleLbl="alignAcc1" presStyleIdx="1" presStyleCnt="4">
        <dgm:presLayoutVars>
          <dgm:bulletEnabled val="1"/>
        </dgm:presLayoutVars>
      </dgm:prSet>
      <dgm:spPr/>
    </dgm:pt>
    <dgm:pt modelId="{DA75E91E-032B-4C0A-BC9A-66F3BF07440E}" type="pres">
      <dgm:prSet presAssocID="{2FCCC62D-DDFF-4E50-99D3-D7A948DB2C02}" presName="sp" presStyleCnt="0"/>
      <dgm:spPr/>
    </dgm:pt>
    <dgm:pt modelId="{128D88F6-76E4-49B9-9E52-7CDF3470F496}" type="pres">
      <dgm:prSet presAssocID="{C031BE85-04B2-4280-8B73-115D9E0A7DE3}" presName="composite" presStyleCnt="0"/>
      <dgm:spPr/>
    </dgm:pt>
    <dgm:pt modelId="{D130B228-FC5E-4026-993B-7557527FBB06}" type="pres">
      <dgm:prSet presAssocID="{C031BE85-04B2-4280-8B73-115D9E0A7DE3}" presName="parentText" presStyleLbl="alignNode1" presStyleIdx="2" presStyleCnt="4">
        <dgm:presLayoutVars>
          <dgm:chMax val="1"/>
          <dgm:bulletEnabled val="1"/>
        </dgm:presLayoutVars>
      </dgm:prSet>
      <dgm:spPr/>
    </dgm:pt>
    <dgm:pt modelId="{D04EB964-375B-473F-B54C-B9E5F116FFEB}" type="pres">
      <dgm:prSet presAssocID="{C031BE85-04B2-4280-8B73-115D9E0A7DE3}" presName="descendantText" presStyleLbl="alignAcc1" presStyleIdx="2" presStyleCnt="4">
        <dgm:presLayoutVars>
          <dgm:bulletEnabled val="1"/>
        </dgm:presLayoutVars>
      </dgm:prSet>
      <dgm:spPr/>
    </dgm:pt>
    <dgm:pt modelId="{4AEC90C2-125E-44BA-9B38-2C6AF5A384A6}" type="pres">
      <dgm:prSet presAssocID="{4BAC9CA0-2777-4609-8E21-E2377ACEBFD8}" presName="sp" presStyleCnt="0"/>
      <dgm:spPr/>
    </dgm:pt>
    <dgm:pt modelId="{35DDACBD-DCEE-4437-8E83-F066C253E855}" type="pres">
      <dgm:prSet presAssocID="{781DA240-0A87-4B17-9313-D75FDD10F0AC}" presName="composite" presStyleCnt="0"/>
      <dgm:spPr/>
    </dgm:pt>
    <dgm:pt modelId="{EE3E4A09-777B-4CEA-AB81-E57CC281883D}" type="pres">
      <dgm:prSet presAssocID="{781DA240-0A87-4B17-9313-D75FDD10F0AC}" presName="parentText" presStyleLbl="alignNode1" presStyleIdx="3" presStyleCnt="4">
        <dgm:presLayoutVars>
          <dgm:chMax val="1"/>
          <dgm:bulletEnabled val="1"/>
        </dgm:presLayoutVars>
      </dgm:prSet>
      <dgm:spPr/>
    </dgm:pt>
    <dgm:pt modelId="{67C36727-82FE-4510-A0B0-311741C55FE7}" type="pres">
      <dgm:prSet presAssocID="{781DA240-0A87-4B17-9313-D75FDD10F0AC}" presName="descendantText" presStyleLbl="alignAcc1" presStyleIdx="3" presStyleCnt="4">
        <dgm:presLayoutVars>
          <dgm:bulletEnabled val="1"/>
        </dgm:presLayoutVars>
      </dgm:prSet>
      <dgm:spPr/>
    </dgm:pt>
  </dgm:ptLst>
  <dgm:cxnLst>
    <dgm:cxn modelId="{19429F14-E09B-4CDB-A9BF-57903C61C113}" type="presOf" srcId="{28D97CA6-E8C9-4D4D-93D7-F0A6602035B5}" destId="{5A43C91B-2E4F-45FD-B003-78E76A1FD13E}" srcOrd="0" destOrd="0" presId="urn:microsoft.com/office/officeart/2005/8/layout/chevron2"/>
    <dgm:cxn modelId="{A4A0311C-1C38-4D3B-9CDC-83ADEDC0D5DB}" type="presOf" srcId="{5700A4B7-5418-4801-A1A8-575EE9D006BF}" destId="{F13F0F60-EAA6-4D5A-8C11-2BCBE9DFF83E}" srcOrd="0" destOrd="1" presId="urn:microsoft.com/office/officeart/2005/8/layout/chevron2"/>
    <dgm:cxn modelId="{1AD9D331-F2EA-46B9-98DC-A594C4661689}" type="presOf" srcId="{781DA240-0A87-4B17-9313-D75FDD10F0AC}" destId="{EE3E4A09-777B-4CEA-AB81-E57CC281883D}" srcOrd="0" destOrd="0" presId="urn:microsoft.com/office/officeart/2005/8/layout/chevron2"/>
    <dgm:cxn modelId="{8148B73C-AD79-4B2A-BA8D-1AB6DEDAF447}" srcId="{C031BE85-04B2-4280-8B73-115D9E0A7DE3}" destId="{9D2080AE-593A-498E-B3F0-920BF95CAB0C}" srcOrd="0" destOrd="0" parTransId="{1B0C2E56-550E-49C4-AAB8-098F8FB58CE9}" sibTransId="{D0E14DC6-D746-4709-AB98-DA5AB490B5AB}"/>
    <dgm:cxn modelId="{01DB7564-1AE4-46F3-B22C-A5E57CFD4725}" srcId="{4A53C792-1C4C-429C-8560-131C10DFCEF3}" destId="{C031BE85-04B2-4280-8B73-115D9E0A7DE3}" srcOrd="2" destOrd="0" parTransId="{23DFE851-8907-4C3F-B578-00A5AC499EFE}" sibTransId="{4BAC9CA0-2777-4609-8E21-E2377ACEBFD8}"/>
    <dgm:cxn modelId="{8467ED68-CABB-424B-BE38-CD4EFA0ADDF3}" type="presOf" srcId="{4EDA579C-22DC-4E63-AB06-C68CCD111FCD}" destId="{E6E66C12-CFC7-4265-959F-A9F009306392}" srcOrd="0" destOrd="0" presId="urn:microsoft.com/office/officeart/2005/8/layout/chevron2"/>
    <dgm:cxn modelId="{EE15D976-453D-440B-BA96-443628501CBB}" type="presOf" srcId="{82C56511-91D9-491A-B708-89B9EABFA24E}" destId="{67C36727-82FE-4510-A0B0-311741C55FE7}" srcOrd="0" destOrd="0" presId="urn:microsoft.com/office/officeart/2005/8/layout/chevron2"/>
    <dgm:cxn modelId="{009EB59F-6A9E-4406-BE26-2CF3EF7090C2}" srcId="{28D97CA6-E8C9-4D4D-93D7-F0A6602035B5}" destId="{95015E99-032B-4C3D-8A48-23BC16ABF0CA}" srcOrd="0" destOrd="0" parTransId="{42E26BBA-55BD-4CD0-9D8E-558960764865}" sibTransId="{AF6DCF08-6540-4951-81F9-2CE3937010D8}"/>
    <dgm:cxn modelId="{B73E3BB3-D515-4512-ACC2-DF34EA8237FA}" type="presOf" srcId="{E1380F84-FD41-4367-A9E3-22EFAD76655B}" destId="{810AE2A9-0E99-4AF5-AED5-668B2A9AF736}" srcOrd="0" destOrd="0" presId="urn:microsoft.com/office/officeart/2005/8/layout/chevron2"/>
    <dgm:cxn modelId="{95C59FB5-3BAE-4800-8802-F01348633B57}" type="presOf" srcId="{4A53C792-1C4C-429C-8560-131C10DFCEF3}" destId="{DDC8876E-592C-4A48-8B30-D585DA9CE4EC}" srcOrd="0" destOrd="0" presId="urn:microsoft.com/office/officeart/2005/8/layout/chevron2"/>
    <dgm:cxn modelId="{3DF495BA-8854-427A-9F10-F54C511F0CAC}" type="presOf" srcId="{9D2080AE-593A-498E-B3F0-920BF95CAB0C}" destId="{D04EB964-375B-473F-B54C-B9E5F116FFEB}" srcOrd="0" destOrd="0" presId="urn:microsoft.com/office/officeart/2005/8/layout/chevron2"/>
    <dgm:cxn modelId="{C2FAA1BF-1677-4DCC-BAFE-C0B980047807}" srcId="{4A53C792-1C4C-429C-8560-131C10DFCEF3}" destId="{28D97CA6-E8C9-4D4D-93D7-F0A6602035B5}" srcOrd="0" destOrd="0" parTransId="{9C132FB0-C40B-4CB0-9397-ACAD16E53F1A}" sibTransId="{7E97B555-47D1-49B3-B3C1-38FDECCF31E7}"/>
    <dgm:cxn modelId="{7ABC5FC4-971E-408A-97E0-BA54F69177B2}" type="presOf" srcId="{C031BE85-04B2-4280-8B73-115D9E0A7DE3}" destId="{D130B228-FC5E-4026-993B-7557527FBB06}" srcOrd="0" destOrd="0" presId="urn:microsoft.com/office/officeart/2005/8/layout/chevron2"/>
    <dgm:cxn modelId="{45F86CC9-281A-48FF-89DC-443D17C9B2EC}" srcId="{4A53C792-1C4C-429C-8560-131C10DFCEF3}" destId="{781DA240-0A87-4B17-9313-D75FDD10F0AC}" srcOrd="3" destOrd="0" parTransId="{82E1A7F0-C1D6-4D79-918F-9F5179EAD11A}" sibTransId="{D88E9BCD-71C9-4E64-8DC8-066616CBD09C}"/>
    <dgm:cxn modelId="{4512E9DA-FE41-4190-8853-136307AF5F03}" srcId="{4A53C792-1C4C-429C-8560-131C10DFCEF3}" destId="{E1380F84-FD41-4367-A9E3-22EFAD76655B}" srcOrd="1" destOrd="0" parTransId="{DBE30F2D-B3FF-4A8A-9606-98CEA7948F86}" sibTransId="{2FCCC62D-DDFF-4E50-99D3-D7A948DB2C02}"/>
    <dgm:cxn modelId="{C07D6DDF-E485-4977-9BBF-44F7985272E9}" srcId="{28D97CA6-E8C9-4D4D-93D7-F0A6602035B5}" destId="{5700A4B7-5418-4801-A1A8-575EE9D006BF}" srcOrd="1" destOrd="0" parTransId="{E2D6CA3F-C438-47E4-A540-4940F6B3A2A3}" sibTransId="{11C45899-DB9E-4029-A872-91057AC04273}"/>
    <dgm:cxn modelId="{ABDF91E4-86EB-48FC-A882-C0BE651D990A}" srcId="{781DA240-0A87-4B17-9313-D75FDD10F0AC}" destId="{82C56511-91D9-491A-B708-89B9EABFA24E}" srcOrd="0" destOrd="0" parTransId="{0D15B53D-7F58-4116-9227-90BEC569C855}" sibTransId="{F3DA3B51-756C-4E2D-9214-961052DE062B}"/>
    <dgm:cxn modelId="{6CE510EE-E544-43AE-B785-39F6599FFE3E}" type="presOf" srcId="{95015E99-032B-4C3D-8A48-23BC16ABF0CA}" destId="{F13F0F60-EAA6-4D5A-8C11-2BCBE9DFF83E}" srcOrd="0" destOrd="0" presId="urn:microsoft.com/office/officeart/2005/8/layout/chevron2"/>
    <dgm:cxn modelId="{AF63D1F7-5E58-44B9-A299-42A3684501A5}" srcId="{E1380F84-FD41-4367-A9E3-22EFAD76655B}" destId="{4EDA579C-22DC-4E63-AB06-C68CCD111FCD}" srcOrd="0" destOrd="0" parTransId="{65F9D77B-BE36-4C5F-8A64-F757251FB1E3}" sibTransId="{B6071A6E-323A-4BB5-8B39-A61D586ADE41}"/>
    <dgm:cxn modelId="{DCD64B70-E39C-4A3A-B9DE-9316A8D595C0}" type="presParOf" srcId="{DDC8876E-592C-4A48-8B30-D585DA9CE4EC}" destId="{985DACD9-67A8-4288-A921-A9854967CCD2}" srcOrd="0" destOrd="0" presId="urn:microsoft.com/office/officeart/2005/8/layout/chevron2"/>
    <dgm:cxn modelId="{FB95AA05-01DF-43DB-9094-3D9D8591CCD5}" type="presParOf" srcId="{985DACD9-67A8-4288-A921-A9854967CCD2}" destId="{5A43C91B-2E4F-45FD-B003-78E76A1FD13E}" srcOrd="0" destOrd="0" presId="urn:microsoft.com/office/officeart/2005/8/layout/chevron2"/>
    <dgm:cxn modelId="{E0EE8651-8C71-45D7-9E5C-F9313193962A}" type="presParOf" srcId="{985DACD9-67A8-4288-A921-A9854967CCD2}" destId="{F13F0F60-EAA6-4D5A-8C11-2BCBE9DFF83E}" srcOrd="1" destOrd="0" presId="urn:microsoft.com/office/officeart/2005/8/layout/chevron2"/>
    <dgm:cxn modelId="{02E76CB9-0851-46BD-A80B-70108894F1B5}" type="presParOf" srcId="{DDC8876E-592C-4A48-8B30-D585DA9CE4EC}" destId="{94E54F6E-45DF-4EBB-9E3B-38B299B6EED4}" srcOrd="1" destOrd="0" presId="urn:microsoft.com/office/officeart/2005/8/layout/chevron2"/>
    <dgm:cxn modelId="{15CB37A2-255A-43DB-BBC4-7B8B6C4FA881}" type="presParOf" srcId="{DDC8876E-592C-4A48-8B30-D585DA9CE4EC}" destId="{A0235178-1DC1-4E72-B092-3C55FE3CC95D}" srcOrd="2" destOrd="0" presId="urn:microsoft.com/office/officeart/2005/8/layout/chevron2"/>
    <dgm:cxn modelId="{4A7EE021-22BD-4443-AC63-84C7CF82588B}" type="presParOf" srcId="{A0235178-1DC1-4E72-B092-3C55FE3CC95D}" destId="{810AE2A9-0E99-4AF5-AED5-668B2A9AF736}" srcOrd="0" destOrd="0" presId="urn:microsoft.com/office/officeart/2005/8/layout/chevron2"/>
    <dgm:cxn modelId="{DF2FD8DA-78B0-40E2-B0D4-FA1F48F0AB13}" type="presParOf" srcId="{A0235178-1DC1-4E72-B092-3C55FE3CC95D}" destId="{E6E66C12-CFC7-4265-959F-A9F009306392}" srcOrd="1" destOrd="0" presId="urn:microsoft.com/office/officeart/2005/8/layout/chevron2"/>
    <dgm:cxn modelId="{BED36FD4-0650-441D-B327-5C43ED593DA9}" type="presParOf" srcId="{DDC8876E-592C-4A48-8B30-D585DA9CE4EC}" destId="{DA75E91E-032B-4C0A-BC9A-66F3BF07440E}" srcOrd="3" destOrd="0" presId="urn:microsoft.com/office/officeart/2005/8/layout/chevron2"/>
    <dgm:cxn modelId="{23CC6E01-A622-42B2-8F8D-35E17674395C}" type="presParOf" srcId="{DDC8876E-592C-4A48-8B30-D585DA9CE4EC}" destId="{128D88F6-76E4-49B9-9E52-7CDF3470F496}" srcOrd="4" destOrd="0" presId="urn:microsoft.com/office/officeart/2005/8/layout/chevron2"/>
    <dgm:cxn modelId="{B1EFFFC1-0DE9-44A0-A08A-199D96C8E7E3}" type="presParOf" srcId="{128D88F6-76E4-49B9-9E52-7CDF3470F496}" destId="{D130B228-FC5E-4026-993B-7557527FBB06}" srcOrd="0" destOrd="0" presId="urn:microsoft.com/office/officeart/2005/8/layout/chevron2"/>
    <dgm:cxn modelId="{062B3547-419E-46C4-B53B-EE4F8FD93448}" type="presParOf" srcId="{128D88F6-76E4-49B9-9E52-7CDF3470F496}" destId="{D04EB964-375B-473F-B54C-B9E5F116FFEB}" srcOrd="1" destOrd="0" presId="urn:microsoft.com/office/officeart/2005/8/layout/chevron2"/>
    <dgm:cxn modelId="{81862F9C-2DCC-497B-9165-FBEA3095DD98}" type="presParOf" srcId="{DDC8876E-592C-4A48-8B30-D585DA9CE4EC}" destId="{4AEC90C2-125E-44BA-9B38-2C6AF5A384A6}" srcOrd="5" destOrd="0" presId="urn:microsoft.com/office/officeart/2005/8/layout/chevron2"/>
    <dgm:cxn modelId="{475D2A8F-8D6A-43F8-82EB-5CCDCB5681A1}" type="presParOf" srcId="{DDC8876E-592C-4A48-8B30-D585DA9CE4EC}" destId="{35DDACBD-DCEE-4437-8E83-F066C253E855}" srcOrd="6" destOrd="0" presId="urn:microsoft.com/office/officeart/2005/8/layout/chevron2"/>
    <dgm:cxn modelId="{B6601AD5-79AD-40F9-9207-DF5F07EB6542}" type="presParOf" srcId="{35DDACBD-DCEE-4437-8E83-F066C253E855}" destId="{EE3E4A09-777B-4CEA-AB81-E57CC281883D}" srcOrd="0" destOrd="0" presId="urn:microsoft.com/office/officeart/2005/8/layout/chevron2"/>
    <dgm:cxn modelId="{6F9CF068-0C45-4CBB-92E4-D7EC3391DB3B}" type="presParOf" srcId="{35DDACBD-DCEE-4437-8E83-F066C253E855}" destId="{67C36727-82FE-4510-A0B0-311741C55FE7}"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88FB7AF-0B7C-48B5-9462-2D1F231A24E3}" type="doc">
      <dgm:prSet loTypeId="urn:microsoft.com/office/officeart/2005/8/layout/default" loCatId="list" qsTypeId="urn:microsoft.com/office/officeart/2005/8/quickstyle/simple1" qsCatId="simple" csTypeId="urn:microsoft.com/office/officeart/2005/8/colors/accent1_2" csCatId="accent1" phldr="1"/>
      <dgm:spPr/>
      <dgm:t>
        <a:bodyPr/>
        <a:lstStyle/>
        <a:p>
          <a:pPr rtl="1"/>
          <a:endParaRPr lang="he-IL"/>
        </a:p>
      </dgm:t>
    </dgm:pt>
    <dgm:pt modelId="{C4942209-B4C3-43DD-A9C4-D26DFE812DFA}">
      <dgm:prSet/>
      <dgm:spPr/>
      <dgm:t>
        <a:bodyPr/>
        <a:lstStyle/>
        <a:p>
          <a:pPr rtl="1"/>
          <a:r>
            <a:rPr lang="he-IL" dirty="0" err="1"/>
            <a:t>עדליא</a:t>
          </a:r>
          <a:r>
            <a:rPr lang="he-IL" dirty="0"/>
            <a:t> יכולה לשפר את השיווק שלה כלפי לקוחות פוטנציאליים באמצעות פרסום ממוקד, שיתופי פעולה ויצירת תוכן שיווקי איכותי. בנוסף, המלצות מלקוחות קיימים יכולות להוות מנוע צמיחה חשוב על ידי יצירת שיווק מפה לאוזן שיביא לקוחות חדשים</a:t>
          </a:r>
        </a:p>
      </dgm:t>
    </dgm:pt>
    <dgm:pt modelId="{97CB704E-806B-4439-ADB3-33699A2F6096}" type="parTrans" cxnId="{BA78E201-DFCF-4CEF-8E5D-C590ECCB360A}">
      <dgm:prSet/>
      <dgm:spPr/>
      <dgm:t>
        <a:bodyPr/>
        <a:lstStyle/>
        <a:p>
          <a:pPr rtl="1"/>
          <a:endParaRPr lang="he-IL"/>
        </a:p>
      </dgm:t>
    </dgm:pt>
    <dgm:pt modelId="{3F8436C3-14D9-4136-A32D-26A9F4597A9F}" type="sibTrans" cxnId="{BA78E201-DFCF-4CEF-8E5D-C590ECCB360A}">
      <dgm:prSet/>
      <dgm:spPr/>
      <dgm:t>
        <a:bodyPr/>
        <a:lstStyle/>
        <a:p>
          <a:pPr rtl="1"/>
          <a:endParaRPr lang="he-IL"/>
        </a:p>
      </dgm:t>
    </dgm:pt>
    <dgm:pt modelId="{C68978E6-6DB7-4CEF-8D42-A3DA00D6CE61}">
      <dgm:prSet/>
      <dgm:spPr/>
      <dgm:t>
        <a:bodyPr/>
        <a:lstStyle/>
        <a:p>
          <a:pPr rtl="1"/>
          <a:r>
            <a:rPr lang="he-IL"/>
            <a:t>אסטרטגיית פיתוח השוק יכולה לכלול הרחבת הפעילות הגלובלית של עדליא על ידי מתן ייעוץ אסטרטגי בחו"ל</a:t>
          </a:r>
        </a:p>
      </dgm:t>
    </dgm:pt>
    <dgm:pt modelId="{6FB9FDDD-85F6-4AF2-B817-9B5E317A08D9}" type="parTrans" cxnId="{3EA4BA38-7638-47C0-BDE2-C7974E34F32F}">
      <dgm:prSet/>
      <dgm:spPr/>
      <dgm:t>
        <a:bodyPr/>
        <a:lstStyle/>
        <a:p>
          <a:pPr rtl="1"/>
          <a:endParaRPr lang="he-IL"/>
        </a:p>
      </dgm:t>
    </dgm:pt>
    <dgm:pt modelId="{B85E318A-0BA3-4839-8E82-BA16C7DF08B4}" type="sibTrans" cxnId="{3EA4BA38-7638-47C0-BDE2-C7974E34F32F}">
      <dgm:prSet/>
      <dgm:spPr/>
      <dgm:t>
        <a:bodyPr/>
        <a:lstStyle/>
        <a:p>
          <a:pPr rtl="1"/>
          <a:endParaRPr lang="he-IL"/>
        </a:p>
      </dgm:t>
    </dgm:pt>
    <dgm:pt modelId="{8F631C3F-5097-4E6B-8B30-B9E9C738FAB3}">
      <dgm:prSet/>
      <dgm:spPr/>
      <dgm:t>
        <a:bodyPr/>
        <a:lstStyle/>
        <a:p>
          <a:pPr rtl="1"/>
          <a:r>
            <a:rPr lang="he-IL" dirty="0"/>
            <a:t>הרחבת קו השירותים של עדליא על ידי כניסה לתחום פיתוח התוכנה. על ידי פיתוח כלים טכנולוגיים לניתוח נתונים כלכליים, החברה תוכל להציע ללקוחותיה פתרונות מותאמים אישית להתמודדות עם אתגרים מורכבים</a:t>
          </a:r>
        </a:p>
      </dgm:t>
    </dgm:pt>
    <dgm:pt modelId="{281226F9-8069-4DA8-8ED3-EB49732A5C15}" type="parTrans" cxnId="{41EEEA73-E256-44DA-B1D6-3904033BF741}">
      <dgm:prSet/>
      <dgm:spPr/>
      <dgm:t>
        <a:bodyPr/>
        <a:lstStyle/>
        <a:p>
          <a:pPr rtl="1"/>
          <a:endParaRPr lang="he-IL"/>
        </a:p>
      </dgm:t>
    </dgm:pt>
    <dgm:pt modelId="{CE25AD13-3440-46BA-8B10-7E7D554B93E2}" type="sibTrans" cxnId="{41EEEA73-E256-44DA-B1D6-3904033BF741}">
      <dgm:prSet/>
      <dgm:spPr/>
      <dgm:t>
        <a:bodyPr/>
        <a:lstStyle/>
        <a:p>
          <a:pPr rtl="1"/>
          <a:endParaRPr lang="he-IL"/>
        </a:p>
      </dgm:t>
    </dgm:pt>
    <dgm:pt modelId="{AE6A8F09-0262-4222-B8DA-9969D69E0E95}">
      <dgm:prSet/>
      <dgm:spPr/>
      <dgm:t>
        <a:bodyPr/>
        <a:lstStyle/>
        <a:p>
          <a:pPr rtl="1"/>
          <a:r>
            <a:rPr lang="he-IL" dirty="0"/>
            <a:t>עדליא יכולה להתרחב לתחומים חדשים, כמו פיתוח פתרונות טכנולוגיים או ייעוץ בתחומים נוספים, כגון בריאות, קיימות או אבטחת סייבר. </a:t>
          </a:r>
        </a:p>
      </dgm:t>
    </dgm:pt>
    <dgm:pt modelId="{9680B333-65B8-4A7B-8F09-865F49F9A3D1}" type="parTrans" cxnId="{0D2BD5CA-0842-44DD-994B-6D5169E377B0}">
      <dgm:prSet/>
      <dgm:spPr/>
      <dgm:t>
        <a:bodyPr/>
        <a:lstStyle/>
        <a:p>
          <a:pPr rtl="1"/>
          <a:endParaRPr lang="he-IL"/>
        </a:p>
      </dgm:t>
    </dgm:pt>
    <dgm:pt modelId="{E2E5A9BE-C899-4187-A934-0EE54FBAE88B}" type="sibTrans" cxnId="{0D2BD5CA-0842-44DD-994B-6D5169E377B0}">
      <dgm:prSet/>
      <dgm:spPr/>
      <dgm:t>
        <a:bodyPr/>
        <a:lstStyle/>
        <a:p>
          <a:pPr rtl="1"/>
          <a:endParaRPr lang="he-IL"/>
        </a:p>
      </dgm:t>
    </dgm:pt>
    <dgm:pt modelId="{00A2B5B4-B2D6-4848-8A4F-9161146689B3}" type="pres">
      <dgm:prSet presAssocID="{D88FB7AF-0B7C-48B5-9462-2D1F231A24E3}" presName="diagram" presStyleCnt="0">
        <dgm:presLayoutVars>
          <dgm:dir/>
          <dgm:resizeHandles val="exact"/>
        </dgm:presLayoutVars>
      </dgm:prSet>
      <dgm:spPr/>
    </dgm:pt>
    <dgm:pt modelId="{EBF25F9E-708B-4FB6-B2E3-280041607F03}" type="pres">
      <dgm:prSet presAssocID="{C68978E6-6DB7-4CEF-8D42-A3DA00D6CE61}" presName="node" presStyleLbl="node1" presStyleIdx="0" presStyleCnt="4">
        <dgm:presLayoutVars>
          <dgm:bulletEnabled val="1"/>
        </dgm:presLayoutVars>
      </dgm:prSet>
      <dgm:spPr/>
    </dgm:pt>
    <dgm:pt modelId="{5706CE1C-DBDC-431F-9A78-078E4A86C3CB}" type="pres">
      <dgm:prSet presAssocID="{B85E318A-0BA3-4839-8E82-BA16C7DF08B4}" presName="sibTrans" presStyleCnt="0"/>
      <dgm:spPr/>
    </dgm:pt>
    <dgm:pt modelId="{EEA8D5B0-0A4A-4413-981A-E05E0FF1EC9A}" type="pres">
      <dgm:prSet presAssocID="{C4942209-B4C3-43DD-A9C4-D26DFE812DFA}" presName="node" presStyleLbl="node1" presStyleIdx="1" presStyleCnt="4">
        <dgm:presLayoutVars>
          <dgm:bulletEnabled val="1"/>
        </dgm:presLayoutVars>
      </dgm:prSet>
      <dgm:spPr/>
    </dgm:pt>
    <dgm:pt modelId="{83B550F5-32A5-4868-87AA-34E0845C435B}" type="pres">
      <dgm:prSet presAssocID="{3F8436C3-14D9-4136-A32D-26A9F4597A9F}" presName="sibTrans" presStyleCnt="0"/>
      <dgm:spPr/>
    </dgm:pt>
    <dgm:pt modelId="{FAB51EEC-24B2-4C43-973F-5B8ED23040C6}" type="pres">
      <dgm:prSet presAssocID="{AE6A8F09-0262-4222-B8DA-9969D69E0E95}" presName="node" presStyleLbl="node1" presStyleIdx="2" presStyleCnt="4">
        <dgm:presLayoutVars>
          <dgm:bulletEnabled val="1"/>
        </dgm:presLayoutVars>
      </dgm:prSet>
      <dgm:spPr/>
    </dgm:pt>
    <dgm:pt modelId="{A9C8225C-F222-4F74-A4AD-1E624BA316BE}" type="pres">
      <dgm:prSet presAssocID="{E2E5A9BE-C899-4187-A934-0EE54FBAE88B}" presName="sibTrans" presStyleCnt="0"/>
      <dgm:spPr/>
    </dgm:pt>
    <dgm:pt modelId="{A4717177-36B3-4908-8469-91B7A9EE9B91}" type="pres">
      <dgm:prSet presAssocID="{8F631C3F-5097-4E6B-8B30-B9E9C738FAB3}" presName="node" presStyleLbl="node1" presStyleIdx="3" presStyleCnt="4">
        <dgm:presLayoutVars>
          <dgm:bulletEnabled val="1"/>
        </dgm:presLayoutVars>
      </dgm:prSet>
      <dgm:spPr/>
    </dgm:pt>
  </dgm:ptLst>
  <dgm:cxnLst>
    <dgm:cxn modelId="{BA78E201-DFCF-4CEF-8E5D-C590ECCB360A}" srcId="{D88FB7AF-0B7C-48B5-9462-2D1F231A24E3}" destId="{C4942209-B4C3-43DD-A9C4-D26DFE812DFA}" srcOrd="1" destOrd="0" parTransId="{97CB704E-806B-4439-ADB3-33699A2F6096}" sibTransId="{3F8436C3-14D9-4136-A32D-26A9F4597A9F}"/>
    <dgm:cxn modelId="{A8A94907-1174-41A1-A7E7-8CE40B7DE644}" type="presOf" srcId="{C68978E6-6DB7-4CEF-8D42-A3DA00D6CE61}" destId="{EBF25F9E-708B-4FB6-B2E3-280041607F03}" srcOrd="0" destOrd="0" presId="urn:microsoft.com/office/officeart/2005/8/layout/default"/>
    <dgm:cxn modelId="{E18EDA0F-D1A4-4CDC-9158-785DC97FB50F}" type="presOf" srcId="{C4942209-B4C3-43DD-A9C4-D26DFE812DFA}" destId="{EEA8D5B0-0A4A-4413-981A-E05E0FF1EC9A}" srcOrd="0" destOrd="0" presId="urn:microsoft.com/office/officeart/2005/8/layout/default"/>
    <dgm:cxn modelId="{3EA4BA38-7638-47C0-BDE2-C7974E34F32F}" srcId="{D88FB7AF-0B7C-48B5-9462-2D1F231A24E3}" destId="{C68978E6-6DB7-4CEF-8D42-A3DA00D6CE61}" srcOrd="0" destOrd="0" parTransId="{6FB9FDDD-85F6-4AF2-B817-9B5E317A08D9}" sibTransId="{B85E318A-0BA3-4839-8E82-BA16C7DF08B4}"/>
    <dgm:cxn modelId="{04A67862-44ED-4692-96D7-076E32947F3A}" type="presOf" srcId="{D88FB7AF-0B7C-48B5-9462-2D1F231A24E3}" destId="{00A2B5B4-B2D6-4848-8A4F-9161146689B3}" srcOrd="0" destOrd="0" presId="urn:microsoft.com/office/officeart/2005/8/layout/default"/>
    <dgm:cxn modelId="{41EEEA73-E256-44DA-B1D6-3904033BF741}" srcId="{D88FB7AF-0B7C-48B5-9462-2D1F231A24E3}" destId="{8F631C3F-5097-4E6B-8B30-B9E9C738FAB3}" srcOrd="3" destOrd="0" parTransId="{281226F9-8069-4DA8-8ED3-EB49732A5C15}" sibTransId="{CE25AD13-3440-46BA-8B10-7E7D554B93E2}"/>
    <dgm:cxn modelId="{0D2BD5CA-0842-44DD-994B-6D5169E377B0}" srcId="{D88FB7AF-0B7C-48B5-9462-2D1F231A24E3}" destId="{AE6A8F09-0262-4222-B8DA-9969D69E0E95}" srcOrd="2" destOrd="0" parTransId="{9680B333-65B8-4A7B-8F09-865F49F9A3D1}" sibTransId="{E2E5A9BE-C899-4187-A934-0EE54FBAE88B}"/>
    <dgm:cxn modelId="{A6EE60D1-F0BF-434E-B93F-23B326E236A7}" type="presOf" srcId="{AE6A8F09-0262-4222-B8DA-9969D69E0E95}" destId="{FAB51EEC-24B2-4C43-973F-5B8ED23040C6}" srcOrd="0" destOrd="0" presId="urn:microsoft.com/office/officeart/2005/8/layout/default"/>
    <dgm:cxn modelId="{25D26BF2-17AF-4FCE-AC33-FD85FCC84744}" type="presOf" srcId="{8F631C3F-5097-4E6B-8B30-B9E9C738FAB3}" destId="{A4717177-36B3-4908-8469-91B7A9EE9B91}" srcOrd="0" destOrd="0" presId="urn:microsoft.com/office/officeart/2005/8/layout/default"/>
    <dgm:cxn modelId="{BD231280-2BE1-471A-927F-5CE4428C7351}" type="presParOf" srcId="{00A2B5B4-B2D6-4848-8A4F-9161146689B3}" destId="{EBF25F9E-708B-4FB6-B2E3-280041607F03}" srcOrd="0" destOrd="0" presId="urn:microsoft.com/office/officeart/2005/8/layout/default"/>
    <dgm:cxn modelId="{550834C1-28C1-4F43-9056-90BA280E2BC4}" type="presParOf" srcId="{00A2B5B4-B2D6-4848-8A4F-9161146689B3}" destId="{5706CE1C-DBDC-431F-9A78-078E4A86C3CB}" srcOrd="1" destOrd="0" presId="urn:microsoft.com/office/officeart/2005/8/layout/default"/>
    <dgm:cxn modelId="{3BC6B557-F5A0-48DA-AEF3-C62DD39A99E3}" type="presParOf" srcId="{00A2B5B4-B2D6-4848-8A4F-9161146689B3}" destId="{EEA8D5B0-0A4A-4413-981A-E05E0FF1EC9A}" srcOrd="2" destOrd="0" presId="urn:microsoft.com/office/officeart/2005/8/layout/default"/>
    <dgm:cxn modelId="{C6D38941-EA6E-4280-9493-F3F2C236A119}" type="presParOf" srcId="{00A2B5B4-B2D6-4848-8A4F-9161146689B3}" destId="{83B550F5-32A5-4868-87AA-34E0845C435B}" srcOrd="3" destOrd="0" presId="urn:microsoft.com/office/officeart/2005/8/layout/default"/>
    <dgm:cxn modelId="{02105AC8-9675-4610-A472-B4D8E8072A93}" type="presParOf" srcId="{00A2B5B4-B2D6-4848-8A4F-9161146689B3}" destId="{FAB51EEC-24B2-4C43-973F-5B8ED23040C6}" srcOrd="4" destOrd="0" presId="urn:microsoft.com/office/officeart/2005/8/layout/default"/>
    <dgm:cxn modelId="{F659F6E4-9145-443F-A0C4-3C288790A61A}" type="presParOf" srcId="{00A2B5B4-B2D6-4848-8A4F-9161146689B3}" destId="{A9C8225C-F222-4F74-A4AD-1E624BA316BE}" srcOrd="5" destOrd="0" presId="urn:microsoft.com/office/officeart/2005/8/layout/default"/>
    <dgm:cxn modelId="{616E98F5-FE4D-4AD2-AB7D-8F7FD3CDE4AE}" type="presParOf" srcId="{00A2B5B4-B2D6-4848-8A4F-9161146689B3}" destId="{A4717177-36B3-4908-8469-91B7A9EE9B91}" srcOrd="6"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04CDFA9-915D-4D20-A80E-DF43685CD6F5}" type="doc">
      <dgm:prSet loTypeId="urn:microsoft.com/office/officeart/2005/8/layout/vList5" loCatId="list" qsTypeId="urn:microsoft.com/office/officeart/2005/8/quickstyle/simple1" qsCatId="simple" csTypeId="urn:microsoft.com/office/officeart/2005/8/colors/accent1_2" csCatId="accent1" phldr="1"/>
      <dgm:spPr/>
      <dgm:t>
        <a:bodyPr/>
        <a:lstStyle/>
        <a:p>
          <a:pPr rtl="1"/>
          <a:endParaRPr lang="he-IL"/>
        </a:p>
      </dgm:t>
    </dgm:pt>
    <dgm:pt modelId="{1DA9F051-EDB6-44D9-B4A4-F0F4BC16B4C8}">
      <dgm:prSet phldrT="[טקסט]"/>
      <dgm:spPr/>
      <dgm:t>
        <a:bodyPr/>
        <a:lstStyle/>
        <a:p>
          <a:pPr rtl="1"/>
          <a:r>
            <a:rPr lang="he-IL" b="1" dirty="0">
              <a:effectLst/>
              <a:latin typeface="Aptos" panose="020B0004020202020204" pitchFamily="34" charset="0"/>
              <a:ea typeface="Aptos" panose="020B0004020202020204" pitchFamily="34" charset="0"/>
              <a:cs typeface="Arial" panose="020B0604020202020204" pitchFamily="34" charset="0"/>
            </a:rPr>
            <a:t>תמריצים מבוססי ביצועים</a:t>
          </a:r>
          <a:endParaRPr lang="he-IL" dirty="0"/>
        </a:p>
      </dgm:t>
    </dgm:pt>
    <dgm:pt modelId="{7B0482A7-8CBC-4752-8DCB-7F93424C5616}" type="parTrans" cxnId="{8254838C-E164-4DB3-96A5-A1AB18B554C9}">
      <dgm:prSet/>
      <dgm:spPr/>
      <dgm:t>
        <a:bodyPr/>
        <a:lstStyle/>
        <a:p>
          <a:pPr rtl="1"/>
          <a:endParaRPr lang="he-IL"/>
        </a:p>
      </dgm:t>
    </dgm:pt>
    <dgm:pt modelId="{8C9486C0-AF74-464C-96A3-7751A9A078C8}" type="sibTrans" cxnId="{8254838C-E164-4DB3-96A5-A1AB18B554C9}">
      <dgm:prSet/>
      <dgm:spPr/>
      <dgm:t>
        <a:bodyPr/>
        <a:lstStyle/>
        <a:p>
          <a:pPr rtl="1"/>
          <a:endParaRPr lang="he-IL"/>
        </a:p>
      </dgm:t>
    </dgm:pt>
    <dgm:pt modelId="{0133B09A-B7AB-4F6A-B67E-A9F121F89763}">
      <dgm:prSet phldrT="[טקסט]"/>
      <dgm:spPr/>
      <dgm:t>
        <a:bodyPr/>
        <a:lstStyle/>
        <a:p>
          <a:pPr rtl="1"/>
          <a:r>
            <a:rPr lang="he-IL" dirty="0"/>
            <a:t> </a:t>
          </a:r>
          <a:r>
            <a:rPr lang="he-IL" dirty="0" err="1"/>
            <a:t>בוולמארט</a:t>
          </a:r>
          <a:r>
            <a:rPr lang="he-IL" dirty="0"/>
            <a:t> ניתנים תמריצים כגון העלאות שכר, אופציות, ובונוסים על בסיס ביצועים, מהלך שמדרבן את העובדים למצוינות. גם </a:t>
          </a:r>
          <a:r>
            <a:rPr lang="he-IL" dirty="0" err="1"/>
            <a:t>בעדליא</a:t>
          </a:r>
          <a:r>
            <a:rPr lang="he-IL" dirty="0"/>
            <a:t> ניתן לאמץ אסטרטגיה זו כדי לתמרץ את העובדים לשיפור מתמיד.</a:t>
          </a:r>
        </a:p>
      </dgm:t>
    </dgm:pt>
    <dgm:pt modelId="{A4A97849-86AE-4B1D-BF53-7F6F01F0EFE0}" type="parTrans" cxnId="{1818711F-76EA-4775-B0A3-7366F7F00363}">
      <dgm:prSet/>
      <dgm:spPr/>
      <dgm:t>
        <a:bodyPr/>
        <a:lstStyle/>
        <a:p>
          <a:pPr rtl="1"/>
          <a:endParaRPr lang="he-IL"/>
        </a:p>
      </dgm:t>
    </dgm:pt>
    <dgm:pt modelId="{7DE30D71-C84A-4746-97FA-1FFC1B241C1F}" type="sibTrans" cxnId="{1818711F-76EA-4775-B0A3-7366F7F00363}">
      <dgm:prSet/>
      <dgm:spPr/>
      <dgm:t>
        <a:bodyPr/>
        <a:lstStyle/>
        <a:p>
          <a:pPr rtl="1"/>
          <a:endParaRPr lang="he-IL"/>
        </a:p>
      </dgm:t>
    </dgm:pt>
    <dgm:pt modelId="{D88CD931-2921-450C-B363-4038138FB08B}">
      <dgm:prSet phldrT="[טקסט]"/>
      <dgm:spPr/>
      <dgm:t>
        <a:bodyPr/>
        <a:lstStyle/>
        <a:p>
          <a:pPr rtl="1"/>
          <a:r>
            <a:rPr lang="he-IL" b="1" dirty="0">
              <a:effectLst/>
              <a:latin typeface="Aptos" panose="020B0004020202020204" pitchFamily="34" charset="0"/>
              <a:ea typeface="Aptos" panose="020B0004020202020204" pitchFamily="34" charset="0"/>
              <a:cs typeface="Arial" panose="020B0604020202020204" pitchFamily="34" charset="0"/>
            </a:rPr>
            <a:t>פריסה רחבה של סניפים</a:t>
          </a:r>
          <a:endParaRPr lang="he-IL" dirty="0"/>
        </a:p>
      </dgm:t>
    </dgm:pt>
    <dgm:pt modelId="{7A80BBFC-0348-48F4-A66A-0EA46564CF59}" type="parTrans" cxnId="{A9FD95D1-C1B4-4CDF-A430-1BF82B0B59EF}">
      <dgm:prSet/>
      <dgm:spPr/>
      <dgm:t>
        <a:bodyPr/>
        <a:lstStyle/>
        <a:p>
          <a:pPr rtl="1"/>
          <a:endParaRPr lang="he-IL"/>
        </a:p>
      </dgm:t>
    </dgm:pt>
    <dgm:pt modelId="{EB9D571E-024A-4C09-969D-436F3252BA1C}" type="sibTrans" cxnId="{A9FD95D1-C1B4-4CDF-A430-1BF82B0B59EF}">
      <dgm:prSet/>
      <dgm:spPr/>
      <dgm:t>
        <a:bodyPr/>
        <a:lstStyle/>
        <a:p>
          <a:pPr rtl="1"/>
          <a:endParaRPr lang="he-IL"/>
        </a:p>
      </dgm:t>
    </dgm:pt>
    <dgm:pt modelId="{7FD245AB-32C8-4909-809B-7DB779E524B6}">
      <dgm:prSet phldrT="[טקסט]"/>
      <dgm:spPr/>
      <dgm:t>
        <a:bodyPr/>
        <a:lstStyle/>
        <a:p>
          <a:pPr rtl="1"/>
          <a:r>
            <a:rPr lang="he-IL" dirty="0" err="1">
              <a:effectLst/>
              <a:latin typeface="Aptos" panose="020B0004020202020204" pitchFamily="34" charset="0"/>
              <a:ea typeface="Aptos" panose="020B0004020202020204" pitchFamily="34" charset="0"/>
              <a:cs typeface="Arial" panose="020B0604020202020204" pitchFamily="34" charset="0"/>
            </a:rPr>
            <a:t>וולמארט</a:t>
          </a:r>
          <a:r>
            <a:rPr lang="he-IL" dirty="0">
              <a:effectLst/>
              <a:latin typeface="Aptos" panose="020B0004020202020204" pitchFamily="34" charset="0"/>
              <a:ea typeface="Aptos" panose="020B0004020202020204" pitchFamily="34" charset="0"/>
              <a:cs typeface="Arial" panose="020B0604020202020204" pitchFamily="34" charset="0"/>
            </a:rPr>
            <a:t> הצליחה לחדור גם לשווקים קטנים על ידי פתיחת סניפים מחוץ לערים הגדולות. זהו לקח חשוב גם עבור </a:t>
          </a:r>
          <a:r>
            <a:rPr lang="he-IL" dirty="0" err="1">
              <a:effectLst/>
              <a:latin typeface="Aptos" panose="020B0004020202020204" pitchFamily="34" charset="0"/>
              <a:ea typeface="Aptos" panose="020B0004020202020204" pitchFamily="34" charset="0"/>
              <a:cs typeface="Arial" panose="020B0604020202020204" pitchFamily="34" charset="0"/>
            </a:rPr>
            <a:t>עדליא</a:t>
          </a:r>
          <a:r>
            <a:rPr lang="he-IL" dirty="0">
              <a:effectLst/>
              <a:latin typeface="Aptos" panose="020B0004020202020204" pitchFamily="34" charset="0"/>
              <a:ea typeface="Aptos" panose="020B0004020202020204" pitchFamily="34" charset="0"/>
              <a:cs typeface="Arial" panose="020B0604020202020204" pitchFamily="34" charset="0"/>
            </a:rPr>
            <a:t> אם היא מעוניינת להתרחב גיאוגרפית ולחדור לשווקים חדשים.</a:t>
          </a:r>
          <a:endParaRPr lang="he-IL" dirty="0"/>
        </a:p>
      </dgm:t>
    </dgm:pt>
    <dgm:pt modelId="{AE90D9A1-0543-41B2-816D-CC6B39E49FA6}" type="parTrans" cxnId="{DBB3E874-0576-4265-9C68-EC346BE14CE8}">
      <dgm:prSet/>
      <dgm:spPr/>
      <dgm:t>
        <a:bodyPr/>
        <a:lstStyle/>
        <a:p>
          <a:pPr rtl="1"/>
          <a:endParaRPr lang="he-IL"/>
        </a:p>
      </dgm:t>
    </dgm:pt>
    <dgm:pt modelId="{B51FC134-5C54-42A0-844B-2426FC3B58EC}" type="sibTrans" cxnId="{DBB3E874-0576-4265-9C68-EC346BE14CE8}">
      <dgm:prSet/>
      <dgm:spPr/>
      <dgm:t>
        <a:bodyPr/>
        <a:lstStyle/>
        <a:p>
          <a:pPr rtl="1"/>
          <a:endParaRPr lang="he-IL"/>
        </a:p>
      </dgm:t>
    </dgm:pt>
    <dgm:pt modelId="{ABE9D3C9-36A3-47FB-9998-E71F6B963234}">
      <dgm:prSet phldrT="[טקסט]"/>
      <dgm:spPr/>
      <dgm:t>
        <a:bodyPr/>
        <a:lstStyle/>
        <a:p>
          <a:pPr rtl="1"/>
          <a:r>
            <a:rPr lang="he-IL" b="1" dirty="0">
              <a:effectLst/>
              <a:latin typeface="Aptos" panose="020B0004020202020204" pitchFamily="34" charset="0"/>
              <a:ea typeface="Aptos" panose="020B0004020202020204" pitchFamily="34" charset="0"/>
              <a:cs typeface="Arial" panose="020B0604020202020204" pitchFamily="34" charset="0"/>
            </a:rPr>
            <a:t>שיווק ממוקד לקוח</a:t>
          </a:r>
          <a:endParaRPr lang="he-IL" dirty="0"/>
        </a:p>
      </dgm:t>
    </dgm:pt>
    <dgm:pt modelId="{9635BA95-44E1-45B7-B131-06DDA17A111A}" type="parTrans" cxnId="{E491D944-ED8D-4CF8-87C6-671BEADC55E1}">
      <dgm:prSet/>
      <dgm:spPr/>
      <dgm:t>
        <a:bodyPr/>
        <a:lstStyle/>
        <a:p>
          <a:pPr rtl="1"/>
          <a:endParaRPr lang="he-IL"/>
        </a:p>
      </dgm:t>
    </dgm:pt>
    <dgm:pt modelId="{8CD83C1F-9FF0-4AA1-8683-9C68EFE21213}" type="sibTrans" cxnId="{E491D944-ED8D-4CF8-87C6-671BEADC55E1}">
      <dgm:prSet/>
      <dgm:spPr/>
      <dgm:t>
        <a:bodyPr/>
        <a:lstStyle/>
        <a:p>
          <a:pPr rtl="1"/>
          <a:endParaRPr lang="he-IL"/>
        </a:p>
      </dgm:t>
    </dgm:pt>
    <dgm:pt modelId="{EEE9B01A-7A14-432D-9F91-9EA0A9EED616}">
      <dgm:prSet phldrT="[טקסט]"/>
      <dgm:spPr/>
      <dgm:t>
        <a:bodyPr/>
        <a:lstStyle/>
        <a:p>
          <a:pPr rtl="1"/>
          <a:r>
            <a:rPr lang="he-IL" dirty="0" err="1">
              <a:effectLst/>
              <a:latin typeface="Aptos" panose="020B0004020202020204" pitchFamily="34" charset="0"/>
              <a:ea typeface="Aptos" panose="020B0004020202020204" pitchFamily="34" charset="0"/>
              <a:cs typeface="Arial" panose="020B0604020202020204" pitchFamily="34" charset="0"/>
            </a:rPr>
            <a:t>וולמארט</a:t>
          </a:r>
          <a:r>
            <a:rPr lang="he-IL" dirty="0">
              <a:effectLst/>
              <a:latin typeface="Aptos" panose="020B0004020202020204" pitchFamily="34" charset="0"/>
              <a:ea typeface="Aptos" panose="020B0004020202020204" pitchFamily="34" charset="0"/>
              <a:cs typeface="Arial" panose="020B0604020202020204" pitchFamily="34" charset="0"/>
            </a:rPr>
            <a:t> משתמשת במגוון רחב של ערוצי פרסום, החל מפליירים ועד לפרסום ברדיו. אפשר ללמוד מכך איך לבצע פרסום אפקטיבי ונגיש גם בקנה מידה מקומי.</a:t>
          </a:r>
          <a:endParaRPr lang="he-IL" dirty="0"/>
        </a:p>
      </dgm:t>
    </dgm:pt>
    <dgm:pt modelId="{5125CE0C-2109-45B3-9D03-A857277F4EB6}" type="parTrans" cxnId="{8C0531CB-1BAF-4B0C-A8B0-84F91B3E6A61}">
      <dgm:prSet/>
      <dgm:spPr/>
      <dgm:t>
        <a:bodyPr/>
        <a:lstStyle/>
        <a:p>
          <a:pPr rtl="1"/>
          <a:endParaRPr lang="he-IL"/>
        </a:p>
      </dgm:t>
    </dgm:pt>
    <dgm:pt modelId="{B5CCC1BC-7A40-427E-BC44-8DF0967D500E}" type="sibTrans" cxnId="{8C0531CB-1BAF-4B0C-A8B0-84F91B3E6A61}">
      <dgm:prSet/>
      <dgm:spPr/>
      <dgm:t>
        <a:bodyPr/>
        <a:lstStyle/>
        <a:p>
          <a:pPr rtl="1"/>
          <a:endParaRPr lang="he-IL"/>
        </a:p>
      </dgm:t>
    </dgm:pt>
    <dgm:pt modelId="{BC483D51-095A-4B82-A887-52BBC2B2F53E}" type="pres">
      <dgm:prSet presAssocID="{304CDFA9-915D-4D20-A80E-DF43685CD6F5}" presName="Name0" presStyleCnt="0">
        <dgm:presLayoutVars>
          <dgm:dir/>
          <dgm:animLvl val="lvl"/>
          <dgm:resizeHandles val="exact"/>
        </dgm:presLayoutVars>
      </dgm:prSet>
      <dgm:spPr/>
    </dgm:pt>
    <dgm:pt modelId="{969D4CA3-80EF-454D-A9CC-C173F25841FE}" type="pres">
      <dgm:prSet presAssocID="{1DA9F051-EDB6-44D9-B4A4-F0F4BC16B4C8}" presName="linNode" presStyleCnt="0"/>
      <dgm:spPr/>
    </dgm:pt>
    <dgm:pt modelId="{5B5B7DFF-ECF4-4B17-A9D0-DCC181329437}" type="pres">
      <dgm:prSet presAssocID="{1DA9F051-EDB6-44D9-B4A4-F0F4BC16B4C8}" presName="parentText" presStyleLbl="node1" presStyleIdx="0" presStyleCnt="3">
        <dgm:presLayoutVars>
          <dgm:chMax val="1"/>
          <dgm:bulletEnabled val="1"/>
        </dgm:presLayoutVars>
      </dgm:prSet>
      <dgm:spPr/>
    </dgm:pt>
    <dgm:pt modelId="{879EE420-5B70-4BF6-9597-A88B036D5BD0}" type="pres">
      <dgm:prSet presAssocID="{1DA9F051-EDB6-44D9-B4A4-F0F4BC16B4C8}" presName="descendantText" presStyleLbl="alignAccFollowNode1" presStyleIdx="0" presStyleCnt="3">
        <dgm:presLayoutVars>
          <dgm:bulletEnabled val="1"/>
        </dgm:presLayoutVars>
      </dgm:prSet>
      <dgm:spPr/>
    </dgm:pt>
    <dgm:pt modelId="{BD032039-60F5-470D-9B7E-43C4813743CC}" type="pres">
      <dgm:prSet presAssocID="{8C9486C0-AF74-464C-96A3-7751A9A078C8}" presName="sp" presStyleCnt="0"/>
      <dgm:spPr/>
    </dgm:pt>
    <dgm:pt modelId="{50058C15-3B99-4513-9584-8AA88AC6E4A3}" type="pres">
      <dgm:prSet presAssocID="{D88CD931-2921-450C-B363-4038138FB08B}" presName="linNode" presStyleCnt="0"/>
      <dgm:spPr/>
    </dgm:pt>
    <dgm:pt modelId="{C87B4F45-8834-4237-B31E-6FDB6205905A}" type="pres">
      <dgm:prSet presAssocID="{D88CD931-2921-450C-B363-4038138FB08B}" presName="parentText" presStyleLbl="node1" presStyleIdx="1" presStyleCnt="3">
        <dgm:presLayoutVars>
          <dgm:chMax val="1"/>
          <dgm:bulletEnabled val="1"/>
        </dgm:presLayoutVars>
      </dgm:prSet>
      <dgm:spPr/>
    </dgm:pt>
    <dgm:pt modelId="{84DA90CA-ECC5-45B4-B30A-7FE86E69D348}" type="pres">
      <dgm:prSet presAssocID="{D88CD931-2921-450C-B363-4038138FB08B}" presName="descendantText" presStyleLbl="alignAccFollowNode1" presStyleIdx="1" presStyleCnt="3">
        <dgm:presLayoutVars>
          <dgm:bulletEnabled val="1"/>
        </dgm:presLayoutVars>
      </dgm:prSet>
      <dgm:spPr/>
    </dgm:pt>
    <dgm:pt modelId="{AB751AF5-512B-4FFC-8204-30A0AC165896}" type="pres">
      <dgm:prSet presAssocID="{EB9D571E-024A-4C09-969D-436F3252BA1C}" presName="sp" presStyleCnt="0"/>
      <dgm:spPr/>
    </dgm:pt>
    <dgm:pt modelId="{1680BD31-BC62-4568-B7E5-698F98E60DD9}" type="pres">
      <dgm:prSet presAssocID="{ABE9D3C9-36A3-47FB-9998-E71F6B963234}" presName="linNode" presStyleCnt="0"/>
      <dgm:spPr/>
    </dgm:pt>
    <dgm:pt modelId="{6647B391-4B1E-40AA-8A95-64AAD5237ED7}" type="pres">
      <dgm:prSet presAssocID="{ABE9D3C9-36A3-47FB-9998-E71F6B963234}" presName="parentText" presStyleLbl="node1" presStyleIdx="2" presStyleCnt="3">
        <dgm:presLayoutVars>
          <dgm:chMax val="1"/>
          <dgm:bulletEnabled val="1"/>
        </dgm:presLayoutVars>
      </dgm:prSet>
      <dgm:spPr/>
    </dgm:pt>
    <dgm:pt modelId="{C0AA1460-F09D-4B98-90BC-579AC4221F45}" type="pres">
      <dgm:prSet presAssocID="{ABE9D3C9-36A3-47FB-9998-E71F6B963234}" presName="descendantText" presStyleLbl="alignAccFollowNode1" presStyleIdx="2" presStyleCnt="3">
        <dgm:presLayoutVars>
          <dgm:bulletEnabled val="1"/>
        </dgm:presLayoutVars>
      </dgm:prSet>
      <dgm:spPr/>
    </dgm:pt>
  </dgm:ptLst>
  <dgm:cxnLst>
    <dgm:cxn modelId="{E7F61505-61FA-45AA-BD42-4FD3A63DBC20}" type="presOf" srcId="{304CDFA9-915D-4D20-A80E-DF43685CD6F5}" destId="{BC483D51-095A-4B82-A887-52BBC2B2F53E}" srcOrd="0" destOrd="0" presId="urn:microsoft.com/office/officeart/2005/8/layout/vList5"/>
    <dgm:cxn modelId="{FD020608-669A-489D-B890-1333B39359AE}" type="presOf" srcId="{7FD245AB-32C8-4909-809B-7DB779E524B6}" destId="{84DA90CA-ECC5-45B4-B30A-7FE86E69D348}" srcOrd="0" destOrd="0" presId="urn:microsoft.com/office/officeart/2005/8/layout/vList5"/>
    <dgm:cxn modelId="{1818711F-76EA-4775-B0A3-7366F7F00363}" srcId="{1DA9F051-EDB6-44D9-B4A4-F0F4BC16B4C8}" destId="{0133B09A-B7AB-4F6A-B67E-A9F121F89763}" srcOrd="0" destOrd="0" parTransId="{A4A97849-86AE-4B1D-BF53-7F6F01F0EFE0}" sibTransId="{7DE30D71-C84A-4746-97FA-1FFC1B241C1F}"/>
    <dgm:cxn modelId="{FC912020-0D0F-4F1B-8359-904E2F9E5DAD}" type="presOf" srcId="{1DA9F051-EDB6-44D9-B4A4-F0F4BC16B4C8}" destId="{5B5B7DFF-ECF4-4B17-A9D0-DCC181329437}" srcOrd="0" destOrd="0" presId="urn:microsoft.com/office/officeart/2005/8/layout/vList5"/>
    <dgm:cxn modelId="{8001095C-5848-4B8C-BA56-AD5278D608D1}" type="presOf" srcId="{EEE9B01A-7A14-432D-9F91-9EA0A9EED616}" destId="{C0AA1460-F09D-4B98-90BC-579AC4221F45}" srcOrd="0" destOrd="0" presId="urn:microsoft.com/office/officeart/2005/8/layout/vList5"/>
    <dgm:cxn modelId="{E491D944-ED8D-4CF8-87C6-671BEADC55E1}" srcId="{304CDFA9-915D-4D20-A80E-DF43685CD6F5}" destId="{ABE9D3C9-36A3-47FB-9998-E71F6B963234}" srcOrd="2" destOrd="0" parTransId="{9635BA95-44E1-45B7-B131-06DDA17A111A}" sibTransId="{8CD83C1F-9FF0-4AA1-8683-9C68EFE21213}"/>
    <dgm:cxn modelId="{185DC346-1D60-49CD-94F7-433B57A9674E}" type="presOf" srcId="{0133B09A-B7AB-4F6A-B67E-A9F121F89763}" destId="{879EE420-5B70-4BF6-9597-A88B036D5BD0}" srcOrd="0" destOrd="0" presId="urn:microsoft.com/office/officeart/2005/8/layout/vList5"/>
    <dgm:cxn modelId="{DBB3E874-0576-4265-9C68-EC346BE14CE8}" srcId="{D88CD931-2921-450C-B363-4038138FB08B}" destId="{7FD245AB-32C8-4909-809B-7DB779E524B6}" srcOrd="0" destOrd="0" parTransId="{AE90D9A1-0543-41B2-816D-CC6B39E49FA6}" sibTransId="{B51FC134-5C54-42A0-844B-2426FC3B58EC}"/>
    <dgm:cxn modelId="{8254838C-E164-4DB3-96A5-A1AB18B554C9}" srcId="{304CDFA9-915D-4D20-A80E-DF43685CD6F5}" destId="{1DA9F051-EDB6-44D9-B4A4-F0F4BC16B4C8}" srcOrd="0" destOrd="0" parTransId="{7B0482A7-8CBC-4752-8DCB-7F93424C5616}" sibTransId="{8C9486C0-AF74-464C-96A3-7751A9A078C8}"/>
    <dgm:cxn modelId="{5077298F-C436-4DC3-BDD3-27BAC0E2ED24}" type="presOf" srcId="{ABE9D3C9-36A3-47FB-9998-E71F6B963234}" destId="{6647B391-4B1E-40AA-8A95-64AAD5237ED7}" srcOrd="0" destOrd="0" presId="urn:microsoft.com/office/officeart/2005/8/layout/vList5"/>
    <dgm:cxn modelId="{8C0531CB-1BAF-4B0C-A8B0-84F91B3E6A61}" srcId="{ABE9D3C9-36A3-47FB-9998-E71F6B963234}" destId="{EEE9B01A-7A14-432D-9F91-9EA0A9EED616}" srcOrd="0" destOrd="0" parTransId="{5125CE0C-2109-45B3-9D03-A857277F4EB6}" sibTransId="{B5CCC1BC-7A40-427E-BC44-8DF0967D500E}"/>
    <dgm:cxn modelId="{A9FD95D1-C1B4-4CDF-A430-1BF82B0B59EF}" srcId="{304CDFA9-915D-4D20-A80E-DF43685CD6F5}" destId="{D88CD931-2921-450C-B363-4038138FB08B}" srcOrd="1" destOrd="0" parTransId="{7A80BBFC-0348-48F4-A66A-0EA46564CF59}" sibTransId="{EB9D571E-024A-4C09-969D-436F3252BA1C}"/>
    <dgm:cxn modelId="{7AC6F5FF-1CB9-4576-BCF2-7E62D9B4DA52}" type="presOf" srcId="{D88CD931-2921-450C-B363-4038138FB08B}" destId="{C87B4F45-8834-4237-B31E-6FDB6205905A}" srcOrd="0" destOrd="0" presId="urn:microsoft.com/office/officeart/2005/8/layout/vList5"/>
    <dgm:cxn modelId="{7DB18E91-0D1C-4D98-8DE6-3D7A6B4B211E}" type="presParOf" srcId="{BC483D51-095A-4B82-A887-52BBC2B2F53E}" destId="{969D4CA3-80EF-454D-A9CC-C173F25841FE}" srcOrd="0" destOrd="0" presId="urn:microsoft.com/office/officeart/2005/8/layout/vList5"/>
    <dgm:cxn modelId="{B4B0875D-6B38-41D5-BBED-D02A0A7122A3}" type="presParOf" srcId="{969D4CA3-80EF-454D-A9CC-C173F25841FE}" destId="{5B5B7DFF-ECF4-4B17-A9D0-DCC181329437}" srcOrd="0" destOrd="0" presId="urn:microsoft.com/office/officeart/2005/8/layout/vList5"/>
    <dgm:cxn modelId="{901D5774-A01F-4AE6-9C70-4FF4CE5EA2DF}" type="presParOf" srcId="{969D4CA3-80EF-454D-A9CC-C173F25841FE}" destId="{879EE420-5B70-4BF6-9597-A88B036D5BD0}" srcOrd="1" destOrd="0" presId="urn:microsoft.com/office/officeart/2005/8/layout/vList5"/>
    <dgm:cxn modelId="{5F6C81DC-034E-473A-AE6A-8488FA96B196}" type="presParOf" srcId="{BC483D51-095A-4B82-A887-52BBC2B2F53E}" destId="{BD032039-60F5-470D-9B7E-43C4813743CC}" srcOrd="1" destOrd="0" presId="urn:microsoft.com/office/officeart/2005/8/layout/vList5"/>
    <dgm:cxn modelId="{A675CF03-FD98-4F5D-916D-79E62530B33C}" type="presParOf" srcId="{BC483D51-095A-4B82-A887-52BBC2B2F53E}" destId="{50058C15-3B99-4513-9584-8AA88AC6E4A3}" srcOrd="2" destOrd="0" presId="urn:microsoft.com/office/officeart/2005/8/layout/vList5"/>
    <dgm:cxn modelId="{3685BA0F-3161-4A40-B49F-2BA6128BC622}" type="presParOf" srcId="{50058C15-3B99-4513-9584-8AA88AC6E4A3}" destId="{C87B4F45-8834-4237-B31E-6FDB6205905A}" srcOrd="0" destOrd="0" presId="urn:microsoft.com/office/officeart/2005/8/layout/vList5"/>
    <dgm:cxn modelId="{D9F71F57-839F-4E03-9E5B-4E632B123902}" type="presParOf" srcId="{50058C15-3B99-4513-9584-8AA88AC6E4A3}" destId="{84DA90CA-ECC5-45B4-B30A-7FE86E69D348}" srcOrd="1" destOrd="0" presId="urn:microsoft.com/office/officeart/2005/8/layout/vList5"/>
    <dgm:cxn modelId="{BCCE30E6-180C-4BBF-BB2A-AB3C5EEC6329}" type="presParOf" srcId="{BC483D51-095A-4B82-A887-52BBC2B2F53E}" destId="{AB751AF5-512B-4FFC-8204-30A0AC165896}" srcOrd="3" destOrd="0" presId="urn:microsoft.com/office/officeart/2005/8/layout/vList5"/>
    <dgm:cxn modelId="{B403135A-4E1E-4BA0-A61C-EFBB5552CA9F}" type="presParOf" srcId="{BC483D51-095A-4B82-A887-52BBC2B2F53E}" destId="{1680BD31-BC62-4568-B7E5-698F98E60DD9}" srcOrd="4" destOrd="0" presId="urn:microsoft.com/office/officeart/2005/8/layout/vList5"/>
    <dgm:cxn modelId="{AF03E8FE-8437-43A8-A7A7-8FE51AA661DB}" type="presParOf" srcId="{1680BD31-BC62-4568-B7E5-698F98E60DD9}" destId="{6647B391-4B1E-40AA-8A95-64AAD5237ED7}" srcOrd="0" destOrd="0" presId="urn:microsoft.com/office/officeart/2005/8/layout/vList5"/>
    <dgm:cxn modelId="{75850A23-334D-4694-A4F1-FD1184B004B2}" type="presParOf" srcId="{1680BD31-BC62-4568-B7E5-698F98E60DD9}" destId="{C0AA1460-F09D-4B98-90BC-579AC4221F45}"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0508826-AB50-4768-9A17-ABBB0B7A1A5B}" type="doc">
      <dgm:prSet loTypeId="urn:microsoft.com/office/officeart/2005/8/layout/vList5" loCatId="list" qsTypeId="urn:microsoft.com/office/officeart/2005/8/quickstyle/simple1" qsCatId="simple" csTypeId="urn:microsoft.com/office/officeart/2005/8/colors/accent1_2" csCatId="accent1" phldr="1"/>
      <dgm:spPr/>
      <dgm:t>
        <a:bodyPr/>
        <a:lstStyle/>
        <a:p>
          <a:pPr rtl="1"/>
          <a:endParaRPr lang="he-IL"/>
        </a:p>
      </dgm:t>
    </dgm:pt>
    <dgm:pt modelId="{0C211F8C-D91A-49AE-86A4-21D068CB5D6C}">
      <dgm:prSet phldrT="[טקסט]"/>
      <dgm:spPr/>
      <dgm:t>
        <a:bodyPr/>
        <a:lstStyle/>
        <a:p>
          <a:pPr rtl="1"/>
          <a:r>
            <a:rPr lang="he-IL" dirty="0"/>
            <a:t>צמיחה גלובלית</a:t>
          </a:r>
        </a:p>
      </dgm:t>
    </dgm:pt>
    <dgm:pt modelId="{D3C18BB8-72A9-461C-A45F-ADF5843A96AA}" type="parTrans" cxnId="{667EB742-0E59-44DE-8783-68628D52ECED}">
      <dgm:prSet/>
      <dgm:spPr/>
      <dgm:t>
        <a:bodyPr/>
        <a:lstStyle/>
        <a:p>
          <a:pPr rtl="1"/>
          <a:endParaRPr lang="he-IL"/>
        </a:p>
      </dgm:t>
    </dgm:pt>
    <dgm:pt modelId="{9EE17BD5-2F0D-4190-A0B4-0F789F44EE5D}" type="sibTrans" cxnId="{667EB742-0E59-44DE-8783-68628D52ECED}">
      <dgm:prSet/>
      <dgm:spPr/>
      <dgm:t>
        <a:bodyPr/>
        <a:lstStyle/>
        <a:p>
          <a:pPr rtl="1"/>
          <a:endParaRPr lang="he-IL"/>
        </a:p>
      </dgm:t>
    </dgm:pt>
    <dgm:pt modelId="{0265C845-78D1-4F59-BFA5-57247BFA6B61}">
      <dgm:prSet phldrT="[טקסט]"/>
      <dgm:spPr/>
      <dgm:t>
        <a:bodyPr/>
        <a:lstStyle/>
        <a:p>
          <a:pPr rtl="1"/>
          <a:r>
            <a:rPr lang="he-IL" dirty="0"/>
            <a:t>זארה הציגה אסטרטגיה של ניהול גלובלי עם סניפים ברחבי העולם, מה שמאפשר גידול מהיר והתאמה לצרכים מקומיים. ניתן ללמוד על חשיבות הצמיחה וההתאמה לשווקים שונים גם בחברת </a:t>
          </a:r>
          <a:r>
            <a:rPr lang="he-IL" dirty="0" err="1"/>
            <a:t>עדליא</a:t>
          </a:r>
          <a:r>
            <a:rPr lang="he-IL" dirty="0"/>
            <a:t>.</a:t>
          </a:r>
        </a:p>
      </dgm:t>
    </dgm:pt>
    <dgm:pt modelId="{82B1F2BE-1105-4AF8-9F0B-E16584044374}" type="parTrans" cxnId="{CFAF6EBE-9955-48BF-BE14-61F6DA9D5547}">
      <dgm:prSet/>
      <dgm:spPr/>
      <dgm:t>
        <a:bodyPr/>
        <a:lstStyle/>
        <a:p>
          <a:pPr rtl="1"/>
          <a:endParaRPr lang="he-IL"/>
        </a:p>
      </dgm:t>
    </dgm:pt>
    <dgm:pt modelId="{D1C38AA7-361A-4EDB-883E-C329CECCDE29}" type="sibTrans" cxnId="{CFAF6EBE-9955-48BF-BE14-61F6DA9D5547}">
      <dgm:prSet/>
      <dgm:spPr/>
      <dgm:t>
        <a:bodyPr/>
        <a:lstStyle/>
        <a:p>
          <a:pPr rtl="1"/>
          <a:endParaRPr lang="he-IL"/>
        </a:p>
      </dgm:t>
    </dgm:pt>
    <dgm:pt modelId="{2EDB30C3-8098-4A3A-9D19-F51025C59AEE}">
      <dgm:prSet phldrT="[טקסט]"/>
      <dgm:spPr/>
      <dgm:t>
        <a:bodyPr/>
        <a:lstStyle/>
        <a:p>
          <a:pPr rtl="1"/>
          <a:r>
            <a:rPr lang="he-IL" dirty="0"/>
            <a:t>אסטרטגיית שיווק</a:t>
          </a:r>
        </a:p>
      </dgm:t>
    </dgm:pt>
    <dgm:pt modelId="{C200F321-4875-4130-BBF6-12A5DCC320F6}" type="parTrans" cxnId="{D2975217-1364-49DD-B5B1-D69D5E6F0AA7}">
      <dgm:prSet/>
      <dgm:spPr/>
      <dgm:t>
        <a:bodyPr/>
        <a:lstStyle/>
        <a:p>
          <a:pPr rtl="1"/>
          <a:endParaRPr lang="he-IL"/>
        </a:p>
      </dgm:t>
    </dgm:pt>
    <dgm:pt modelId="{EAF66859-E897-4BB3-9698-B097D75FC6AA}" type="sibTrans" cxnId="{D2975217-1364-49DD-B5B1-D69D5E6F0AA7}">
      <dgm:prSet/>
      <dgm:spPr/>
      <dgm:t>
        <a:bodyPr/>
        <a:lstStyle/>
        <a:p>
          <a:pPr rtl="1"/>
          <a:endParaRPr lang="he-IL"/>
        </a:p>
      </dgm:t>
    </dgm:pt>
    <dgm:pt modelId="{0629A236-925E-4317-AD2B-A1B36797D20D}">
      <dgm:prSet phldrT="[טקסט]"/>
      <dgm:spPr/>
      <dgm:t>
        <a:bodyPr/>
        <a:lstStyle/>
        <a:p>
          <a:pPr rtl="1"/>
          <a:r>
            <a:rPr lang="he-IL" dirty="0"/>
            <a:t>זארה שמה דגש על עיצוב מהיר ומגוון, קמפיינים בינלאומיים ויכולת תגובה מהירה לשוק. ניהול חנויות עצמאי ושיווק ישיר מאפשרים לזארה להוביל בשוק.  ניתן ליישם כך בחברת </a:t>
          </a:r>
          <a:r>
            <a:rPr lang="he-IL" dirty="0" err="1"/>
            <a:t>עדלידא</a:t>
          </a:r>
          <a:endParaRPr lang="he-IL" dirty="0"/>
        </a:p>
      </dgm:t>
    </dgm:pt>
    <dgm:pt modelId="{B83D5C13-E76D-43F9-A755-8FEC1F70C2C9}" type="parTrans" cxnId="{ED5DE6FA-F4EF-46EE-BDA4-266B1DED7F33}">
      <dgm:prSet/>
      <dgm:spPr/>
      <dgm:t>
        <a:bodyPr/>
        <a:lstStyle/>
        <a:p>
          <a:pPr rtl="1"/>
          <a:endParaRPr lang="he-IL"/>
        </a:p>
      </dgm:t>
    </dgm:pt>
    <dgm:pt modelId="{F79D909E-EE61-40FF-96B1-899EE087E07C}" type="sibTrans" cxnId="{ED5DE6FA-F4EF-46EE-BDA4-266B1DED7F33}">
      <dgm:prSet/>
      <dgm:spPr/>
      <dgm:t>
        <a:bodyPr/>
        <a:lstStyle/>
        <a:p>
          <a:pPr rtl="1"/>
          <a:endParaRPr lang="he-IL"/>
        </a:p>
      </dgm:t>
    </dgm:pt>
    <dgm:pt modelId="{71D4930E-4507-4ACA-A061-34D5E61C8FD5}">
      <dgm:prSet phldrT="[טקסט]"/>
      <dgm:spPr/>
      <dgm:t>
        <a:bodyPr/>
        <a:lstStyle/>
        <a:p>
          <a:pPr rtl="1"/>
          <a:r>
            <a:rPr lang="he-IL" dirty="0"/>
            <a:t>צמיחה לפלח שוק נוסף</a:t>
          </a:r>
        </a:p>
      </dgm:t>
    </dgm:pt>
    <dgm:pt modelId="{9A3BCD6A-CB03-438E-9D06-1D2981499E65}" type="parTrans" cxnId="{61BA87CF-10AB-4231-8CF7-D74CCE76053D}">
      <dgm:prSet/>
      <dgm:spPr/>
      <dgm:t>
        <a:bodyPr/>
        <a:lstStyle/>
        <a:p>
          <a:pPr rtl="1"/>
          <a:endParaRPr lang="he-IL"/>
        </a:p>
      </dgm:t>
    </dgm:pt>
    <dgm:pt modelId="{E799DE70-182C-44F5-BF87-14C082912BE1}" type="sibTrans" cxnId="{61BA87CF-10AB-4231-8CF7-D74CCE76053D}">
      <dgm:prSet/>
      <dgm:spPr/>
      <dgm:t>
        <a:bodyPr/>
        <a:lstStyle/>
        <a:p>
          <a:pPr rtl="1"/>
          <a:endParaRPr lang="he-IL"/>
        </a:p>
      </dgm:t>
    </dgm:pt>
    <dgm:pt modelId="{6DCC5510-AE53-4175-8F1F-F49884019B2B}">
      <dgm:prSet phldrT="[טקסט]"/>
      <dgm:spPr/>
      <dgm:t>
        <a:bodyPr/>
        <a:lstStyle/>
        <a:p>
          <a:pPr rtl="1"/>
          <a:r>
            <a:rPr lang="he-IL" dirty="0"/>
            <a:t>זארה הרחיבה את פעילותה לפלחי שוק נוספים כגון </a:t>
          </a:r>
          <a:r>
            <a:rPr lang="en-US" dirty="0"/>
            <a:t>Zara Home </a:t>
          </a:r>
          <a:r>
            <a:rPr lang="he-IL" dirty="0"/>
            <a:t>ותחום הספורט. חברת </a:t>
          </a:r>
          <a:r>
            <a:rPr lang="he-IL" dirty="0" err="1"/>
            <a:t>עדליא</a:t>
          </a:r>
          <a:r>
            <a:rPr lang="he-IL" dirty="0"/>
            <a:t> יכולה ללמוד מהאסטרטגיה הזו ולבחון אפשרויות להתרחבות ושירותים נוספים בתחום הייעוץ הכלכלי והאסטרטגי.</a:t>
          </a:r>
        </a:p>
      </dgm:t>
    </dgm:pt>
    <dgm:pt modelId="{5CE1F495-5344-4007-879D-D11EB2894787}" type="parTrans" cxnId="{24D4EABF-4E3F-4EAD-B0CC-142BBBEBB731}">
      <dgm:prSet/>
      <dgm:spPr/>
      <dgm:t>
        <a:bodyPr/>
        <a:lstStyle/>
        <a:p>
          <a:pPr rtl="1"/>
          <a:endParaRPr lang="he-IL"/>
        </a:p>
      </dgm:t>
    </dgm:pt>
    <dgm:pt modelId="{5E491E95-8C16-40EA-8083-2D5C264C69F3}" type="sibTrans" cxnId="{24D4EABF-4E3F-4EAD-B0CC-142BBBEBB731}">
      <dgm:prSet/>
      <dgm:spPr/>
      <dgm:t>
        <a:bodyPr/>
        <a:lstStyle/>
        <a:p>
          <a:pPr rtl="1"/>
          <a:endParaRPr lang="he-IL"/>
        </a:p>
      </dgm:t>
    </dgm:pt>
    <dgm:pt modelId="{2322D67A-DEA5-4AE5-8CE1-8FD3B3E5104C}" type="pres">
      <dgm:prSet presAssocID="{E0508826-AB50-4768-9A17-ABBB0B7A1A5B}" presName="Name0" presStyleCnt="0">
        <dgm:presLayoutVars>
          <dgm:dir/>
          <dgm:animLvl val="lvl"/>
          <dgm:resizeHandles val="exact"/>
        </dgm:presLayoutVars>
      </dgm:prSet>
      <dgm:spPr/>
    </dgm:pt>
    <dgm:pt modelId="{57457E27-0798-4BE6-932E-39A980E06418}" type="pres">
      <dgm:prSet presAssocID="{0C211F8C-D91A-49AE-86A4-21D068CB5D6C}" presName="linNode" presStyleCnt="0"/>
      <dgm:spPr/>
    </dgm:pt>
    <dgm:pt modelId="{F93E4851-6CDB-407B-8F18-7747867B9407}" type="pres">
      <dgm:prSet presAssocID="{0C211F8C-D91A-49AE-86A4-21D068CB5D6C}" presName="parentText" presStyleLbl="node1" presStyleIdx="0" presStyleCnt="3">
        <dgm:presLayoutVars>
          <dgm:chMax val="1"/>
          <dgm:bulletEnabled val="1"/>
        </dgm:presLayoutVars>
      </dgm:prSet>
      <dgm:spPr/>
    </dgm:pt>
    <dgm:pt modelId="{E47FEF31-E7B9-4132-8734-E545446CD461}" type="pres">
      <dgm:prSet presAssocID="{0C211F8C-D91A-49AE-86A4-21D068CB5D6C}" presName="descendantText" presStyleLbl="alignAccFollowNode1" presStyleIdx="0" presStyleCnt="3">
        <dgm:presLayoutVars>
          <dgm:bulletEnabled val="1"/>
        </dgm:presLayoutVars>
      </dgm:prSet>
      <dgm:spPr/>
    </dgm:pt>
    <dgm:pt modelId="{BFC45B72-D8CE-49A0-AF56-F0DA05E36201}" type="pres">
      <dgm:prSet presAssocID="{9EE17BD5-2F0D-4190-A0B4-0F789F44EE5D}" presName="sp" presStyleCnt="0"/>
      <dgm:spPr/>
    </dgm:pt>
    <dgm:pt modelId="{92B2A2B9-E07E-4F60-AAC0-07AA4C94CB9A}" type="pres">
      <dgm:prSet presAssocID="{2EDB30C3-8098-4A3A-9D19-F51025C59AEE}" presName="linNode" presStyleCnt="0"/>
      <dgm:spPr/>
    </dgm:pt>
    <dgm:pt modelId="{92758791-72D2-4AD9-B5B6-A75BB13E9C97}" type="pres">
      <dgm:prSet presAssocID="{2EDB30C3-8098-4A3A-9D19-F51025C59AEE}" presName="parentText" presStyleLbl="node1" presStyleIdx="1" presStyleCnt="3">
        <dgm:presLayoutVars>
          <dgm:chMax val="1"/>
          <dgm:bulletEnabled val="1"/>
        </dgm:presLayoutVars>
      </dgm:prSet>
      <dgm:spPr/>
    </dgm:pt>
    <dgm:pt modelId="{C227DAD6-98D6-430D-8D48-6B37512C1543}" type="pres">
      <dgm:prSet presAssocID="{2EDB30C3-8098-4A3A-9D19-F51025C59AEE}" presName="descendantText" presStyleLbl="alignAccFollowNode1" presStyleIdx="1" presStyleCnt="3">
        <dgm:presLayoutVars>
          <dgm:bulletEnabled val="1"/>
        </dgm:presLayoutVars>
      </dgm:prSet>
      <dgm:spPr/>
    </dgm:pt>
    <dgm:pt modelId="{CC865773-6CD0-4D29-8626-D34C6C9C01B5}" type="pres">
      <dgm:prSet presAssocID="{EAF66859-E897-4BB3-9698-B097D75FC6AA}" presName="sp" presStyleCnt="0"/>
      <dgm:spPr/>
    </dgm:pt>
    <dgm:pt modelId="{E43C7A5B-0778-423A-8DF7-3826FB3466C6}" type="pres">
      <dgm:prSet presAssocID="{71D4930E-4507-4ACA-A061-34D5E61C8FD5}" presName="linNode" presStyleCnt="0"/>
      <dgm:spPr/>
    </dgm:pt>
    <dgm:pt modelId="{929DFF7A-7C49-48DE-BF9A-CE4E4BF0632A}" type="pres">
      <dgm:prSet presAssocID="{71D4930E-4507-4ACA-A061-34D5E61C8FD5}" presName="parentText" presStyleLbl="node1" presStyleIdx="2" presStyleCnt="3">
        <dgm:presLayoutVars>
          <dgm:chMax val="1"/>
          <dgm:bulletEnabled val="1"/>
        </dgm:presLayoutVars>
      </dgm:prSet>
      <dgm:spPr/>
    </dgm:pt>
    <dgm:pt modelId="{0016FA34-9CF9-4F40-B2E6-C305BFEABE59}" type="pres">
      <dgm:prSet presAssocID="{71D4930E-4507-4ACA-A061-34D5E61C8FD5}" presName="descendantText" presStyleLbl="alignAccFollowNode1" presStyleIdx="2" presStyleCnt="3">
        <dgm:presLayoutVars>
          <dgm:bulletEnabled val="1"/>
        </dgm:presLayoutVars>
      </dgm:prSet>
      <dgm:spPr/>
    </dgm:pt>
  </dgm:ptLst>
  <dgm:cxnLst>
    <dgm:cxn modelId="{D2975217-1364-49DD-B5B1-D69D5E6F0AA7}" srcId="{E0508826-AB50-4768-9A17-ABBB0B7A1A5B}" destId="{2EDB30C3-8098-4A3A-9D19-F51025C59AEE}" srcOrd="1" destOrd="0" parTransId="{C200F321-4875-4130-BBF6-12A5DCC320F6}" sibTransId="{EAF66859-E897-4BB3-9698-B097D75FC6AA}"/>
    <dgm:cxn modelId="{7CF20C39-2D40-4E66-9D10-4374E313A31B}" type="presOf" srcId="{71D4930E-4507-4ACA-A061-34D5E61C8FD5}" destId="{929DFF7A-7C49-48DE-BF9A-CE4E4BF0632A}" srcOrd="0" destOrd="0" presId="urn:microsoft.com/office/officeart/2005/8/layout/vList5"/>
    <dgm:cxn modelId="{667EB742-0E59-44DE-8783-68628D52ECED}" srcId="{E0508826-AB50-4768-9A17-ABBB0B7A1A5B}" destId="{0C211F8C-D91A-49AE-86A4-21D068CB5D6C}" srcOrd="0" destOrd="0" parTransId="{D3C18BB8-72A9-461C-A45F-ADF5843A96AA}" sibTransId="{9EE17BD5-2F0D-4190-A0B4-0F789F44EE5D}"/>
    <dgm:cxn modelId="{1135B048-82AE-45D7-BE35-9B565FC1AD59}" type="presOf" srcId="{2EDB30C3-8098-4A3A-9D19-F51025C59AEE}" destId="{92758791-72D2-4AD9-B5B6-A75BB13E9C97}" srcOrd="0" destOrd="0" presId="urn:microsoft.com/office/officeart/2005/8/layout/vList5"/>
    <dgm:cxn modelId="{D6BE0D5A-73D7-491F-8799-522D3690F49D}" type="presOf" srcId="{0265C845-78D1-4F59-BFA5-57247BFA6B61}" destId="{E47FEF31-E7B9-4132-8734-E545446CD461}" srcOrd="0" destOrd="0" presId="urn:microsoft.com/office/officeart/2005/8/layout/vList5"/>
    <dgm:cxn modelId="{0ACD21AB-9124-4715-8CBF-B34FDBEF995A}" type="presOf" srcId="{0629A236-925E-4317-AD2B-A1B36797D20D}" destId="{C227DAD6-98D6-430D-8D48-6B37512C1543}" srcOrd="0" destOrd="0" presId="urn:microsoft.com/office/officeart/2005/8/layout/vList5"/>
    <dgm:cxn modelId="{CFAF6EBE-9955-48BF-BE14-61F6DA9D5547}" srcId="{0C211F8C-D91A-49AE-86A4-21D068CB5D6C}" destId="{0265C845-78D1-4F59-BFA5-57247BFA6B61}" srcOrd="0" destOrd="0" parTransId="{82B1F2BE-1105-4AF8-9F0B-E16584044374}" sibTransId="{D1C38AA7-361A-4EDB-883E-C329CECCDE29}"/>
    <dgm:cxn modelId="{24D4EABF-4E3F-4EAD-B0CC-142BBBEBB731}" srcId="{71D4930E-4507-4ACA-A061-34D5E61C8FD5}" destId="{6DCC5510-AE53-4175-8F1F-F49884019B2B}" srcOrd="0" destOrd="0" parTransId="{5CE1F495-5344-4007-879D-D11EB2894787}" sibTransId="{5E491E95-8C16-40EA-8083-2D5C264C69F3}"/>
    <dgm:cxn modelId="{A2641CC1-E199-44B4-B886-F51B9A34FCB5}" type="presOf" srcId="{6DCC5510-AE53-4175-8F1F-F49884019B2B}" destId="{0016FA34-9CF9-4F40-B2E6-C305BFEABE59}" srcOrd="0" destOrd="0" presId="urn:microsoft.com/office/officeart/2005/8/layout/vList5"/>
    <dgm:cxn modelId="{61BA87CF-10AB-4231-8CF7-D74CCE76053D}" srcId="{E0508826-AB50-4768-9A17-ABBB0B7A1A5B}" destId="{71D4930E-4507-4ACA-A061-34D5E61C8FD5}" srcOrd="2" destOrd="0" parTransId="{9A3BCD6A-CB03-438E-9D06-1D2981499E65}" sibTransId="{E799DE70-182C-44F5-BF87-14C082912BE1}"/>
    <dgm:cxn modelId="{E80FF0EF-B8BD-43B9-823F-3295C54A24CD}" type="presOf" srcId="{0C211F8C-D91A-49AE-86A4-21D068CB5D6C}" destId="{F93E4851-6CDB-407B-8F18-7747867B9407}" srcOrd="0" destOrd="0" presId="urn:microsoft.com/office/officeart/2005/8/layout/vList5"/>
    <dgm:cxn modelId="{8E7EE1F7-D914-447A-ADC1-333D719F14CF}" type="presOf" srcId="{E0508826-AB50-4768-9A17-ABBB0B7A1A5B}" destId="{2322D67A-DEA5-4AE5-8CE1-8FD3B3E5104C}" srcOrd="0" destOrd="0" presId="urn:microsoft.com/office/officeart/2005/8/layout/vList5"/>
    <dgm:cxn modelId="{ED5DE6FA-F4EF-46EE-BDA4-266B1DED7F33}" srcId="{2EDB30C3-8098-4A3A-9D19-F51025C59AEE}" destId="{0629A236-925E-4317-AD2B-A1B36797D20D}" srcOrd="0" destOrd="0" parTransId="{B83D5C13-E76D-43F9-A755-8FEC1F70C2C9}" sibTransId="{F79D909E-EE61-40FF-96B1-899EE087E07C}"/>
    <dgm:cxn modelId="{8A2B4EBA-1E42-4698-8D54-9307420A1440}" type="presParOf" srcId="{2322D67A-DEA5-4AE5-8CE1-8FD3B3E5104C}" destId="{57457E27-0798-4BE6-932E-39A980E06418}" srcOrd="0" destOrd="0" presId="urn:microsoft.com/office/officeart/2005/8/layout/vList5"/>
    <dgm:cxn modelId="{FCCD6D05-8F3A-4B76-83AC-657D7AB6ABB7}" type="presParOf" srcId="{57457E27-0798-4BE6-932E-39A980E06418}" destId="{F93E4851-6CDB-407B-8F18-7747867B9407}" srcOrd="0" destOrd="0" presId="urn:microsoft.com/office/officeart/2005/8/layout/vList5"/>
    <dgm:cxn modelId="{F45D5F42-DA83-4E21-ADCE-B106022ED1BB}" type="presParOf" srcId="{57457E27-0798-4BE6-932E-39A980E06418}" destId="{E47FEF31-E7B9-4132-8734-E545446CD461}" srcOrd="1" destOrd="0" presId="urn:microsoft.com/office/officeart/2005/8/layout/vList5"/>
    <dgm:cxn modelId="{459E19CF-1220-4433-91B3-D548E9D12A9D}" type="presParOf" srcId="{2322D67A-DEA5-4AE5-8CE1-8FD3B3E5104C}" destId="{BFC45B72-D8CE-49A0-AF56-F0DA05E36201}" srcOrd="1" destOrd="0" presId="urn:microsoft.com/office/officeart/2005/8/layout/vList5"/>
    <dgm:cxn modelId="{71609E62-E4B7-4D29-8C0E-6DD24D3CF014}" type="presParOf" srcId="{2322D67A-DEA5-4AE5-8CE1-8FD3B3E5104C}" destId="{92B2A2B9-E07E-4F60-AAC0-07AA4C94CB9A}" srcOrd="2" destOrd="0" presId="urn:microsoft.com/office/officeart/2005/8/layout/vList5"/>
    <dgm:cxn modelId="{1EC0FEBE-6F16-4169-BD87-04AA565AB6B3}" type="presParOf" srcId="{92B2A2B9-E07E-4F60-AAC0-07AA4C94CB9A}" destId="{92758791-72D2-4AD9-B5B6-A75BB13E9C97}" srcOrd="0" destOrd="0" presId="urn:microsoft.com/office/officeart/2005/8/layout/vList5"/>
    <dgm:cxn modelId="{18708429-7614-44AE-919E-4DA2B958BF5A}" type="presParOf" srcId="{92B2A2B9-E07E-4F60-AAC0-07AA4C94CB9A}" destId="{C227DAD6-98D6-430D-8D48-6B37512C1543}" srcOrd="1" destOrd="0" presId="urn:microsoft.com/office/officeart/2005/8/layout/vList5"/>
    <dgm:cxn modelId="{2122A8D3-B5E0-4FD8-AB8B-747B3BB3DFD0}" type="presParOf" srcId="{2322D67A-DEA5-4AE5-8CE1-8FD3B3E5104C}" destId="{CC865773-6CD0-4D29-8626-D34C6C9C01B5}" srcOrd="3" destOrd="0" presId="urn:microsoft.com/office/officeart/2005/8/layout/vList5"/>
    <dgm:cxn modelId="{EF8B6CCC-72E3-420E-ABCD-FC30D17119D3}" type="presParOf" srcId="{2322D67A-DEA5-4AE5-8CE1-8FD3B3E5104C}" destId="{E43C7A5B-0778-423A-8DF7-3826FB3466C6}" srcOrd="4" destOrd="0" presId="urn:microsoft.com/office/officeart/2005/8/layout/vList5"/>
    <dgm:cxn modelId="{945E1E22-E5A3-4733-AAB0-3EEA382A7787}" type="presParOf" srcId="{E43C7A5B-0778-423A-8DF7-3826FB3466C6}" destId="{929DFF7A-7C49-48DE-BF9A-CE4E4BF0632A}" srcOrd="0" destOrd="0" presId="urn:microsoft.com/office/officeart/2005/8/layout/vList5"/>
    <dgm:cxn modelId="{0D99EABD-4A10-4DAD-A01D-0F02113191CB}" type="presParOf" srcId="{E43C7A5B-0778-423A-8DF7-3826FB3466C6}" destId="{0016FA34-9CF9-4F40-B2E6-C305BFEABE59}"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05ABB-0145-4AC8-AB56-4920F2054B2C}">
      <dsp:nvSpPr>
        <dsp:cNvPr id="0" name=""/>
        <dsp:cNvSpPr/>
      </dsp:nvSpPr>
      <dsp:spPr>
        <a:xfrm>
          <a:off x="3081244" y="124355"/>
          <a:ext cx="2572879" cy="2572879"/>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rtl="1">
            <a:lnSpc>
              <a:spcPct val="90000"/>
            </a:lnSpc>
            <a:spcBef>
              <a:spcPct val="0"/>
            </a:spcBef>
            <a:spcAft>
              <a:spcPct val="35000"/>
            </a:spcAft>
            <a:buFont typeface="Arial" panose="020B0604020202020204" pitchFamily="34" charset="0"/>
            <a:buNone/>
          </a:pPr>
          <a:r>
            <a:rPr lang="en-US" sz="1800" b="1" i="0" kern="1200" dirty="0"/>
            <a:t> ADALYA </a:t>
          </a:r>
          <a:r>
            <a:rPr lang="he-IL" sz="1800" b="1" i="0" kern="1200" dirty="0"/>
            <a:t>תהיה חברת ייעוץ וניהול המתמחה בניהול תהליכי שינוי ובייעוץ מעשי וערכי </a:t>
          </a:r>
        </a:p>
        <a:p>
          <a:pPr marL="0" lvl="0" indent="0" algn="ctr" defTabSz="800100" rtl="1">
            <a:lnSpc>
              <a:spcPct val="90000"/>
            </a:lnSpc>
            <a:spcBef>
              <a:spcPct val="0"/>
            </a:spcBef>
            <a:spcAft>
              <a:spcPct val="35000"/>
            </a:spcAft>
            <a:buFont typeface="Arial" panose="020B0604020202020204" pitchFamily="34" charset="0"/>
            <a:buNone/>
          </a:pPr>
          <a:endParaRPr lang="he-IL" sz="1300" kern="1200" dirty="0"/>
        </a:p>
      </dsp:txBody>
      <dsp:txXfrm>
        <a:off x="3424295" y="574609"/>
        <a:ext cx="1886778" cy="1157795"/>
      </dsp:txXfrm>
    </dsp:sp>
    <dsp:sp modelId="{78150E9F-39E1-4EB4-9718-5F6BDDA72EAC}">
      <dsp:nvSpPr>
        <dsp:cNvPr id="0" name=""/>
        <dsp:cNvSpPr/>
      </dsp:nvSpPr>
      <dsp:spPr>
        <a:xfrm>
          <a:off x="4009625" y="1732405"/>
          <a:ext cx="2572879" cy="2572879"/>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rtl="1">
            <a:lnSpc>
              <a:spcPct val="90000"/>
            </a:lnSpc>
            <a:spcBef>
              <a:spcPct val="0"/>
            </a:spcBef>
            <a:spcAft>
              <a:spcPct val="35000"/>
            </a:spcAft>
            <a:buFont typeface="Arial" panose="020B0604020202020204" pitchFamily="34" charset="0"/>
            <a:buNone/>
          </a:pPr>
          <a:r>
            <a:rPr lang="en-US" sz="1800" b="1" i="0" kern="1200" dirty="0"/>
            <a:t>​ ADALYA </a:t>
          </a:r>
          <a:r>
            <a:rPr lang="he-IL" sz="1800" b="1" i="0" kern="1200" dirty="0"/>
            <a:t>תסייע ללקוחותיה ליצור השפעה חיובית עם ערך</a:t>
          </a:r>
        </a:p>
        <a:p>
          <a:pPr marL="0" lvl="0" indent="0" algn="ctr" defTabSz="800100" rtl="1">
            <a:lnSpc>
              <a:spcPct val="90000"/>
            </a:lnSpc>
            <a:spcBef>
              <a:spcPct val="0"/>
            </a:spcBef>
            <a:spcAft>
              <a:spcPct val="35000"/>
            </a:spcAft>
            <a:buFont typeface="Arial" panose="020B0604020202020204" pitchFamily="34" charset="0"/>
            <a:buNone/>
          </a:pPr>
          <a:endParaRPr lang="he-IL" sz="1200" kern="1200" dirty="0"/>
        </a:p>
      </dsp:txBody>
      <dsp:txXfrm>
        <a:off x="4796497" y="2397066"/>
        <a:ext cx="1543727" cy="1415083"/>
      </dsp:txXfrm>
    </dsp:sp>
    <dsp:sp modelId="{9FCD51FE-F96D-481B-B3EF-E7AB549BA8C4}">
      <dsp:nvSpPr>
        <dsp:cNvPr id="0" name=""/>
        <dsp:cNvSpPr/>
      </dsp:nvSpPr>
      <dsp:spPr>
        <a:xfrm>
          <a:off x="2152864" y="1732405"/>
          <a:ext cx="2572879" cy="2572879"/>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rtl="1">
            <a:lnSpc>
              <a:spcPct val="90000"/>
            </a:lnSpc>
            <a:spcBef>
              <a:spcPct val="0"/>
            </a:spcBef>
            <a:spcAft>
              <a:spcPct val="35000"/>
            </a:spcAft>
            <a:buFont typeface="Arial" panose="020B0604020202020204" pitchFamily="34" charset="0"/>
            <a:buNone/>
          </a:pPr>
          <a:r>
            <a:rPr lang="en-US" sz="1800" b="1" i="0" kern="1200" dirty="0"/>
            <a:t>​ ADALYA </a:t>
          </a:r>
          <a:r>
            <a:rPr lang="he-IL" sz="1800" b="1" i="0" kern="1200" dirty="0"/>
            <a:t>תשמר בעובדים תחושת שליחות, גאווה ושייכות ותעודד אותם למצוינות ולהשפעה אישית וערכית </a:t>
          </a:r>
        </a:p>
        <a:p>
          <a:pPr marL="0" lvl="0" indent="0" algn="ctr" defTabSz="800100" rtl="1">
            <a:lnSpc>
              <a:spcPct val="90000"/>
            </a:lnSpc>
            <a:spcBef>
              <a:spcPct val="0"/>
            </a:spcBef>
            <a:spcAft>
              <a:spcPct val="35000"/>
            </a:spcAft>
            <a:buFont typeface="Arial" panose="020B0604020202020204" pitchFamily="34" charset="0"/>
            <a:buNone/>
          </a:pPr>
          <a:endParaRPr lang="he-IL" sz="1400" kern="1200" dirty="0"/>
        </a:p>
      </dsp:txBody>
      <dsp:txXfrm>
        <a:off x="2395143" y="2397066"/>
        <a:ext cx="1543727" cy="14150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950FB-7C1E-43AF-A7FA-9660C0DD4C2A}">
      <dsp:nvSpPr>
        <dsp:cNvPr id="0" name=""/>
        <dsp:cNvSpPr/>
      </dsp:nvSpPr>
      <dsp:spPr>
        <a:xfrm>
          <a:off x="468006" y="13560"/>
          <a:ext cx="1905313" cy="1312760"/>
        </a:xfrm>
        <a:prstGeom prst="round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000" t="1000" r="-1000" b="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EA5CE7-99DF-43E0-8E48-C479044ACFE6}">
      <dsp:nvSpPr>
        <dsp:cNvPr id="0" name=""/>
        <dsp:cNvSpPr/>
      </dsp:nvSpPr>
      <dsp:spPr>
        <a:xfrm>
          <a:off x="387792" y="1315320"/>
          <a:ext cx="1905313" cy="706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rtl="1">
            <a:lnSpc>
              <a:spcPct val="90000"/>
            </a:lnSpc>
            <a:spcBef>
              <a:spcPct val="0"/>
            </a:spcBef>
            <a:spcAft>
              <a:spcPct val="35000"/>
            </a:spcAft>
            <a:buNone/>
          </a:pPr>
          <a:r>
            <a:rPr lang="he-IL" sz="2100" b="1" kern="1200" dirty="0"/>
            <a:t>משרד התחבורה</a:t>
          </a:r>
        </a:p>
      </dsp:txBody>
      <dsp:txXfrm>
        <a:off x="387792" y="1315320"/>
        <a:ext cx="1905313" cy="706871"/>
      </dsp:txXfrm>
    </dsp:sp>
    <dsp:sp modelId="{352C22C7-F80C-4CED-9767-883B9457AC81}">
      <dsp:nvSpPr>
        <dsp:cNvPr id="0" name=""/>
        <dsp:cNvSpPr/>
      </dsp:nvSpPr>
      <dsp:spPr>
        <a:xfrm>
          <a:off x="2483717" y="2559"/>
          <a:ext cx="1905313" cy="1312760"/>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102285-08C6-489F-91FA-F26723BD57A2}">
      <dsp:nvSpPr>
        <dsp:cNvPr id="0" name=""/>
        <dsp:cNvSpPr/>
      </dsp:nvSpPr>
      <dsp:spPr>
        <a:xfrm>
          <a:off x="2483717" y="1315320"/>
          <a:ext cx="1905313" cy="706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rtl="1">
            <a:lnSpc>
              <a:spcPct val="90000"/>
            </a:lnSpc>
            <a:spcBef>
              <a:spcPct val="0"/>
            </a:spcBef>
            <a:spcAft>
              <a:spcPct val="35000"/>
            </a:spcAft>
            <a:buNone/>
          </a:pPr>
          <a:r>
            <a:rPr lang="he-IL" sz="2100" b="1" kern="1200" dirty="0"/>
            <a:t>חוצה ישראל</a:t>
          </a:r>
        </a:p>
      </dsp:txBody>
      <dsp:txXfrm>
        <a:off x="2483717" y="1315320"/>
        <a:ext cx="1905313" cy="706871"/>
      </dsp:txXfrm>
    </dsp:sp>
    <dsp:sp modelId="{67A5C8B5-15B5-4196-B427-3814D27233C1}">
      <dsp:nvSpPr>
        <dsp:cNvPr id="0" name=""/>
        <dsp:cNvSpPr/>
      </dsp:nvSpPr>
      <dsp:spPr>
        <a:xfrm>
          <a:off x="4579641" y="2559"/>
          <a:ext cx="1905313" cy="1312760"/>
        </a:xfrm>
        <a:prstGeom prst="round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t="-5000" b="-1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C70CDA-A78B-4B55-9175-FC7DFAB36650}">
      <dsp:nvSpPr>
        <dsp:cNvPr id="0" name=""/>
        <dsp:cNvSpPr/>
      </dsp:nvSpPr>
      <dsp:spPr>
        <a:xfrm>
          <a:off x="4579641" y="1315320"/>
          <a:ext cx="1905313" cy="706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rtl="1">
            <a:lnSpc>
              <a:spcPct val="90000"/>
            </a:lnSpc>
            <a:spcBef>
              <a:spcPct val="0"/>
            </a:spcBef>
            <a:spcAft>
              <a:spcPct val="35000"/>
            </a:spcAft>
            <a:buNone/>
          </a:pPr>
          <a:r>
            <a:rPr lang="he-IL" sz="2100" b="1" kern="1200" dirty="0"/>
            <a:t>משרד האוצר</a:t>
          </a:r>
        </a:p>
      </dsp:txBody>
      <dsp:txXfrm>
        <a:off x="4579641" y="1315320"/>
        <a:ext cx="1905313" cy="706871"/>
      </dsp:txXfrm>
    </dsp:sp>
    <dsp:sp modelId="{6CDE518A-033E-4538-B29A-315925CBF26E}">
      <dsp:nvSpPr>
        <dsp:cNvPr id="0" name=""/>
        <dsp:cNvSpPr/>
      </dsp:nvSpPr>
      <dsp:spPr>
        <a:xfrm>
          <a:off x="387792" y="2212722"/>
          <a:ext cx="1905313" cy="1312760"/>
        </a:xfrm>
        <a:prstGeom prst="roundRect">
          <a:avLst/>
        </a:prstGeom>
        <a:blipFill>
          <a:blip xmlns:r="http://schemas.openxmlformats.org/officeDocument/2006/relationships" r:embed="rId4"/>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930ED7-35D6-463B-925D-CC7379907686}">
      <dsp:nvSpPr>
        <dsp:cNvPr id="0" name=""/>
        <dsp:cNvSpPr/>
      </dsp:nvSpPr>
      <dsp:spPr>
        <a:xfrm>
          <a:off x="387792" y="3525483"/>
          <a:ext cx="1905313" cy="706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rtl="1">
            <a:lnSpc>
              <a:spcPct val="90000"/>
            </a:lnSpc>
            <a:spcBef>
              <a:spcPct val="0"/>
            </a:spcBef>
            <a:spcAft>
              <a:spcPct val="35000"/>
            </a:spcAft>
            <a:buNone/>
          </a:pPr>
          <a:r>
            <a:rPr lang="he-IL" sz="2100" b="1" kern="1200" dirty="0"/>
            <a:t>רכבת ישראל</a:t>
          </a:r>
        </a:p>
      </dsp:txBody>
      <dsp:txXfrm>
        <a:off x="387792" y="3525483"/>
        <a:ext cx="1905313" cy="706871"/>
      </dsp:txXfrm>
    </dsp:sp>
    <dsp:sp modelId="{07D71560-89E7-49E7-B43F-7E650EA44F9F}">
      <dsp:nvSpPr>
        <dsp:cNvPr id="0" name=""/>
        <dsp:cNvSpPr/>
      </dsp:nvSpPr>
      <dsp:spPr>
        <a:xfrm>
          <a:off x="2483717" y="2212722"/>
          <a:ext cx="1905313" cy="1312760"/>
        </a:xfrm>
        <a:prstGeom prst="round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8000" r="-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A16BF4-621E-4FC8-8CCC-6244E972F347}">
      <dsp:nvSpPr>
        <dsp:cNvPr id="0" name=""/>
        <dsp:cNvSpPr/>
      </dsp:nvSpPr>
      <dsp:spPr>
        <a:xfrm>
          <a:off x="2483717" y="3525483"/>
          <a:ext cx="1905313" cy="706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rtl="1">
            <a:lnSpc>
              <a:spcPct val="90000"/>
            </a:lnSpc>
            <a:spcBef>
              <a:spcPct val="0"/>
            </a:spcBef>
            <a:spcAft>
              <a:spcPct val="35000"/>
            </a:spcAft>
            <a:buNone/>
          </a:pPr>
          <a:r>
            <a:rPr lang="he-IL" sz="2100" b="1" kern="1200" dirty="0"/>
            <a:t>רשות המים </a:t>
          </a:r>
        </a:p>
      </dsp:txBody>
      <dsp:txXfrm>
        <a:off x="2483717" y="3525483"/>
        <a:ext cx="1905313" cy="706871"/>
      </dsp:txXfrm>
    </dsp:sp>
    <dsp:sp modelId="{35CB3022-B655-40AB-83DE-CA36DBF323A4}">
      <dsp:nvSpPr>
        <dsp:cNvPr id="0" name=""/>
        <dsp:cNvSpPr/>
      </dsp:nvSpPr>
      <dsp:spPr>
        <a:xfrm>
          <a:off x="4579641" y="2212722"/>
          <a:ext cx="1905313" cy="1312760"/>
        </a:xfrm>
        <a:prstGeom prst="roundRect">
          <a:avLst/>
        </a:prstGeom>
        <a:blipFill dpi="0" rotWithShape="1">
          <a:blip xmlns:r="http://schemas.openxmlformats.org/officeDocument/2006/relationships" r:embed="rId6">
            <a:extLst>
              <a:ext uri="{28A0092B-C50C-407E-A947-70E740481C1C}">
                <a14:useLocalDpi xmlns:a14="http://schemas.microsoft.com/office/drawing/2010/main" val="0"/>
              </a:ext>
            </a:extLst>
          </a:blip>
          <a:srcRect/>
          <a:stretch>
            <a:fillRect t="-7000" b="6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612552-4F8C-476B-953A-208D260BDA45}">
      <dsp:nvSpPr>
        <dsp:cNvPr id="0" name=""/>
        <dsp:cNvSpPr/>
      </dsp:nvSpPr>
      <dsp:spPr>
        <a:xfrm>
          <a:off x="4579641" y="3525483"/>
          <a:ext cx="1905313" cy="706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rtl="1">
            <a:lnSpc>
              <a:spcPct val="90000"/>
            </a:lnSpc>
            <a:spcBef>
              <a:spcPct val="0"/>
            </a:spcBef>
            <a:spcAft>
              <a:spcPct val="35000"/>
            </a:spcAft>
            <a:buNone/>
          </a:pPr>
          <a:r>
            <a:rPr lang="he-IL" sz="2100" b="1" kern="1200" dirty="0"/>
            <a:t>מל"ג </a:t>
          </a:r>
        </a:p>
      </dsp:txBody>
      <dsp:txXfrm>
        <a:off x="4579641" y="3525483"/>
        <a:ext cx="1905313" cy="7068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D469C-1AEA-4CF9-B6E2-C8523469FDEB}">
      <dsp:nvSpPr>
        <dsp:cNvPr id="0" name=""/>
        <dsp:cNvSpPr/>
      </dsp:nvSpPr>
      <dsp:spPr>
        <a:xfrm>
          <a:off x="1042156" y="1446"/>
          <a:ext cx="2138525" cy="1596364"/>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r" defTabSz="800100" rtl="1">
            <a:lnSpc>
              <a:spcPct val="90000"/>
            </a:lnSpc>
            <a:spcBef>
              <a:spcPct val="0"/>
            </a:spcBef>
            <a:spcAft>
              <a:spcPct val="15000"/>
            </a:spcAft>
            <a:buChar char="•"/>
          </a:pPr>
          <a:r>
            <a:rPr lang="en-US" sz="1800" b="1" i="0" kern="1200" dirty="0">
              <a:latin typeface="David" panose="020E0502060401010101" pitchFamily="34" charset="-79"/>
              <a:cs typeface="David" panose="020E0502060401010101" pitchFamily="34" charset="-79"/>
            </a:rPr>
            <a:t>ADALYA </a:t>
          </a:r>
          <a:r>
            <a:rPr lang="he-IL" sz="1800" b="1" i="0" kern="1200" dirty="0">
              <a:latin typeface="David" panose="020E0502060401010101" pitchFamily="34" charset="-79"/>
              <a:cs typeface="David" panose="020E0502060401010101" pitchFamily="34" charset="-79"/>
            </a:rPr>
            <a:t> מתמחה במתן ייעוץ אסטרטגי למכלול גופים ציבוריים ופרטיים על מנת לסייע להם לגבש תכנית אסטרטגית ארוכת טווח</a:t>
          </a:r>
          <a:endParaRPr lang="he-IL" sz="1800" b="1" kern="1200" dirty="0">
            <a:latin typeface="David" panose="020E0502060401010101" pitchFamily="34" charset="-79"/>
            <a:cs typeface="David" panose="020E0502060401010101" pitchFamily="34" charset="-79"/>
          </a:endParaRPr>
        </a:p>
      </dsp:txBody>
      <dsp:txXfrm>
        <a:off x="1079561" y="38851"/>
        <a:ext cx="2063715" cy="1558959"/>
      </dsp:txXfrm>
    </dsp:sp>
    <dsp:sp modelId="{16508424-8239-48FE-87C4-1C5D01CB752F}">
      <dsp:nvSpPr>
        <dsp:cNvPr id="0" name=""/>
        <dsp:cNvSpPr/>
      </dsp:nvSpPr>
      <dsp:spPr>
        <a:xfrm>
          <a:off x="1042156" y="1597810"/>
          <a:ext cx="2138525" cy="68643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marL="0" lvl="0" indent="0" algn="l" defTabSz="666750" rtl="1">
            <a:lnSpc>
              <a:spcPct val="90000"/>
            </a:lnSpc>
            <a:spcBef>
              <a:spcPct val="0"/>
            </a:spcBef>
            <a:spcAft>
              <a:spcPct val="35000"/>
            </a:spcAft>
            <a:buNone/>
          </a:pPr>
          <a:r>
            <a:rPr lang="he-IL" sz="1500" b="1" i="0" kern="1200" dirty="0"/>
            <a:t>ייעוץ אסטרטגי</a:t>
          </a:r>
        </a:p>
        <a:p>
          <a:pPr marL="0" lvl="0" indent="0" algn="l" defTabSz="666750" rtl="1">
            <a:lnSpc>
              <a:spcPct val="90000"/>
            </a:lnSpc>
            <a:spcBef>
              <a:spcPct val="0"/>
            </a:spcBef>
            <a:spcAft>
              <a:spcPct val="35000"/>
            </a:spcAft>
            <a:buNone/>
          </a:pPr>
          <a:endParaRPr lang="he-IL" sz="1500" kern="1200" dirty="0"/>
        </a:p>
      </dsp:txBody>
      <dsp:txXfrm>
        <a:off x="1042156" y="1597810"/>
        <a:ext cx="1506004" cy="686436"/>
      </dsp:txXfrm>
    </dsp:sp>
    <dsp:sp modelId="{EAB98454-85E1-4905-8F8E-B747AA71D25A}">
      <dsp:nvSpPr>
        <dsp:cNvPr id="0" name=""/>
        <dsp:cNvSpPr/>
      </dsp:nvSpPr>
      <dsp:spPr>
        <a:xfrm>
          <a:off x="2608656" y="1706844"/>
          <a:ext cx="748484" cy="74848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74A013-C623-46B3-9571-FCDEA3B45C7F}">
      <dsp:nvSpPr>
        <dsp:cNvPr id="0" name=""/>
        <dsp:cNvSpPr/>
      </dsp:nvSpPr>
      <dsp:spPr>
        <a:xfrm>
          <a:off x="3542572" y="1446"/>
          <a:ext cx="2138525" cy="1596364"/>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r" defTabSz="800100" rtl="1">
            <a:lnSpc>
              <a:spcPct val="90000"/>
            </a:lnSpc>
            <a:spcBef>
              <a:spcPct val="0"/>
            </a:spcBef>
            <a:spcAft>
              <a:spcPct val="15000"/>
            </a:spcAft>
            <a:buChar char="•"/>
          </a:pPr>
          <a:r>
            <a:rPr lang="en-US" sz="1800" b="1" i="0" kern="1200" dirty="0">
              <a:latin typeface="David" panose="020E0502060401010101" pitchFamily="34" charset="-79"/>
              <a:cs typeface="David" panose="020E0502060401010101" pitchFamily="34" charset="-79"/>
            </a:rPr>
            <a:t>ADALYA </a:t>
          </a:r>
          <a:r>
            <a:rPr lang="he-IL" sz="1800" b="1" i="0" kern="1200" dirty="0">
              <a:latin typeface="David" panose="020E0502060401010101" pitchFamily="34" charset="-79"/>
              <a:cs typeface="David" panose="020E0502060401010101" pitchFamily="34" charset="-79"/>
            </a:rPr>
            <a:t> מציעה מגוון מוצרים ייחודיים ומותאמים ללקוח בתחום הייעוץ הכלכלי, אסטרטגי ופיננסי</a:t>
          </a:r>
          <a:endParaRPr lang="he-IL" sz="1800" b="1" kern="1200" dirty="0">
            <a:latin typeface="David" panose="020E0502060401010101" pitchFamily="34" charset="-79"/>
            <a:cs typeface="David" panose="020E0502060401010101" pitchFamily="34" charset="-79"/>
          </a:endParaRPr>
        </a:p>
      </dsp:txBody>
      <dsp:txXfrm>
        <a:off x="3579977" y="38851"/>
        <a:ext cx="2063715" cy="1558959"/>
      </dsp:txXfrm>
    </dsp:sp>
    <dsp:sp modelId="{ABF121E8-A4BC-4C17-AAC0-CD46EBE817F7}">
      <dsp:nvSpPr>
        <dsp:cNvPr id="0" name=""/>
        <dsp:cNvSpPr/>
      </dsp:nvSpPr>
      <dsp:spPr>
        <a:xfrm>
          <a:off x="3542572" y="1597810"/>
          <a:ext cx="2138525" cy="68643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marL="0" lvl="0" indent="0" algn="l" defTabSz="666750" rtl="1">
            <a:lnSpc>
              <a:spcPct val="90000"/>
            </a:lnSpc>
            <a:spcBef>
              <a:spcPct val="0"/>
            </a:spcBef>
            <a:spcAft>
              <a:spcPct val="35000"/>
            </a:spcAft>
            <a:buNone/>
          </a:pPr>
          <a:r>
            <a:rPr lang="he-IL" sz="1500" b="1" i="0" kern="1200" dirty="0"/>
            <a:t>ייעוץ כלכלי ופיננסי</a:t>
          </a:r>
        </a:p>
        <a:p>
          <a:pPr marL="0" lvl="0" indent="0" algn="l" defTabSz="666750" rtl="1">
            <a:lnSpc>
              <a:spcPct val="90000"/>
            </a:lnSpc>
            <a:spcBef>
              <a:spcPct val="0"/>
            </a:spcBef>
            <a:spcAft>
              <a:spcPct val="35000"/>
            </a:spcAft>
            <a:buNone/>
          </a:pPr>
          <a:endParaRPr lang="he-IL" sz="1500" kern="1200" dirty="0"/>
        </a:p>
      </dsp:txBody>
      <dsp:txXfrm>
        <a:off x="3542572" y="1597810"/>
        <a:ext cx="1506004" cy="686436"/>
      </dsp:txXfrm>
    </dsp:sp>
    <dsp:sp modelId="{F476AF33-99BE-4D84-9FD7-29F274E9201E}">
      <dsp:nvSpPr>
        <dsp:cNvPr id="0" name=""/>
        <dsp:cNvSpPr/>
      </dsp:nvSpPr>
      <dsp:spPr>
        <a:xfrm>
          <a:off x="5109072" y="1706844"/>
          <a:ext cx="748484" cy="748484"/>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000" r="-1000"/>
          </a:stretch>
        </a:blip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C5932B-F492-4C2E-97AB-614483744932}">
      <dsp:nvSpPr>
        <dsp:cNvPr id="0" name=""/>
        <dsp:cNvSpPr/>
      </dsp:nvSpPr>
      <dsp:spPr>
        <a:xfrm>
          <a:off x="6042988" y="1446"/>
          <a:ext cx="2138525" cy="1596364"/>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60960" rIns="20320" bIns="20320" numCol="1" spcCol="1270" anchor="t" anchorCtr="0">
          <a:noAutofit/>
        </a:bodyPr>
        <a:lstStyle/>
        <a:p>
          <a:pPr marL="171450" lvl="1" indent="-171450" algn="r" defTabSz="711200" rtl="1">
            <a:lnSpc>
              <a:spcPct val="90000"/>
            </a:lnSpc>
            <a:spcBef>
              <a:spcPct val="0"/>
            </a:spcBef>
            <a:spcAft>
              <a:spcPct val="15000"/>
            </a:spcAft>
            <a:buFont typeface="Arial" panose="020B0604020202020204" pitchFamily="34" charset="0"/>
            <a:buChar char="•"/>
          </a:pPr>
          <a:r>
            <a:rPr lang="en-US" sz="1600" b="1" i="0" kern="1200" dirty="0">
              <a:latin typeface="David" panose="020E0502060401010101" pitchFamily="34" charset="-79"/>
              <a:cs typeface="David" panose="020E0502060401010101" pitchFamily="34" charset="-79"/>
            </a:rPr>
            <a:t>ADALYA </a:t>
          </a:r>
          <a:r>
            <a:rPr lang="he-IL" sz="1600" b="1" i="0" kern="1200" dirty="0">
              <a:latin typeface="David" panose="020E0502060401010101" pitchFamily="34" charset="-79"/>
              <a:cs typeface="David" panose="020E0502060401010101" pitchFamily="34" charset="-79"/>
            </a:rPr>
            <a:t> מסייעת ללקוחותיה להוביל תהליכי שינוי אסטרטגי בפירמה ובמשק ותהליכי שינוי פנים ארגוניים באמצעות תהליך מובנה ובדגש על יישומיות</a:t>
          </a:r>
          <a:endParaRPr lang="he-IL" sz="1600" b="1" kern="1200" dirty="0">
            <a:latin typeface="David" panose="020E0502060401010101" pitchFamily="34" charset="-79"/>
            <a:cs typeface="David" panose="020E0502060401010101" pitchFamily="34" charset="-79"/>
          </a:endParaRPr>
        </a:p>
      </dsp:txBody>
      <dsp:txXfrm>
        <a:off x="6080393" y="38851"/>
        <a:ext cx="2063715" cy="1558959"/>
      </dsp:txXfrm>
    </dsp:sp>
    <dsp:sp modelId="{CC1FCE79-16C4-4281-885B-07240184BEC6}">
      <dsp:nvSpPr>
        <dsp:cNvPr id="0" name=""/>
        <dsp:cNvSpPr/>
      </dsp:nvSpPr>
      <dsp:spPr>
        <a:xfrm>
          <a:off x="6042988" y="1597810"/>
          <a:ext cx="2138525" cy="68643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marL="0" lvl="0" indent="0" algn="l" defTabSz="666750" rtl="1">
            <a:lnSpc>
              <a:spcPct val="90000"/>
            </a:lnSpc>
            <a:spcBef>
              <a:spcPct val="0"/>
            </a:spcBef>
            <a:spcAft>
              <a:spcPct val="35000"/>
            </a:spcAft>
            <a:buNone/>
          </a:pPr>
          <a:r>
            <a:rPr lang="he-IL" sz="1500" b="1" i="0" kern="1200" dirty="0"/>
            <a:t>ניהול תהליכי שינוי</a:t>
          </a:r>
        </a:p>
        <a:p>
          <a:pPr marL="0" lvl="0" indent="0" algn="l" defTabSz="666750" rtl="1">
            <a:lnSpc>
              <a:spcPct val="90000"/>
            </a:lnSpc>
            <a:spcBef>
              <a:spcPct val="0"/>
            </a:spcBef>
            <a:spcAft>
              <a:spcPct val="35000"/>
            </a:spcAft>
            <a:buNone/>
          </a:pPr>
          <a:endParaRPr lang="he-IL" sz="1500" kern="1200" dirty="0"/>
        </a:p>
      </dsp:txBody>
      <dsp:txXfrm>
        <a:off x="6042988" y="1597810"/>
        <a:ext cx="1506004" cy="686436"/>
      </dsp:txXfrm>
    </dsp:sp>
    <dsp:sp modelId="{92798709-7976-48FA-866F-B7789BA49F54}">
      <dsp:nvSpPr>
        <dsp:cNvPr id="0" name=""/>
        <dsp:cNvSpPr/>
      </dsp:nvSpPr>
      <dsp:spPr>
        <a:xfrm>
          <a:off x="7609488" y="1706844"/>
          <a:ext cx="748484" cy="748484"/>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D469C-1AEA-4CF9-B6E2-C8523469FDEB}">
      <dsp:nvSpPr>
        <dsp:cNvPr id="0" name=""/>
        <dsp:cNvSpPr/>
      </dsp:nvSpPr>
      <dsp:spPr>
        <a:xfrm>
          <a:off x="1042156" y="1446"/>
          <a:ext cx="2138525" cy="1596364"/>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r" defTabSz="800100" rtl="1">
            <a:lnSpc>
              <a:spcPct val="90000"/>
            </a:lnSpc>
            <a:spcBef>
              <a:spcPct val="0"/>
            </a:spcBef>
            <a:spcAft>
              <a:spcPct val="15000"/>
            </a:spcAft>
            <a:buChar char="•"/>
          </a:pPr>
          <a:r>
            <a:rPr lang="en-US" sz="1800" b="1" i="0" kern="1200" dirty="0">
              <a:latin typeface="David" panose="020E0502060401010101" pitchFamily="34" charset="-79"/>
              <a:cs typeface="David" panose="020E0502060401010101" pitchFamily="34" charset="-79"/>
            </a:rPr>
            <a:t>ADALYA </a:t>
          </a:r>
          <a:r>
            <a:rPr lang="he-IL" sz="1800" b="1" i="0" kern="1200" dirty="0">
              <a:latin typeface="David" panose="020E0502060401010101" pitchFamily="34" charset="-79"/>
              <a:cs typeface="David" panose="020E0502060401010101" pitchFamily="34" charset="-79"/>
            </a:rPr>
            <a:t> מספקת שירותי סקרים ומחקרים כחלק משירות מתמשך ללקוחותיה וגם כשירות עצמאי.</a:t>
          </a:r>
          <a:endParaRPr lang="he-IL" sz="1800" b="1" kern="1200" dirty="0">
            <a:latin typeface="David" panose="020E0502060401010101" pitchFamily="34" charset="-79"/>
            <a:cs typeface="David" panose="020E0502060401010101" pitchFamily="34" charset="-79"/>
          </a:endParaRPr>
        </a:p>
      </dsp:txBody>
      <dsp:txXfrm>
        <a:off x="1079561" y="38851"/>
        <a:ext cx="2063715" cy="1558959"/>
      </dsp:txXfrm>
    </dsp:sp>
    <dsp:sp modelId="{16508424-8239-48FE-87C4-1C5D01CB752F}">
      <dsp:nvSpPr>
        <dsp:cNvPr id="0" name=""/>
        <dsp:cNvSpPr/>
      </dsp:nvSpPr>
      <dsp:spPr>
        <a:xfrm>
          <a:off x="1042156" y="1597810"/>
          <a:ext cx="2138525" cy="68643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marL="0" lvl="0" indent="0" algn="l" defTabSz="666750" rtl="1">
            <a:lnSpc>
              <a:spcPct val="90000"/>
            </a:lnSpc>
            <a:spcBef>
              <a:spcPct val="0"/>
            </a:spcBef>
            <a:spcAft>
              <a:spcPct val="35000"/>
            </a:spcAft>
            <a:buNone/>
          </a:pPr>
          <a:r>
            <a:rPr lang="he-IL" sz="1500" b="1" i="0" kern="1200" dirty="0"/>
            <a:t>סקרים ומחקרים</a:t>
          </a:r>
        </a:p>
        <a:p>
          <a:pPr marL="0" lvl="0" indent="0" algn="l" defTabSz="666750" rtl="1">
            <a:lnSpc>
              <a:spcPct val="90000"/>
            </a:lnSpc>
            <a:spcBef>
              <a:spcPct val="0"/>
            </a:spcBef>
            <a:spcAft>
              <a:spcPct val="35000"/>
            </a:spcAft>
            <a:buNone/>
          </a:pPr>
          <a:endParaRPr lang="he-IL" sz="1500" kern="1200" dirty="0"/>
        </a:p>
      </dsp:txBody>
      <dsp:txXfrm>
        <a:off x="1042156" y="1597810"/>
        <a:ext cx="1506004" cy="686436"/>
      </dsp:txXfrm>
    </dsp:sp>
    <dsp:sp modelId="{EAB98454-85E1-4905-8F8E-B747AA71D25A}">
      <dsp:nvSpPr>
        <dsp:cNvPr id="0" name=""/>
        <dsp:cNvSpPr/>
      </dsp:nvSpPr>
      <dsp:spPr>
        <a:xfrm>
          <a:off x="2608656" y="1706844"/>
          <a:ext cx="748484" cy="74848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 r="-1000"/>
          </a:stretch>
        </a:blip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74A013-C623-46B3-9571-FCDEA3B45C7F}">
      <dsp:nvSpPr>
        <dsp:cNvPr id="0" name=""/>
        <dsp:cNvSpPr/>
      </dsp:nvSpPr>
      <dsp:spPr>
        <a:xfrm>
          <a:off x="3542572" y="1446"/>
          <a:ext cx="2138525" cy="1596364"/>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r" defTabSz="800100" rtl="1">
            <a:lnSpc>
              <a:spcPct val="90000"/>
            </a:lnSpc>
            <a:spcBef>
              <a:spcPct val="0"/>
            </a:spcBef>
            <a:spcAft>
              <a:spcPct val="15000"/>
            </a:spcAft>
            <a:buChar char="•"/>
          </a:pPr>
          <a:r>
            <a:rPr lang="he-IL" sz="1800" b="1" i="0" kern="1200" dirty="0">
              <a:latin typeface="David" panose="020E0502060401010101" pitchFamily="34" charset="-79"/>
              <a:cs typeface="David" panose="020E0502060401010101" pitchFamily="34" charset="-79"/>
            </a:rPr>
            <a:t>התכנון התחבורתי הוא חלק מרכזי ובלתי נפרד מעבודתה השוטפת של </a:t>
          </a:r>
          <a:r>
            <a:rPr lang="en-US" sz="1800" b="1" i="0" kern="1200" dirty="0">
              <a:latin typeface="David" panose="020E0502060401010101" pitchFamily="34" charset="-79"/>
              <a:cs typeface="David" panose="020E0502060401010101" pitchFamily="34" charset="-79"/>
            </a:rPr>
            <a:t>ADALYA</a:t>
          </a:r>
          <a:r>
            <a:rPr lang="he-IL" sz="1800" b="1" i="0" kern="1200" dirty="0">
              <a:latin typeface="David" panose="020E0502060401010101" pitchFamily="34" charset="-79"/>
              <a:cs typeface="David" panose="020E0502060401010101" pitchFamily="34" charset="-79"/>
            </a:rPr>
            <a:t> </a:t>
          </a:r>
          <a:endParaRPr lang="he-IL" sz="1800" b="1" kern="1200" dirty="0">
            <a:latin typeface="David" panose="020E0502060401010101" pitchFamily="34" charset="-79"/>
            <a:cs typeface="David" panose="020E0502060401010101" pitchFamily="34" charset="-79"/>
          </a:endParaRPr>
        </a:p>
      </dsp:txBody>
      <dsp:txXfrm>
        <a:off x="3579977" y="38851"/>
        <a:ext cx="2063715" cy="1558959"/>
      </dsp:txXfrm>
    </dsp:sp>
    <dsp:sp modelId="{ABF121E8-A4BC-4C17-AAC0-CD46EBE817F7}">
      <dsp:nvSpPr>
        <dsp:cNvPr id="0" name=""/>
        <dsp:cNvSpPr/>
      </dsp:nvSpPr>
      <dsp:spPr>
        <a:xfrm>
          <a:off x="3542572" y="1597810"/>
          <a:ext cx="2138525" cy="68643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marL="0" lvl="0" indent="0" algn="l" defTabSz="666750" rtl="1">
            <a:lnSpc>
              <a:spcPct val="90000"/>
            </a:lnSpc>
            <a:spcBef>
              <a:spcPct val="0"/>
            </a:spcBef>
            <a:spcAft>
              <a:spcPct val="35000"/>
            </a:spcAft>
            <a:buNone/>
          </a:pPr>
          <a:r>
            <a:rPr lang="he-IL" sz="1500" b="1" i="0" kern="1200" dirty="0"/>
            <a:t>תכנון תחבורה</a:t>
          </a:r>
        </a:p>
        <a:p>
          <a:pPr marL="0" lvl="0" indent="0" algn="l" defTabSz="666750" rtl="1">
            <a:lnSpc>
              <a:spcPct val="90000"/>
            </a:lnSpc>
            <a:spcBef>
              <a:spcPct val="0"/>
            </a:spcBef>
            <a:spcAft>
              <a:spcPct val="35000"/>
            </a:spcAft>
            <a:buNone/>
          </a:pPr>
          <a:endParaRPr lang="he-IL" sz="1500" kern="1200" dirty="0"/>
        </a:p>
      </dsp:txBody>
      <dsp:txXfrm>
        <a:off x="3542572" y="1597810"/>
        <a:ext cx="1506004" cy="686436"/>
      </dsp:txXfrm>
    </dsp:sp>
    <dsp:sp modelId="{F476AF33-99BE-4D84-9FD7-29F274E9201E}">
      <dsp:nvSpPr>
        <dsp:cNvPr id="0" name=""/>
        <dsp:cNvSpPr/>
      </dsp:nvSpPr>
      <dsp:spPr>
        <a:xfrm>
          <a:off x="5109072" y="1706844"/>
          <a:ext cx="748484" cy="748484"/>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000" r="-1000"/>
          </a:stretch>
        </a:blip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C5932B-F492-4C2E-97AB-614483744932}">
      <dsp:nvSpPr>
        <dsp:cNvPr id="0" name=""/>
        <dsp:cNvSpPr/>
      </dsp:nvSpPr>
      <dsp:spPr>
        <a:xfrm>
          <a:off x="6042988" y="1446"/>
          <a:ext cx="2138525" cy="1596364"/>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r" defTabSz="800100" rtl="1">
            <a:lnSpc>
              <a:spcPct val="90000"/>
            </a:lnSpc>
            <a:spcBef>
              <a:spcPct val="0"/>
            </a:spcBef>
            <a:spcAft>
              <a:spcPct val="15000"/>
            </a:spcAft>
            <a:buChar char="•"/>
          </a:pPr>
          <a:r>
            <a:rPr lang="en-US" sz="1800" b="1" i="0" kern="1200" dirty="0">
              <a:latin typeface="David" panose="020E0502060401010101" pitchFamily="34" charset="-79"/>
              <a:cs typeface="David" panose="020E0502060401010101" pitchFamily="34" charset="-79"/>
            </a:rPr>
            <a:t> ADALYA </a:t>
          </a:r>
          <a:r>
            <a:rPr lang="he-IL" sz="1800" b="1" i="0" kern="1200" dirty="0">
              <a:latin typeface="David" panose="020E0502060401010101" pitchFamily="34" charset="-79"/>
              <a:cs typeface="David" panose="020E0502060401010101" pitchFamily="34" charset="-79"/>
            </a:rPr>
            <a:t>בעלת ניסיון רב והתמקצעות בליווי תהליכי מכרז בתחום הרכש והתקשרויות, בסקטור הציבורי והפרטי.</a:t>
          </a:r>
          <a:endParaRPr lang="he-IL" sz="1800" b="1" kern="1200" dirty="0">
            <a:latin typeface="David" panose="020E0502060401010101" pitchFamily="34" charset="-79"/>
            <a:cs typeface="David" panose="020E0502060401010101" pitchFamily="34" charset="-79"/>
          </a:endParaRPr>
        </a:p>
      </dsp:txBody>
      <dsp:txXfrm>
        <a:off x="6080393" y="38851"/>
        <a:ext cx="2063715" cy="1558959"/>
      </dsp:txXfrm>
    </dsp:sp>
    <dsp:sp modelId="{CC1FCE79-16C4-4281-885B-07240184BEC6}">
      <dsp:nvSpPr>
        <dsp:cNvPr id="0" name=""/>
        <dsp:cNvSpPr/>
      </dsp:nvSpPr>
      <dsp:spPr>
        <a:xfrm>
          <a:off x="6042988" y="1597810"/>
          <a:ext cx="2138525" cy="68643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marL="0" lvl="0" indent="0" algn="l" defTabSz="666750" rtl="1">
            <a:lnSpc>
              <a:spcPct val="90000"/>
            </a:lnSpc>
            <a:spcBef>
              <a:spcPct val="0"/>
            </a:spcBef>
            <a:spcAft>
              <a:spcPct val="35000"/>
            </a:spcAft>
            <a:buNone/>
          </a:pPr>
          <a:r>
            <a:rPr lang="he-IL" sz="1500" b="1" i="0" kern="1200" dirty="0"/>
            <a:t>מכרזים, רכש והתקשרויות</a:t>
          </a:r>
        </a:p>
        <a:p>
          <a:pPr marL="0" lvl="0" indent="0" algn="l" defTabSz="666750" rtl="1">
            <a:lnSpc>
              <a:spcPct val="90000"/>
            </a:lnSpc>
            <a:spcBef>
              <a:spcPct val="0"/>
            </a:spcBef>
            <a:spcAft>
              <a:spcPct val="35000"/>
            </a:spcAft>
            <a:buNone/>
          </a:pPr>
          <a:endParaRPr lang="he-IL" sz="1500" kern="1200" dirty="0"/>
        </a:p>
      </dsp:txBody>
      <dsp:txXfrm>
        <a:off x="6042988" y="1597810"/>
        <a:ext cx="1506004" cy="686436"/>
      </dsp:txXfrm>
    </dsp:sp>
    <dsp:sp modelId="{92798709-7976-48FA-866F-B7789BA49F54}">
      <dsp:nvSpPr>
        <dsp:cNvPr id="0" name=""/>
        <dsp:cNvSpPr/>
      </dsp:nvSpPr>
      <dsp:spPr>
        <a:xfrm>
          <a:off x="7609488" y="1706844"/>
          <a:ext cx="748484" cy="748484"/>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7AACA-7894-4F0E-A92D-F6D3C3CB73D1}">
      <dsp:nvSpPr>
        <dsp:cNvPr id="0" name=""/>
        <dsp:cNvSpPr/>
      </dsp:nvSpPr>
      <dsp:spPr>
        <a:xfrm rot="5400000">
          <a:off x="-223705" y="223960"/>
          <a:ext cx="1491372" cy="1043960"/>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rtl="1">
            <a:lnSpc>
              <a:spcPct val="90000"/>
            </a:lnSpc>
            <a:spcBef>
              <a:spcPct val="0"/>
            </a:spcBef>
            <a:spcAft>
              <a:spcPct val="35000"/>
            </a:spcAft>
            <a:buNone/>
          </a:pPr>
          <a:r>
            <a:rPr lang="he-IL" sz="2700" b="1" i="0" kern="1200" dirty="0"/>
            <a:t>משותף</a:t>
          </a:r>
          <a:endParaRPr lang="he-IL" sz="2700" kern="1200" dirty="0"/>
        </a:p>
      </dsp:txBody>
      <dsp:txXfrm rot="-5400000">
        <a:off x="1" y="522234"/>
        <a:ext cx="1043960" cy="447412"/>
      </dsp:txXfrm>
    </dsp:sp>
    <dsp:sp modelId="{8BC2BE73-D17D-4853-9BCA-6C188921E813}">
      <dsp:nvSpPr>
        <dsp:cNvPr id="0" name=""/>
        <dsp:cNvSpPr/>
      </dsp:nvSpPr>
      <dsp:spPr>
        <a:xfrm rot="5400000">
          <a:off x="5865027" y="-4820811"/>
          <a:ext cx="969392" cy="10611525"/>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r" defTabSz="933450" rtl="1">
            <a:lnSpc>
              <a:spcPct val="90000"/>
            </a:lnSpc>
            <a:spcBef>
              <a:spcPct val="0"/>
            </a:spcBef>
            <a:spcAft>
              <a:spcPct val="15000"/>
            </a:spcAft>
            <a:buChar char="•"/>
          </a:pPr>
          <a:r>
            <a:rPr lang="en-US" sz="2100" b="1" kern="1200" dirty="0"/>
            <a:t>ADALYA </a:t>
          </a:r>
          <a:r>
            <a:rPr lang="he-IL" sz="2100" b="1" kern="1200" dirty="0"/>
            <a:t> מתמחה בפיתוח עסקי ואסטרטגי  בכדי למקסם הן את הפוטנציאל העסקי והן את ההשפעה שלהן על החברה והמדינה. תומכת בהשקעות אימפקט בישראל, ומספקת ייעוץ לאחריות תאגידית בתחומים כגון סביבה, פיתוח ההון האנושי ומעורבות קהילתית.</a:t>
          </a:r>
        </a:p>
      </dsp:txBody>
      <dsp:txXfrm rot="-5400000">
        <a:off x="1043961" y="47577"/>
        <a:ext cx="10564203" cy="874748"/>
      </dsp:txXfrm>
    </dsp:sp>
    <dsp:sp modelId="{9711CC19-6BBC-4E5F-92BD-07325EEEDAD9}">
      <dsp:nvSpPr>
        <dsp:cNvPr id="0" name=""/>
        <dsp:cNvSpPr/>
      </dsp:nvSpPr>
      <dsp:spPr>
        <a:xfrm rot="5400000">
          <a:off x="-223705" y="1519684"/>
          <a:ext cx="1491372" cy="1043960"/>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rtl="1">
            <a:lnSpc>
              <a:spcPct val="90000"/>
            </a:lnSpc>
            <a:spcBef>
              <a:spcPct val="0"/>
            </a:spcBef>
            <a:spcAft>
              <a:spcPct val="35000"/>
            </a:spcAft>
            <a:buNone/>
          </a:pPr>
          <a:r>
            <a:rPr lang="he-IL" sz="2700" b="1" i="0" kern="1200" dirty="0"/>
            <a:t>עסקי</a:t>
          </a:r>
          <a:endParaRPr lang="he-IL" sz="2700" kern="1200" dirty="0"/>
        </a:p>
      </dsp:txBody>
      <dsp:txXfrm rot="-5400000">
        <a:off x="1" y="1817958"/>
        <a:ext cx="1043960" cy="447412"/>
      </dsp:txXfrm>
    </dsp:sp>
    <dsp:sp modelId="{1CB0AC0D-BBE9-48AD-B663-70532E251036}">
      <dsp:nvSpPr>
        <dsp:cNvPr id="0" name=""/>
        <dsp:cNvSpPr/>
      </dsp:nvSpPr>
      <dsp:spPr>
        <a:xfrm rot="5400000">
          <a:off x="5865027" y="-3525087"/>
          <a:ext cx="969392" cy="10611525"/>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r" defTabSz="933450" rtl="1">
            <a:lnSpc>
              <a:spcPct val="90000"/>
            </a:lnSpc>
            <a:spcBef>
              <a:spcPct val="0"/>
            </a:spcBef>
            <a:spcAft>
              <a:spcPct val="15000"/>
            </a:spcAft>
            <a:buChar char="•"/>
          </a:pPr>
          <a:r>
            <a:rPr lang="he-IL" sz="2100" b="1" kern="1200" dirty="0"/>
            <a:t>חברת </a:t>
          </a:r>
          <a:r>
            <a:rPr lang="en-US" sz="2100" b="1" kern="1200" dirty="0"/>
            <a:t> ADALYA </a:t>
          </a:r>
          <a:r>
            <a:rPr lang="he-IL" sz="2100" b="1" kern="1200" dirty="0"/>
            <a:t>מתמחה בייעוץ כלכלי אסטרטגי לגופים עסקיים, תוך התמקדות בייעוץ כלכלי מסורתי והגדרת תוכניות עבודה בהתאם ליעדי הארגון.</a:t>
          </a:r>
        </a:p>
      </dsp:txBody>
      <dsp:txXfrm rot="-5400000">
        <a:off x="1043961" y="1343301"/>
        <a:ext cx="10564203" cy="874748"/>
      </dsp:txXfrm>
    </dsp:sp>
    <dsp:sp modelId="{4A71D72F-B3B0-4F24-BDCD-67AA08C2E4D0}">
      <dsp:nvSpPr>
        <dsp:cNvPr id="0" name=""/>
        <dsp:cNvSpPr/>
      </dsp:nvSpPr>
      <dsp:spPr>
        <a:xfrm rot="5400000">
          <a:off x="-223705" y="2815408"/>
          <a:ext cx="1491372" cy="1043960"/>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rtl="1">
            <a:lnSpc>
              <a:spcPct val="90000"/>
            </a:lnSpc>
            <a:spcBef>
              <a:spcPct val="0"/>
            </a:spcBef>
            <a:spcAft>
              <a:spcPct val="35000"/>
            </a:spcAft>
            <a:buNone/>
          </a:pPr>
          <a:r>
            <a:rPr lang="he-IL" sz="2700" b="1" i="0" kern="1200" dirty="0"/>
            <a:t>ציבורי</a:t>
          </a:r>
          <a:endParaRPr lang="he-IL" sz="2700" kern="1200" dirty="0"/>
        </a:p>
      </dsp:txBody>
      <dsp:txXfrm rot="-5400000">
        <a:off x="1" y="3113682"/>
        <a:ext cx="1043960" cy="447412"/>
      </dsp:txXfrm>
    </dsp:sp>
    <dsp:sp modelId="{74E809A9-7BCE-4F0F-A842-BD67BCFE39A7}">
      <dsp:nvSpPr>
        <dsp:cNvPr id="0" name=""/>
        <dsp:cNvSpPr/>
      </dsp:nvSpPr>
      <dsp:spPr>
        <a:xfrm rot="5400000">
          <a:off x="5865027" y="-2229364"/>
          <a:ext cx="969392" cy="10611525"/>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r" defTabSz="933450" rtl="1">
            <a:lnSpc>
              <a:spcPct val="90000"/>
            </a:lnSpc>
            <a:spcBef>
              <a:spcPct val="0"/>
            </a:spcBef>
            <a:spcAft>
              <a:spcPct val="15000"/>
            </a:spcAft>
            <a:buChar char="•"/>
          </a:pPr>
          <a:r>
            <a:rPr lang="he-IL" sz="2100" b="1" kern="1200" dirty="0"/>
            <a:t>היכרותה המעמיקה של </a:t>
          </a:r>
          <a:r>
            <a:rPr lang="en-US" sz="2100" b="1" kern="1200" dirty="0"/>
            <a:t> ADALYA </a:t>
          </a:r>
          <a:r>
            <a:rPr lang="he-IL" sz="2100" b="1" kern="1200" dirty="0"/>
            <a:t>עם המגזר הציבורי מאפשרת לה לנהל בהצלחה פרויקטים מורכבים, משלב התכנון ועד הבקרה, תוך יצירת ערך מוסף בעבודה מול המגזר.</a:t>
          </a:r>
        </a:p>
      </dsp:txBody>
      <dsp:txXfrm rot="-5400000">
        <a:off x="1043961" y="2639024"/>
        <a:ext cx="10564203" cy="8747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B5A25-BAE5-4F9E-ABF1-9B9787AA69A9}">
      <dsp:nvSpPr>
        <dsp:cNvPr id="0" name=""/>
        <dsp:cNvSpPr/>
      </dsp:nvSpPr>
      <dsp:spPr>
        <a:xfrm>
          <a:off x="574484" y="0"/>
          <a:ext cx="9634230" cy="4997215"/>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13026-4D8D-4EC4-AFA7-206670D6E8A8}">
      <dsp:nvSpPr>
        <dsp:cNvPr id="0" name=""/>
        <dsp:cNvSpPr/>
      </dsp:nvSpPr>
      <dsp:spPr>
        <a:xfrm>
          <a:off x="860575" y="309887"/>
          <a:ext cx="4330166" cy="20777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r" defTabSz="488950" rtl="1">
            <a:lnSpc>
              <a:spcPct val="90000"/>
            </a:lnSpc>
            <a:spcBef>
              <a:spcPct val="0"/>
            </a:spcBef>
            <a:spcAft>
              <a:spcPct val="35000"/>
            </a:spcAft>
            <a:buNone/>
          </a:pPr>
          <a:r>
            <a:rPr lang="he-IL" sz="1100" kern="1200" dirty="0"/>
            <a:t>חולשות</a:t>
          </a:r>
        </a:p>
        <a:p>
          <a:pPr marL="114300" lvl="1" indent="-114300" algn="r" defTabSz="533400" rtl="1">
            <a:lnSpc>
              <a:spcPct val="90000"/>
            </a:lnSpc>
            <a:spcBef>
              <a:spcPct val="0"/>
            </a:spcBef>
            <a:spcAft>
              <a:spcPct val="15000"/>
            </a:spcAft>
            <a:buChar char="•"/>
          </a:pPr>
          <a:r>
            <a:rPr lang="he-IL" sz="1200" kern="1200" dirty="0"/>
            <a:t>כיוון שמספר תפקידי ניהול בחברה קטן ישנו קושי לעובדים הוותיקים להתקדם בסולם התפקידים. </a:t>
          </a:r>
        </a:p>
        <a:p>
          <a:pPr marL="114300" lvl="1" indent="-114300" algn="r" defTabSz="533400" rtl="1">
            <a:lnSpc>
              <a:spcPct val="90000"/>
            </a:lnSpc>
            <a:spcBef>
              <a:spcPct val="0"/>
            </a:spcBef>
            <a:spcAft>
              <a:spcPct val="15000"/>
            </a:spcAft>
            <a:buChar char="•"/>
          </a:pPr>
          <a:r>
            <a:rPr lang="he-IL" sz="1200" kern="1200" dirty="0"/>
            <a:t>מתמקדת בעיקר בתחומים מסוימים, מה שמצמצם את הפוטנציאל להתרחבות לענפים שונים או שווקים נוספים - החברה לא בוחנת אפשריות כניסה לשוק פיתוח תוכנה למרות שלחברה יש כוח אדם המתאים לצורך קידום מיזמים טכנולוגיים</a:t>
          </a:r>
        </a:p>
        <a:p>
          <a:pPr marL="114300" lvl="1" indent="-114300" algn="r" defTabSz="533400" rtl="1">
            <a:lnSpc>
              <a:spcPct val="90000"/>
            </a:lnSpc>
            <a:spcBef>
              <a:spcPct val="0"/>
            </a:spcBef>
            <a:spcAft>
              <a:spcPct val="15000"/>
            </a:spcAft>
            <a:buChar char="•"/>
          </a:pPr>
          <a:r>
            <a:rPr lang="he-IL" sz="1200" kern="1200" dirty="0"/>
            <a:t>התמקדות בעיקר בשוק המקומי עם העדר הנוכחות בזירה הבינלאומית.</a:t>
          </a:r>
        </a:p>
      </dsp:txBody>
      <dsp:txXfrm>
        <a:off x="962003" y="411315"/>
        <a:ext cx="4127310" cy="1874906"/>
      </dsp:txXfrm>
    </dsp:sp>
    <dsp:sp modelId="{4439E1B5-1F04-48DB-AC62-EE1D78A0497E}">
      <dsp:nvSpPr>
        <dsp:cNvPr id="0" name=""/>
        <dsp:cNvSpPr/>
      </dsp:nvSpPr>
      <dsp:spPr>
        <a:xfrm>
          <a:off x="5647927" y="334653"/>
          <a:ext cx="4102653" cy="1998886"/>
        </a:xfrm>
        <a:prstGeom prst="roundRect">
          <a:avLst/>
        </a:prstGeom>
        <a:solidFill>
          <a:schemeClr val="accent1">
            <a:hueOff val="0"/>
            <a:satOff val="0"/>
            <a:lum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r" defTabSz="533400" rtl="1">
            <a:lnSpc>
              <a:spcPct val="90000"/>
            </a:lnSpc>
            <a:spcBef>
              <a:spcPct val="0"/>
            </a:spcBef>
            <a:spcAft>
              <a:spcPct val="35000"/>
            </a:spcAft>
            <a:buNone/>
          </a:pPr>
          <a:r>
            <a:rPr lang="he-IL" sz="1200" kern="1200" dirty="0"/>
            <a:t>חוזקות</a:t>
          </a:r>
        </a:p>
        <a:p>
          <a:pPr marL="114300" lvl="1" indent="-114300" algn="r" defTabSz="533400" rtl="1">
            <a:lnSpc>
              <a:spcPct val="90000"/>
            </a:lnSpc>
            <a:spcBef>
              <a:spcPct val="0"/>
            </a:spcBef>
            <a:spcAft>
              <a:spcPct val="15000"/>
            </a:spcAft>
            <a:buChar char="•"/>
          </a:pPr>
          <a:r>
            <a:rPr lang="he-IL" sz="1200" kern="1200" dirty="0"/>
            <a:t>לחברה מוניטין טוב מאוד בקרב כל הלקוחות. החברה משקיעה בהכשרות מקצועיות לכל העובדים ובמערכות מחשוב מתקדמות. </a:t>
          </a:r>
        </a:p>
        <a:p>
          <a:pPr marL="114300" lvl="1" indent="-114300" algn="r" defTabSz="533400" rtl="1">
            <a:lnSpc>
              <a:spcPct val="90000"/>
            </a:lnSpc>
            <a:spcBef>
              <a:spcPct val="0"/>
            </a:spcBef>
            <a:spcAft>
              <a:spcPct val="15000"/>
            </a:spcAft>
            <a:buChar char="•"/>
          </a:pPr>
          <a:r>
            <a:rPr lang="he-IL" sz="1200" kern="1200" dirty="0"/>
            <a:t>ניסיון רב בהנחיית שיתוף פעולה בין מגזרים (ציבורי, עסקי וחברתי).</a:t>
          </a:r>
        </a:p>
        <a:p>
          <a:pPr marL="114300" lvl="1" indent="-114300" algn="r" defTabSz="533400" rtl="1">
            <a:lnSpc>
              <a:spcPct val="90000"/>
            </a:lnSpc>
            <a:spcBef>
              <a:spcPct val="0"/>
            </a:spcBef>
            <a:spcAft>
              <a:spcPct val="15000"/>
            </a:spcAft>
            <a:buChar char="•"/>
          </a:pPr>
          <a:r>
            <a:rPr lang="he-IL" sz="1200" kern="1200" dirty="0"/>
            <a:t>ניסיון רב בניהול פרויקטים מורכבים והובלת שינויים ברמה הלאומית </a:t>
          </a:r>
        </a:p>
        <a:p>
          <a:pPr marL="114300" lvl="1" indent="-114300" algn="r" defTabSz="533400" rtl="1">
            <a:lnSpc>
              <a:spcPct val="90000"/>
            </a:lnSpc>
            <a:spcBef>
              <a:spcPct val="0"/>
            </a:spcBef>
            <a:spcAft>
              <a:spcPct val="15000"/>
            </a:spcAft>
            <a:buChar char="•"/>
          </a:pPr>
          <a:r>
            <a:rPr lang="he-IL" sz="1200" kern="1200" dirty="0"/>
            <a:t>צוות מנוסה ומגובש חברתית עם ידע מעמיק בניתוח כלכלי, ייעוץ פיננסי ומיזוגים ורכישות</a:t>
          </a:r>
        </a:p>
        <a:p>
          <a:pPr marL="57150" lvl="1" indent="-57150" algn="r" defTabSz="400050" rtl="1">
            <a:lnSpc>
              <a:spcPct val="90000"/>
            </a:lnSpc>
            <a:spcBef>
              <a:spcPct val="0"/>
            </a:spcBef>
            <a:spcAft>
              <a:spcPct val="15000"/>
            </a:spcAft>
            <a:buChar char="•"/>
          </a:pPr>
          <a:endParaRPr lang="he-IL" sz="900" kern="1200" dirty="0"/>
        </a:p>
      </dsp:txBody>
      <dsp:txXfrm>
        <a:off x="5745505" y="432231"/>
        <a:ext cx="3907497" cy="1803730"/>
      </dsp:txXfrm>
    </dsp:sp>
    <dsp:sp modelId="{AEE080E1-520B-48AE-B875-67E62B10E5CA}">
      <dsp:nvSpPr>
        <dsp:cNvPr id="0" name=""/>
        <dsp:cNvSpPr/>
      </dsp:nvSpPr>
      <dsp:spPr>
        <a:xfrm>
          <a:off x="761300" y="2699035"/>
          <a:ext cx="4503330" cy="19988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r" defTabSz="622300" rtl="1">
            <a:lnSpc>
              <a:spcPct val="90000"/>
            </a:lnSpc>
            <a:spcBef>
              <a:spcPct val="0"/>
            </a:spcBef>
            <a:spcAft>
              <a:spcPct val="35000"/>
            </a:spcAft>
            <a:buNone/>
          </a:pPr>
          <a:r>
            <a:rPr lang="he-IL" sz="1400" kern="1200" dirty="0"/>
            <a:t>איומים</a:t>
          </a:r>
        </a:p>
        <a:p>
          <a:pPr marL="57150" lvl="1" indent="-57150" algn="r" defTabSz="488950" rtl="1">
            <a:lnSpc>
              <a:spcPct val="90000"/>
            </a:lnSpc>
            <a:spcBef>
              <a:spcPct val="0"/>
            </a:spcBef>
            <a:spcAft>
              <a:spcPct val="15000"/>
            </a:spcAft>
            <a:buChar char="•"/>
          </a:pPr>
          <a:r>
            <a:rPr lang="he-IL" sz="1100" kern="1200" dirty="0"/>
            <a:t>תחרות מוגברת בשוק הייעוץ עם כניסת שחקנים בינלאומיים לשוק המקומי - ישנם מספר חברות ייעוץ בתחומי פעילות של החברה שמתחרים על פרויקטים דומים (לדוגמה:</a:t>
          </a:r>
          <a:r>
            <a:rPr lang="en-US" sz="1100" kern="1200" dirty="0"/>
            <a:t>WSP</a:t>
          </a:r>
          <a:r>
            <a:rPr lang="he-IL" sz="1100" kern="1200" dirty="0"/>
            <a:t>).</a:t>
          </a:r>
        </a:p>
        <a:p>
          <a:pPr marL="57150" lvl="1" indent="-57150" algn="r" defTabSz="488950" rtl="1">
            <a:lnSpc>
              <a:spcPct val="90000"/>
            </a:lnSpc>
            <a:spcBef>
              <a:spcPct val="0"/>
            </a:spcBef>
            <a:spcAft>
              <a:spcPct val="15000"/>
            </a:spcAft>
            <a:buChar char="•"/>
          </a:pPr>
          <a:r>
            <a:rPr lang="he-IL" sz="1100" kern="1200" dirty="0"/>
            <a:t>ככל הנראה המשק ישראלי יכנס למיתון בשנים הקרובות וזה אמור להקרין על צמצום פעילות </a:t>
          </a:r>
          <a:r>
            <a:rPr lang="he-IL" sz="1100" kern="1200" dirty="0" err="1"/>
            <a:t>הפרויקטלית</a:t>
          </a:r>
          <a:r>
            <a:rPr lang="he-IL" sz="1100" kern="1200" dirty="0"/>
            <a:t> של משרדי הממשלה וכך לצמצם את הצורך במוצרים של החברה. </a:t>
          </a:r>
        </a:p>
        <a:p>
          <a:pPr marL="57150" lvl="1" indent="-57150" algn="r" defTabSz="488950" rtl="1">
            <a:lnSpc>
              <a:spcPct val="90000"/>
            </a:lnSpc>
            <a:spcBef>
              <a:spcPct val="0"/>
            </a:spcBef>
            <a:spcAft>
              <a:spcPct val="15000"/>
            </a:spcAft>
            <a:buChar char="•"/>
          </a:pPr>
          <a:r>
            <a:rPr lang="he-IL" sz="1100" kern="1200" dirty="0"/>
            <a:t>אי וודאות רגולטורית או שינויים פוליטיים שעלולים להקשות על פעילות החברה</a:t>
          </a:r>
        </a:p>
        <a:p>
          <a:pPr marL="57150" lvl="1" indent="-57150" algn="r" defTabSz="488950" rtl="1">
            <a:lnSpc>
              <a:spcPct val="90000"/>
            </a:lnSpc>
            <a:spcBef>
              <a:spcPct val="0"/>
            </a:spcBef>
            <a:spcAft>
              <a:spcPct val="15000"/>
            </a:spcAft>
            <a:buChar char="•"/>
          </a:pPr>
          <a:r>
            <a:rPr lang="he-IL" sz="1100" kern="1200" dirty="0"/>
            <a:t>משברים כלכליים שעלולים להקטין את הוצאות הלקוחות על שירותי ייעוץ</a:t>
          </a:r>
        </a:p>
        <a:p>
          <a:pPr marL="57150" lvl="1" indent="-57150" algn="r" defTabSz="488950" rtl="1">
            <a:lnSpc>
              <a:spcPct val="90000"/>
            </a:lnSpc>
            <a:spcBef>
              <a:spcPct val="0"/>
            </a:spcBef>
            <a:spcAft>
              <a:spcPct val="15000"/>
            </a:spcAft>
            <a:buChar char="•"/>
          </a:pPr>
          <a:endParaRPr lang="he-IL" sz="1100" kern="1200" dirty="0"/>
        </a:p>
      </dsp:txBody>
      <dsp:txXfrm>
        <a:off x="858878" y="2796613"/>
        <a:ext cx="4308174" cy="1803730"/>
      </dsp:txXfrm>
    </dsp:sp>
    <dsp:sp modelId="{CABE304F-9549-4EC6-94EB-1DFA42986B69}">
      <dsp:nvSpPr>
        <dsp:cNvPr id="0" name=""/>
        <dsp:cNvSpPr/>
      </dsp:nvSpPr>
      <dsp:spPr>
        <a:xfrm>
          <a:off x="5538398" y="2670771"/>
          <a:ext cx="4321871" cy="19988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r" defTabSz="533400" rtl="1">
            <a:lnSpc>
              <a:spcPct val="90000"/>
            </a:lnSpc>
            <a:spcBef>
              <a:spcPct val="0"/>
            </a:spcBef>
            <a:spcAft>
              <a:spcPct val="35000"/>
            </a:spcAft>
            <a:buNone/>
          </a:pPr>
          <a:r>
            <a:rPr lang="he-IL" sz="1200" kern="1200" dirty="0"/>
            <a:t>הזדמנויות</a:t>
          </a:r>
        </a:p>
        <a:p>
          <a:pPr marL="114300" lvl="1" indent="-114300" algn="r" defTabSz="622300" rtl="1">
            <a:lnSpc>
              <a:spcPct val="90000"/>
            </a:lnSpc>
            <a:spcBef>
              <a:spcPct val="0"/>
            </a:spcBef>
            <a:spcAft>
              <a:spcPct val="15000"/>
            </a:spcAft>
            <a:buChar char="•"/>
          </a:pPr>
          <a:r>
            <a:rPr lang="he-IL" sz="1400" kern="1200" dirty="0"/>
            <a:t>החברה בוחנת אפשרויות כניסה לשווקי ייעוץ בין לאומיים</a:t>
          </a:r>
        </a:p>
        <a:p>
          <a:pPr marL="114300" lvl="1" indent="-114300" algn="r" defTabSz="622300" rtl="1">
            <a:lnSpc>
              <a:spcPct val="90000"/>
            </a:lnSpc>
            <a:spcBef>
              <a:spcPct val="0"/>
            </a:spcBef>
            <a:spcAft>
              <a:spcPct val="15000"/>
            </a:spcAft>
            <a:buChar char="•"/>
          </a:pPr>
          <a:r>
            <a:rPr lang="he-IL" sz="1400" kern="1200" dirty="0"/>
            <a:t>שימוש בטכנולוגיות מתקדמות כמו בינה מלאכותית ונתוני עתק לשיפור ייעוץ אסטרטגי- שימוש בטכנולוגיות </a:t>
          </a:r>
          <a:r>
            <a:rPr lang="en-US" sz="1400" kern="1200" dirty="0"/>
            <a:t>AI </a:t>
          </a:r>
          <a:r>
            <a:rPr lang="he-IL" sz="1400" kern="1200" dirty="0"/>
            <a:t> יכול לשפר איכות תוצרי החברה.</a:t>
          </a:r>
        </a:p>
        <a:p>
          <a:pPr marL="114300" lvl="1" indent="-114300" algn="r" defTabSz="622300" rtl="1">
            <a:lnSpc>
              <a:spcPct val="90000"/>
            </a:lnSpc>
            <a:spcBef>
              <a:spcPct val="0"/>
            </a:spcBef>
            <a:spcAft>
              <a:spcPct val="15000"/>
            </a:spcAft>
            <a:buChar char="•"/>
          </a:pPr>
          <a:r>
            <a:rPr lang="he-IL" sz="1400" kern="1200" dirty="0"/>
            <a:t>הרחבת החברה ופתיחת סניפים חדשים בארץ יכולה לשפר נגישות למשרדי החברה ללקוחות </a:t>
          </a:r>
        </a:p>
        <a:p>
          <a:pPr marL="114300" lvl="1" indent="-114300" algn="r" defTabSz="622300" rtl="1">
            <a:lnSpc>
              <a:spcPct val="90000"/>
            </a:lnSpc>
            <a:spcBef>
              <a:spcPct val="0"/>
            </a:spcBef>
            <a:spcAft>
              <a:spcPct val="15000"/>
            </a:spcAft>
            <a:buChar char="•"/>
          </a:pPr>
          <a:r>
            <a:rPr lang="he-IL" sz="1400" kern="1200" dirty="0"/>
            <a:t>פוטנציאל להתרחבות לאזורי פעילות חדשים כמו קיימות, טכנולוגיה ובריאות</a:t>
          </a:r>
        </a:p>
      </dsp:txBody>
      <dsp:txXfrm>
        <a:off x="5635976" y="2768349"/>
        <a:ext cx="4126715" cy="18037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B5A25-BAE5-4F9E-ABF1-9B9787AA69A9}">
      <dsp:nvSpPr>
        <dsp:cNvPr id="0" name=""/>
        <dsp:cNvSpPr/>
      </dsp:nvSpPr>
      <dsp:spPr>
        <a:xfrm>
          <a:off x="574484" y="0"/>
          <a:ext cx="9634230" cy="4997215"/>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13026-4D8D-4EC4-AFA7-206670D6E8A8}">
      <dsp:nvSpPr>
        <dsp:cNvPr id="0" name=""/>
        <dsp:cNvSpPr/>
      </dsp:nvSpPr>
      <dsp:spPr>
        <a:xfrm>
          <a:off x="860575" y="309887"/>
          <a:ext cx="4330166" cy="20777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r" defTabSz="488950" rtl="1">
            <a:lnSpc>
              <a:spcPct val="90000"/>
            </a:lnSpc>
            <a:spcBef>
              <a:spcPct val="0"/>
            </a:spcBef>
            <a:spcAft>
              <a:spcPct val="35000"/>
            </a:spcAft>
            <a:buNone/>
          </a:pPr>
          <a:r>
            <a:rPr lang="he-IL" sz="1100" kern="1200" dirty="0"/>
            <a:t>חוזקות ואיומים</a:t>
          </a:r>
        </a:p>
        <a:p>
          <a:pPr marL="114300" lvl="1" indent="-114300" algn="r" defTabSz="622300" rtl="1">
            <a:lnSpc>
              <a:spcPct val="90000"/>
            </a:lnSpc>
            <a:spcBef>
              <a:spcPct val="0"/>
            </a:spcBef>
            <a:spcAft>
              <a:spcPct val="15000"/>
            </a:spcAft>
            <a:buChar char="•"/>
          </a:pPr>
          <a:r>
            <a:rPr lang="he-IL" sz="1400" kern="1200" dirty="0"/>
            <a:t>ניסיון הרב של כוח האדם בחברה יכול לסייע לה להתמודד עם התחרות הגבוהה ולצמצם את הסיכון של שינויים רגולטוריים.</a:t>
          </a:r>
        </a:p>
        <a:p>
          <a:pPr marL="114300" lvl="1" indent="-114300" algn="r" defTabSz="622300" rtl="1">
            <a:lnSpc>
              <a:spcPct val="90000"/>
            </a:lnSpc>
            <a:spcBef>
              <a:spcPct val="0"/>
            </a:spcBef>
            <a:spcAft>
              <a:spcPct val="15000"/>
            </a:spcAft>
            <a:buChar char="•"/>
          </a:pPr>
          <a:r>
            <a:rPr lang="he-IL" sz="1400" kern="1200" dirty="0"/>
            <a:t>התמודדות עם תחרות גוברת ושחקנים בינלאומיים יכולה להיות מאתגרת, אך המוניטין והידע העמוק של הצוות יכולים לסייע לחברה להציע ערך מוסף וליצור יתרון תחרותי.</a:t>
          </a:r>
        </a:p>
      </dsp:txBody>
      <dsp:txXfrm>
        <a:off x="962003" y="411315"/>
        <a:ext cx="4127310" cy="1874906"/>
      </dsp:txXfrm>
    </dsp:sp>
    <dsp:sp modelId="{4439E1B5-1F04-48DB-AC62-EE1D78A0497E}">
      <dsp:nvSpPr>
        <dsp:cNvPr id="0" name=""/>
        <dsp:cNvSpPr/>
      </dsp:nvSpPr>
      <dsp:spPr>
        <a:xfrm>
          <a:off x="5647927" y="334073"/>
          <a:ext cx="4102653" cy="1998886"/>
        </a:xfrm>
        <a:prstGeom prst="roundRect">
          <a:avLst/>
        </a:prstGeom>
        <a:solidFill>
          <a:schemeClr val="accent1">
            <a:hueOff val="0"/>
            <a:satOff val="0"/>
            <a:lum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r" defTabSz="577850" rtl="1">
            <a:lnSpc>
              <a:spcPct val="90000"/>
            </a:lnSpc>
            <a:spcBef>
              <a:spcPct val="0"/>
            </a:spcBef>
            <a:spcAft>
              <a:spcPct val="35000"/>
            </a:spcAft>
            <a:buNone/>
          </a:pPr>
          <a:r>
            <a:rPr lang="he-IL" sz="1300" kern="1200" dirty="0"/>
            <a:t>חוזקות והזדמנויות</a:t>
          </a:r>
        </a:p>
        <a:p>
          <a:pPr marL="114300" lvl="1" indent="-114300" algn="r" defTabSz="622300" rtl="1">
            <a:lnSpc>
              <a:spcPct val="90000"/>
            </a:lnSpc>
            <a:spcBef>
              <a:spcPct val="0"/>
            </a:spcBef>
            <a:spcAft>
              <a:spcPct val="15000"/>
            </a:spcAft>
            <a:buChar char="•"/>
          </a:pPr>
          <a:r>
            <a:rPr lang="he-IL" sz="1400" kern="1200" dirty="0"/>
            <a:t> החברה יכולה לנצל את המוניטין החיובי והכישורים המקצועיים שלה כדי להיכנס לשווקי ייעוץ בינלאומיים.</a:t>
          </a:r>
        </a:p>
        <a:p>
          <a:pPr marL="114300" lvl="1" indent="-114300" algn="r" defTabSz="622300" rtl="1">
            <a:lnSpc>
              <a:spcPct val="90000"/>
            </a:lnSpc>
            <a:spcBef>
              <a:spcPct val="0"/>
            </a:spcBef>
            <a:spcAft>
              <a:spcPct val="15000"/>
            </a:spcAft>
            <a:buChar char="•"/>
          </a:pPr>
          <a:r>
            <a:rPr lang="he-IL" sz="1400" kern="1200" dirty="0"/>
            <a:t> השימוש בטכנולוגיות </a:t>
          </a:r>
          <a:r>
            <a:rPr lang="en-US" sz="1400" kern="1200" dirty="0"/>
            <a:t>AI </a:t>
          </a:r>
          <a:r>
            <a:rPr lang="he-IL" sz="1400" kern="1200" dirty="0"/>
            <a:t>ונתוני עתק לשיפור ייעוץ אסטרטגי יכול להעצים את היכולת של החברה לספק פתרונות חדשניים ומדויקים יותר. זה גם מחזק את המוניטין של החברה כפורצת דרך בתחום.</a:t>
          </a:r>
        </a:p>
        <a:p>
          <a:pPr marL="57150" lvl="1" indent="-57150" algn="r" defTabSz="444500" rtl="1">
            <a:lnSpc>
              <a:spcPct val="90000"/>
            </a:lnSpc>
            <a:spcBef>
              <a:spcPct val="0"/>
            </a:spcBef>
            <a:spcAft>
              <a:spcPct val="15000"/>
            </a:spcAft>
            <a:buChar char="•"/>
          </a:pPr>
          <a:endParaRPr lang="he-IL" sz="1000" kern="1200" dirty="0"/>
        </a:p>
      </dsp:txBody>
      <dsp:txXfrm>
        <a:off x="5745505" y="431651"/>
        <a:ext cx="3907497" cy="1803730"/>
      </dsp:txXfrm>
    </dsp:sp>
    <dsp:sp modelId="{AEE080E1-520B-48AE-B875-67E62B10E5CA}">
      <dsp:nvSpPr>
        <dsp:cNvPr id="0" name=""/>
        <dsp:cNvSpPr/>
      </dsp:nvSpPr>
      <dsp:spPr>
        <a:xfrm>
          <a:off x="761300" y="2699035"/>
          <a:ext cx="4503330" cy="19988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r" defTabSz="622300" rtl="1">
            <a:lnSpc>
              <a:spcPct val="90000"/>
            </a:lnSpc>
            <a:spcBef>
              <a:spcPct val="0"/>
            </a:spcBef>
            <a:spcAft>
              <a:spcPct val="35000"/>
            </a:spcAft>
            <a:buNone/>
          </a:pPr>
          <a:r>
            <a:rPr lang="he-IL" sz="1400" kern="1200" dirty="0"/>
            <a:t>חולשות ואיומים</a:t>
          </a:r>
        </a:p>
        <a:p>
          <a:pPr marL="114300" lvl="1" indent="-114300" algn="r" defTabSz="533400" rtl="1">
            <a:lnSpc>
              <a:spcPct val="90000"/>
            </a:lnSpc>
            <a:spcBef>
              <a:spcPct val="0"/>
            </a:spcBef>
            <a:spcAft>
              <a:spcPct val="15000"/>
            </a:spcAft>
            <a:buChar char="•"/>
          </a:pPr>
          <a:r>
            <a:rPr lang="he-IL" sz="1200" kern="1200" dirty="0"/>
            <a:t>התמקדות בשוק המקומי והתמקדות בתחום מסוים עלולה להוות חולשה משמעותית אם ישנה תחרות גוברת ותנודות כלכליות. החברה צריכה לפתח אסטרטגיות לצמצום התלות הזו על ידי התרחבות לשווקים חדשים והרחבת מגוון השירותים.</a:t>
          </a:r>
        </a:p>
        <a:p>
          <a:pPr marL="114300" lvl="1" indent="-114300" algn="r" defTabSz="533400" rtl="1">
            <a:lnSpc>
              <a:spcPct val="90000"/>
            </a:lnSpc>
            <a:spcBef>
              <a:spcPct val="0"/>
            </a:spcBef>
            <a:spcAft>
              <a:spcPct val="15000"/>
            </a:spcAft>
            <a:buChar char="•"/>
          </a:pPr>
          <a:r>
            <a:rPr lang="he-IL" sz="1200" kern="1200" dirty="0"/>
            <a:t> כאשר החברה מתמקדת בתחום מסוים בלבד (בתחום היעוץ), היא חשופה לסיכונים הקשורים לירידת הביקוש או לאי יציבות כלכלית. החברה צריכה להרחיב את תחומי הפעילות שלה ולהכין את עצמה למקרים של ירידת ביקוש בתחום המרכזי על ידי גיוון הפעילות והחדרת תחומים חדשים שיכולים לשמור על יציבותה הכלכלית.</a:t>
          </a:r>
        </a:p>
      </dsp:txBody>
      <dsp:txXfrm>
        <a:off x="858878" y="2796613"/>
        <a:ext cx="4308174" cy="1803730"/>
      </dsp:txXfrm>
    </dsp:sp>
    <dsp:sp modelId="{CABE304F-9549-4EC6-94EB-1DFA42986B69}">
      <dsp:nvSpPr>
        <dsp:cNvPr id="0" name=""/>
        <dsp:cNvSpPr/>
      </dsp:nvSpPr>
      <dsp:spPr>
        <a:xfrm>
          <a:off x="5538398" y="2670771"/>
          <a:ext cx="4321871" cy="19988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t" anchorCtr="0">
          <a:noAutofit/>
        </a:bodyPr>
        <a:lstStyle/>
        <a:p>
          <a:pPr marL="0" lvl="0" indent="0" algn="r" defTabSz="533400" rtl="1">
            <a:lnSpc>
              <a:spcPct val="90000"/>
            </a:lnSpc>
            <a:spcBef>
              <a:spcPct val="0"/>
            </a:spcBef>
            <a:spcAft>
              <a:spcPct val="35000"/>
            </a:spcAft>
            <a:buNone/>
          </a:pPr>
          <a:r>
            <a:rPr lang="he-IL" sz="1200" kern="1200" dirty="0"/>
            <a:t>חולשות והזדמנויות</a:t>
          </a:r>
        </a:p>
        <a:p>
          <a:pPr marL="57150" lvl="1" indent="-57150" algn="r" defTabSz="400050" rtl="1">
            <a:lnSpc>
              <a:spcPct val="90000"/>
            </a:lnSpc>
            <a:spcBef>
              <a:spcPct val="0"/>
            </a:spcBef>
            <a:spcAft>
              <a:spcPct val="15000"/>
            </a:spcAft>
            <a:buChar char="•"/>
          </a:pPr>
          <a:r>
            <a:rPr lang="he-IL" sz="900" kern="1200" dirty="0"/>
            <a:t> </a:t>
          </a:r>
          <a:r>
            <a:rPr lang="he-IL" sz="1400" kern="1200" dirty="0"/>
            <a:t>פתיחת סניפים חדשים בארץ והתרחבות לשווקים בינלאומיים יכולים ליצר תפקידים חדשים, מה שיכול להוות פתרון לבעיית וליצור הזדמנויות צמיחה פנימיות. קידום העובדים </a:t>
          </a:r>
        </a:p>
        <a:p>
          <a:pPr marL="114300" lvl="1" indent="-114300" algn="r" defTabSz="622300" rtl="1">
            <a:lnSpc>
              <a:spcPct val="90000"/>
            </a:lnSpc>
            <a:spcBef>
              <a:spcPct val="0"/>
            </a:spcBef>
            <a:spcAft>
              <a:spcPct val="15000"/>
            </a:spcAft>
            <a:buChar char="•"/>
          </a:pPr>
          <a:r>
            <a:rPr lang="he-IL" sz="1400" kern="1200" dirty="0"/>
            <a:t>הכניסה לתחומים כמו טכנולוגיה ובריאות עשויה לדרוש תפקידים ומיומנויות חדשים, מה שיכול לפתוח דלתות קידום והשתלבות לצוות הקיים</a:t>
          </a:r>
        </a:p>
        <a:p>
          <a:pPr marL="57150" lvl="1" indent="-57150" algn="r" defTabSz="400050" rtl="1">
            <a:lnSpc>
              <a:spcPct val="90000"/>
            </a:lnSpc>
            <a:spcBef>
              <a:spcPct val="0"/>
            </a:spcBef>
            <a:spcAft>
              <a:spcPct val="15000"/>
            </a:spcAft>
            <a:buChar char="•"/>
          </a:pPr>
          <a:endParaRPr lang="he-IL" sz="900" kern="1200" dirty="0"/>
        </a:p>
      </dsp:txBody>
      <dsp:txXfrm>
        <a:off x="5635976" y="2768349"/>
        <a:ext cx="4126715" cy="18037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192B6-7C88-4C02-A08D-E68866C5B586}">
      <dsp:nvSpPr>
        <dsp:cNvPr id="0" name=""/>
        <dsp:cNvSpPr/>
      </dsp:nvSpPr>
      <dsp:spPr>
        <a:xfrm>
          <a:off x="1907098" y="1860"/>
          <a:ext cx="1288007" cy="8372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1">
            <a:lnSpc>
              <a:spcPct val="90000"/>
            </a:lnSpc>
            <a:spcBef>
              <a:spcPct val="0"/>
            </a:spcBef>
            <a:spcAft>
              <a:spcPct val="35000"/>
            </a:spcAft>
            <a:buNone/>
          </a:pPr>
          <a:r>
            <a:rPr lang="he-IL" sz="1800" kern="1200" dirty="0"/>
            <a:t>מתחרים פוטנציאליים</a:t>
          </a:r>
        </a:p>
      </dsp:txBody>
      <dsp:txXfrm>
        <a:off x="1947967" y="42729"/>
        <a:ext cx="1206269" cy="755467"/>
      </dsp:txXfrm>
    </dsp:sp>
    <dsp:sp modelId="{74B6D6D0-907F-4E56-B63C-F0641449B3AD}">
      <dsp:nvSpPr>
        <dsp:cNvPr id="0" name=""/>
        <dsp:cNvSpPr/>
      </dsp:nvSpPr>
      <dsp:spPr>
        <a:xfrm>
          <a:off x="874819" y="418416"/>
          <a:ext cx="3342805" cy="3342805"/>
        </a:xfrm>
        <a:custGeom>
          <a:avLst/>
          <a:gdLst/>
          <a:ahLst/>
          <a:cxnLst/>
          <a:rect l="0" t="0" r="0" b="0"/>
          <a:pathLst>
            <a:path>
              <a:moveTo>
                <a:pt x="2328667" y="134655"/>
              </a:moveTo>
              <a:arcTo wR="1671402" hR="1671402" stAng="17589379" swAng="1858979"/>
            </a:path>
          </a:pathLst>
        </a:custGeom>
        <a:noFill/>
        <a:ln w="1270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BD76E38-6617-481C-91CC-BA3FF205D943}">
      <dsp:nvSpPr>
        <dsp:cNvPr id="0" name=""/>
        <dsp:cNvSpPr/>
      </dsp:nvSpPr>
      <dsp:spPr>
        <a:xfrm>
          <a:off x="3480657" y="1118075"/>
          <a:ext cx="1288007" cy="8372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1">
            <a:lnSpc>
              <a:spcPct val="90000"/>
            </a:lnSpc>
            <a:spcBef>
              <a:spcPct val="0"/>
            </a:spcBef>
            <a:spcAft>
              <a:spcPct val="35000"/>
            </a:spcAft>
            <a:buNone/>
          </a:pPr>
          <a:r>
            <a:rPr lang="he-IL" sz="1800" kern="1200" dirty="0"/>
            <a:t>ספקים</a:t>
          </a:r>
        </a:p>
      </dsp:txBody>
      <dsp:txXfrm>
        <a:off x="3521526" y="1158944"/>
        <a:ext cx="1206269" cy="755467"/>
      </dsp:txXfrm>
    </dsp:sp>
    <dsp:sp modelId="{E1F7B2A2-C5FD-430E-8BDC-69711074E843}">
      <dsp:nvSpPr>
        <dsp:cNvPr id="0" name=""/>
        <dsp:cNvSpPr/>
      </dsp:nvSpPr>
      <dsp:spPr>
        <a:xfrm>
          <a:off x="877222" y="424152"/>
          <a:ext cx="3342805" cy="3342805"/>
        </a:xfrm>
        <a:custGeom>
          <a:avLst/>
          <a:gdLst/>
          <a:ahLst/>
          <a:cxnLst/>
          <a:rect l="0" t="0" r="0" b="0"/>
          <a:pathLst>
            <a:path>
              <a:moveTo>
                <a:pt x="3337800" y="1542146"/>
              </a:moveTo>
              <a:arcTo wR="1671402" hR="1671402" stAng="21333879" swAng="2271652"/>
            </a:path>
          </a:pathLst>
        </a:custGeom>
        <a:noFill/>
        <a:ln w="1270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FDBFB9B-9A60-4068-BCB0-415A314A20E0}">
      <dsp:nvSpPr>
        <dsp:cNvPr id="0" name=""/>
        <dsp:cNvSpPr/>
      </dsp:nvSpPr>
      <dsp:spPr>
        <a:xfrm>
          <a:off x="2889524" y="3025456"/>
          <a:ext cx="1288007" cy="8372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1">
            <a:lnSpc>
              <a:spcPct val="90000"/>
            </a:lnSpc>
            <a:spcBef>
              <a:spcPct val="0"/>
            </a:spcBef>
            <a:spcAft>
              <a:spcPct val="35000"/>
            </a:spcAft>
            <a:buNone/>
          </a:pPr>
          <a:r>
            <a:rPr lang="he-IL" sz="1800" kern="1200" dirty="0"/>
            <a:t>לקוחות</a:t>
          </a:r>
        </a:p>
      </dsp:txBody>
      <dsp:txXfrm>
        <a:off x="2930393" y="3066325"/>
        <a:ext cx="1206269" cy="755467"/>
      </dsp:txXfrm>
    </dsp:sp>
    <dsp:sp modelId="{1BD1A94F-9BA4-42E0-9311-A51909B878D0}">
      <dsp:nvSpPr>
        <dsp:cNvPr id="0" name=""/>
        <dsp:cNvSpPr/>
      </dsp:nvSpPr>
      <dsp:spPr>
        <a:xfrm>
          <a:off x="879699" y="420462"/>
          <a:ext cx="3342805" cy="3342805"/>
        </a:xfrm>
        <a:custGeom>
          <a:avLst/>
          <a:gdLst/>
          <a:ahLst/>
          <a:cxnLst/>
          <a:rect l="0" t="0" r="0" b="0"/>
          <a:pathLst>
            <a:path>
              <a:moveTo>
                <a:pt x="2003194" y="3309542"/>
              </a:moveTo>
              <a:arcTo wR="1671402" hR="1671402" stAng="4713008" swAng="1373985"/>
            </a:path>
          </a:pathLst>
        </a:custGeom>
        <a:noFill/>
        <a:ln w="1270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ED318DE-4CFB-4EA0-A7CB-99C8E8F3B362}">
      <dsp:nvSpPr>
        <dsp:cNvPr id="0" name=""/>
        <dsp:cNvSpPr/>
      </dsp:nvSpPr>
      <dsp:spPr>
        <a:xfrm>
          <a:off x="924672" y="3025456"/>
          <a:ext cx="1288007" cy="8372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1">
            <a:lnSpc>
              <a:spcPct val="90000"/>
            </a:lnSpc>
            <a:spcBef>
              <a:spcPct val="0"/>
            </a:spcBef>
            <a:spcAft>
              <a:spcPct val="35000"/>
            </a:spcAft>
            <a:buNone/>
          </a:pPr>
          <a:r>
            <a:rPr lang="he-IL" sz="1800" kern="1200" dirty="0"/>
            <a:t>מוצרים תחליפים</a:t>
          </a:r>
        </a:p>
      </dsp:txBody>
      <dsp:txXfrm>
        <a:off x="965541" y="3066325"/>
        <a:ext cx="1206269" cy="755467"/>
      </dsp:txXfrm>
    </dsp:sp>
    <dsp:sp modelId="{DD630A64-C466-4958-8403-4160D15A6360}">
      <dsp:nvSpPr>
        <dsp:cNvPr id="0" name=""/>
        <dsp:cNvSpPr/>
      </dsp:nvSpPr>
      <dsp:spPr>
        <a:xfrm>
          <a:off x="879699" y="420462"/>
          <a:ext cx="3342805" cy="3342805"/>
        </a:xfrm>
        <a:custGeom>
          <a:avLst/>
          <a:gdLst/>
          <a:ahLst/>
          <a:cxnLst/>
          <a:rect l="0" t="0" r="0" b="0"/>
          <a:pathLst>
            <a:path>
              <a:moveTo>
                <a:pt x="279097" y="2596104"/>
              </a:moveTo>
              <a:arcTo wR="1671402" hR="1671402" stAng="8784589" swAng="2194870"/>
            </a:path>
          </a:pathLst>
        </a:custGeom>
        <a:noFill/>
        <a:ln w="1270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10E3DCA-DF1C-4367-AAC7-5200A50DA787}">
      <dsp:nvSpPr>
        <dsp:cNvPr id="0" name=""/>
        <dsp:cNvSpPr/>
      </dsp:nvSpPr>
      <dsp:spPr>
        <a:xfrm>
          <a:off x="317499" y="1156771"/>
          <a:ext cx="1288007" cy="8372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1">
            <a:lnSpc>
              <a:spcPct val="90000"/>
            </a:lnSpc>
            <a:spcBef>
              <a:spcPct val="0"/>
            </a:spcBef>
            <a:spcAft>
              <a:spcPct val="35000"/>
            </a:spcAft>
            <a:buNone/>
          </a:pPr>
          <a:r>
            <a:rPr lang="he-IL" sz="1800" kern="1200" dirty="0"/>
            <a:t>מתחרות קיימות</a:t>
          </a:r>
        </a:p>
      </dsp:txBody>
      <dsp:txXfrm>
        <a:off x="358368" y="1197640"/>
        <a:ext cx="1206269" cy="755467"/>
      </dsp:txXfrm>
    </dsp:sp>
    <dsp:sp modelId="{18ED9E9B-E9CC-4F58-ABE2-4AC2A6E9902F}">
      <dsp:nvSpPr>
        <dsp:cNvPr id="0" name=""/>
        <dsp:cNvSpPr/>
      </dsp:nvSpPr>
      <dsp:spPr>
        <a:xfrm>
          <a:off x="879699" y="420462"/>
          <a:ext cx="3342805" cy="3342805"/>
        </a:xfrm>
        <a:custGeom>
          <a:avLst/>
          <a:gdLst/>
          <a:ahLst/>
          <a:cxnLst/>
          <a:rect l="0" t="0" r="0" b="0"/>
          <a:pathLst>
            <a:path>
              <a:moveTo>
                <a:pt x="291440" y="728380"/>
              </a:moveTo>
              <a:arcTo wR="1671402" hR="1671402" stAng="12860846" swAng="1959674"/>
            </a:path>
          </a:pathLst>
        </a:custGeom>
        <a:noFill/>
        <a:ln w="1270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8AE84-207D-47FC-9952-1B5DBE04051B}">
      <dsp:nvSpPr>
        <dsp:cNvPr id="0" name=""/>
        <dsp:cNvSpPr/>
      </dsp:nvSpPr>
      <dsp:spPr>
        <a:xfrm>
          <a:off x="5505" y="528390"/>
          <a:ext cx="2620060" cy="1805221"/>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75C0EA-4C13-41F9-9FF9-40AE9A9CC2C5}">
      <dsp:nvSpPr>
        <dsp:cNvPr id="0" name=""/>
        <dsp:cNvSpPr/>
      </dsp:nvSpPr>
      <dsp:spPr>
        <a:xfrm>
          <a:off x="5505" y="2333612"/>
          <a:ext cx="2620060" cy="972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0" numCol="1" spcCol="1270" anchor="t" anchorCtr="0">
          <a:noAutofit/>
        </a:bodyPr>
        <a:lstStyle/>
        <a:p>
          <a:pPr marL="0" lvl="0" indent="0" algn="ctr" defTabSz="1555750" rtl="1">
            <a:lnSpc>
              <a:spcPct val="90000"/>
            </a:lnSpc>
            <a:spcBef>
              <a:spcPct val="0"/>
            </a:spcBef>
            <a:spcAft>
              <a:spcPct val="35000"/>
            </a:spcAft>
            <a:buNone/>
          </a:pPr>
          <a:r>
            <a:rPr lang="he-IL" sz="3500" kern="1200" dirty="0"/>
            <a:t>רשת קשרים</a:t>
          </a:r>
        </a:p>
      </dsp:txBody>
      <dsp:txXfrm>
        <a:off x="5505" y="2333612"/>
        <a:ext cx="2620060" cy="972042"/>
      </dsp:txXfrm>
    </dsp:sp>
    <dsp:sp modelId="{E04A55A4-9CB8-48F5-8A80-E563A21FE025}">
      <dsp:nvSpPr>
        <dsp:cNvPr id="0" name=""/>
        <dsp:cNvSpPr/>
      </dsp:nvSpPr>
      <dsp:spPr>
        <a:xfrm>
          <a:off x="2887681" y="528390"/>
          <a:ext cx="2620060" cy="1805221"/>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899539-5B45-41BC-A808-291AE004CA52}">
      <dsp:nvSpPr>
        <dsp:cNvPr id="0" name=""/>
        <dsp:cNvSpPr/>
      </dsp:nvSpPr>
      <dsp:spPr>
        <a:xfrm>
          <a:off x="2887681" y="2333612"/>
          <a:ext cx="2620060" cy="972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0" numCol="1" spcCol="1270" anchor="t" anchorCtr="0">
          <a:noAutofit/>
        </a:bodyPr>
        <a:lstStyle/>
        <a:p>
          <a:pPr marL="0" lvl="0" indent="0" algn="ctr" defTabSz="1555750" rtl="1">
            <a:lnSpc>
              <a:spcPct val="90000"/>
            </a:lnSpc>
            <a:spcBef>
              <a:spcPct val="0"/>
            </a:spcBef>
            <a:spcAft>
              <a:spcPct val="35000"/>
            </a:spcAft>
            <a:buNone/>
          </a:pPr>
          <a:r>
            <a:rPr lang="he-IL" sz="3500" kern="1200" dirty="0"/>
            <a:t>מוניטין חזק</a:t>
          </a:r>
        </a:p>
      </dsp:txBody>
      <dsp:txXfrm>
        <a:off x="2887681" y="2333612"/>
        <a:ext cx="2620060" cy="972042"/>
      </dsp:txXfrm>
    </dsp:sp>
    <dsp:sp modelId="{57463712-C763-41C8-854F-06589998AF47}">
      <dsp:nvSpPr>
        <dsp:cNvPr id="0" name=""/>
        <dsp:cNvSpPr/>
      </dsp:nvSpPr>
      <dsp:spPr>
        <a:xfrm>
          <a:off x="5769858" y="528390"/>
          <a:ext cx="2620060" cy="1805221"/>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C666D0-A105-4C05-B05C-C47C1F2822E4}">
      <dsp:nvSpPr>
        <dsp:cNvPr id="0" name=""/>
        <dsp:cNvSpPr/>
      </dsp:nvSpPr>
      <dsp:spPr>
        <a:xfrm>
          <a:off x="5769858" y="2333612"/>
          <a:ext cx="2620060" cy="972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0" numCol="1" spcCol="1270" anchor="t" anchorCtr="0">
          <a:noAutofit/>
        </a:bodyPr>
        <a:lstStyle/>
        <a:p>
          <a:pPr marL="0" lvl="0" indent="0" algn="ctr" defTabSz="1555750" rtl="1">
            <a:lnSpc>
              <a:spcPct val="90000"/>
            </a:lnSpc>
            <a:spcBef>
              <a:spcPct val="0"/>
            </a:spcBef>
            <a:spcAft>
              <a:spcPct val="35000"/>
            </a:spcAft>
            <a:buNone/>
          </a:pPr>
          <a:r>
            <a:rPr lang="he-IL" sz="3500" kern="1200" dirty="0"/>
            <a:t>ניסיון רב</a:t>
          </a:r>
        </a:p>
      </dsp:txBody>
      <dsp:txXfrm>
        <a:off x="5769858" y="2333612"/>
        <a:ext cx="2620060" cy="972042"/>
      </dsp:txXfrm>
    </dsp:sp>
    <dsp:sp modelId="{6D55597B-02BF-4F2C-9AC0-0EA216AA5CE8}">
      <dsp:nvSpPr>
        <dsp:cNvPr id="0" name=""/>
        <dsp:cNvSpPr/>
      </dsp:nvSpPr>
      <dsp:spPr>
        <a:xfrm>
          <a:off x="8652034" y="528390"/>
          <a:ext cx="2620060" cy="1805221"/>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B4D41F-618C-4041-90E5-6505A9D51FBC}">
      <dsp:nvSpPr>
        <dsp:cNvPr id="0" name=""/>
        <dsp:cNvSpPr/>
      </dsp:nvSpPr>
      <dsp:spPr>
        <a:xfrm>
          <a:off x="8652034" y="2333612"/>
          <a:ext cx="2620060" cy="972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0" numCol="1" spcCol="1270" anchor="t" anchorCtr="0">
          <a:noAutofit/>
        </a:bodyPr>
        <a:lstStyle/>
        <a:p>
          <a:pPr marL="0" lvl="0" indent="0" algn="ctr" defTabSz="1555750" rtl="1">
            <a:lnSpc>
              <a:spcPct val="90000"/>
            </a:lnSpc>
            <a:spcBef>
              <a:spcPct val="0"/>
            </a:spcBef>
            <a:spcAft>
              <a:spcPct val="35000"/>
            </a:spcAft>
            <a:buNone/>
          </a:pPr>
          <a:r>
            <a:rPr lang="he-IL" sz="3500" kern="1200" dirty="0"/>
            <a:t>צוות מקצועי</a:t>
          </a:r>
        </a:p>
      </dsp:txBody>
      <dsp:txXfrm>
        <a:off x="8652034" y="2333612"/>
        <a:ext cx="2620060" cy="97204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43C91B-2E4F-45FD-B003-78E76A1FD13E}">
      <dsp:nvSpPr>
        <dsp:cNvPr id="0" name=""/>
        <dsp:cNvSpPr/>
      </dsp:nvSpPr>
      <dsp:spPr>
        <a:xfrm rot="5400000">
          <a:off x="-184205" y="188162"/>
          <a:ext cx="1228037" cy="859626"/>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t>ערך</a:t>
          </a:r>
        </a:p>
      </dsp:txBody>
      <dsp:txXfrm rot="-5400000">
        <a:off x="1" y="433769"/>
        <a:ext cx="859626" cy="368411"/>
      </dsp:txXfrm>
    </dsp:sp>
    <dsp:sp modelId="{F13F0F60-EAA6-4D5A-8C11-2BCBE9DFF83E}">
      <dsp:nvSpPr>
        <dsp:cNvPr id="0" name=""/>
        <dsp:cNvSpPr/>
      </dsp:nvSpPr>
      <dsp:spPr>
        <a:xfrm rot="5400000">
          <a:off x="4939873" y="-4076290"/>
          <a:ext cx="798224" cy="895871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114300" lvl="1" indent="-114300" algn="r" defTabSz="622300" rtl="1">
            <a:lnSpc>
              <a:spcPct val="90000"/>
            </a:lnSpc>
            <a:spcBef>
              <a:spcPct val="0"/>
            </a:spcBef>
            <a:spcAft>
              <a:spcPct val="15000"/>
            </a:spcAft>
            <a:buChar char="•"/>
          </a:pPr>
          <a:endParaRPr lang="he-IL" sz="1400" kern="1200" dirty="0"/>
        </a:p>
        <a:p>
          <a:pPr marL="228600" lvl="1" indent="-228600" algn="r" defTabSz="889000" rtl="1">
            <a:lnSpc>
              <a:spcPct val="90000"/>
            </a:lnSpc>
            <a:spcBef>
              <a:spcPct val="0"/>
            </a:spcBef>
            <a:spcAft>
              <a:spcPct val="15000"/>
            </a:spcAft>
            <a:buChar char="•"/>
          </a:pPr>
          <a:r>
            <a:rPr lang="he-IL" sz="2000" kern="1200" dirty="0"/>
            <a:t>מאפשר לחברה לספק שירותים ברמה גבוהה יותר. הידע שנצבר בפרויקטים שונים מאפשר לה להבין את צורכי הלקוחות בצורה מעמיקה.</a:t>
          </a:r>
        </a:p>
      </dsp:txBody>
      <dsp:txXfrm rot="-5400000">
        <a:off x="859626" y="42923"/>
        <a:ext cx="8919752" cy="720292"/>
      </dsp:txXfrm>
    </dsp:sp>
    <dsp:sp modelId="{810AE2A9-0E99-4AF5-AED5-668B2A9AF736}">
      <dsp:nvSpPr>
        <dsp:cNvPr id="0" name=""/>
        <dsp:cNvSpPr/>
      </dsp:nvSpPr>
      <dsp:spPr>
        <a:xfrm rot="5400000">
          <a:off x="-184205" y="1269345"/>
          <a:ext cx="1228037" cy="859626"/>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t>נדירות</a:t>
          </a:r>
        </a:p>
      </dsp:txBody>
      <dsp:txXfrm rot="-5400000">
        <a:off x="1" y="1514952"/>
        <a:ext cx="859626" cy="368411"/>
      </dsp:txXfrm>
    </dsp:sp>
    <dsp:sp modelId="{E6E66C12-CFC7-4265-959F-A9F009306392}">
      <dsp:nvSpPr>
        <dsp:cNvPr id="0" name=""/>
        <dsp:cNvSpPr/>
      </dsp:nvSpPr>
      <dsp:spPr>
        <a:xfrm rot="5400000">
          <a:off x="4939873" y="-2995107"/>
          <a:ext cx="798224" cy="895871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r" defTabSz="889000" rtl="1">
            <a:lnSpc>
              <a:spcPct val="90000"/>
            </a:lnSpc>
            <a:spcBef>
              <a:spcPct val="0"/>
            </a:spcBef>
            <a:spcAft>
              <a:spcPct val="15000"/>
            </a:spcAft>
            <a:buChar char="•"/>
          </a:pPr>
          <a:r>
            <a:rPr lang="he-IL" sz="2000" kern="1200" dirty="0"/>
            <a:t>הניסיון שצברה </a:t>
          </a:r>
          <a:r>
            <a:rPr lang="he-IL" sz="2000" kern="1200" dirty="0" err="1"/>
            <a:t>עדליא</a:t>
          </a:r>
          <a:r>
            <a:rPr lang="he-IL" sz="2000" kern="1200" dirty="0"/>
            <a:t> אינו נפוץ בקרב חברות ייעוץ </a:t>
          </a:r>
          <a:r>
            <a:rPr lang="he-IL" sz="2000" kern="1200" dirty="0" err="1"/>
            <a:t>אחרות.,אם</a:t>
          </a:r>
          <a:r>
            <a:rPr lang="he-IL" sz="2000" kern="1200" dirty="0"/>
            <a:t> זאת חברות רבות יכולת להתחרות על הניסון שקיים גם להם.</a:t>
          </a:r>
        </a:p>
      </dsp:txBody>
      <dsp:txXfrm rot="-5400000">
        <a:off x="859626" y="1124106"/>
        <a:ext cx="8919752" cy="720292"/>
      </dsp:txXfrm>
    </dsp:sp>
    <dsp:sp modelId="{D130B228-FC5E-4026-993B-7557527FBB06}">
      <dsp:nvSpPr>
        <dsp:cNvPr id="0" name=""/>
        <dsp:cNvSpPr/>
      </dsp:nvSpPr>
      <dsp:spPr>
        <a:xfrm rot="5400000">
          <a:off x="-184205" y="2350528"/>
          <a:ext cx="1228037" cy="859626"/>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t>יכולת לחיקוי</a:t>
          </a:r>
        </a:p>
      </dsp:txBody>
      <dsp:txXfrm rot="-5400000">
        <a:off x="1" y="2596135"/>
        <a:ext cx="859626" cy="368411"/>
      </dsp:txXfrm>
    </dsp:sp>
    <dsp:sp modelId="{D04EB964-375B-473F-B54C-B9E5F116FFEB}">
      <dsp:nvSpPr>
        <dsp:cNvPr id="0" name=""/>
        <dsp:cNvSpPr/>
      </dsp:nvSpPr>
      <dsp:spPr>
        <a:xfrm rot="5400000">
          <a:off x="4939873" y="-1913924"/>
          <a:ext cx="798224" cy="895871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r" defTabSz="889000" rtl="1">
            <a:lnSpc>
              <a:spcPct val="90000"/>
            </a:lnSpc>
            <a:spcBef>
              <a:spcPct val="0"/>
            </a:spcBef>
            <a:spcAft>
              <a:spcPct val="15000"/>
            </a:spcAft>
            <a:buChar char="•"/>
          </a:pPr>
          <a:r>
            <a:rPr lang="he-IL" sz="2000" kern="1200" dirty="0"/>
            <a:t>הניסיון של </a:t>
          </a:r>
          <a:r>
            <a:rPr lang="he-IL" sz="2000" kern="1200" dirty="0" err="1"/>
            <a:t>עדליא</a:t>
          </a:r>
          <a:r>
            <a:rPr lang="he-IL" sz="2000" kern="1200" dirty="0"/>
            <a:t> הוא משאב שקשה לחקות. אף על פי שחברות אחרות עשויות לנסות ללמוד מניסיונם של לקוחות, לא ניתן פשוט להעתיק את הלמידה שנצברה על פני השנים.</a:t>
          </a:r>
        </a:p>
      </dsp:txBody>
      <dsp:txXfrm rot="-5400000">
        <a:off x="859626" y="2205289"/>
        <a:ext cx="8919752" cy="720292"/>
      </dsp:txXfrm>
    </dsp:sp>
    <dsp:sp modelId="{EE3E4A09-777B-4CEA-AB81-E57CC281883D}">
      <dsp:nvSpPr>
        <dsp:cNvPr id="0" name=""/>
        <dsp:cNvSpPr/>
      </dsp:nvSpPr>
      <dsp:spPr>
        <a:xfrm rot="5400000">
          <a:off x="-184205" y="3431711"/>
          <a:ext cx="1228037" cy="859626"/>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t>ארגון</a:t>
          </a:r>
        </a:p>
      </dsp:txBody>
      <dsp:txXfrm rot="-5400000">
        <a:off x="1" y="3677318"/>
        <a:ext cx="859626" cy="368411"/>
      </dsp:txXfrm>
    </dsp:sp>
    <dsp:sp modelId="{67C36727-82FE-4510-A0B0-311741C55FE7}">
      <dsp:nvSpPr>
        <dsp:cNvPr id="0" name=""/>
        <dsp:cNvSpPr/>
      </dsp:nvSpPr>
      <dsp:spPr>
        <a:xfrm rot="5400000">
          <a:off x="4939873" y="-832741"/>
          <a:ext cx="798224" cy="895871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r" defTabSz="889000" rtl="1">
            <a:lnSpc>
              <a:spcPct val="90000"/>
            </a:lnSpc>
            <a:spcBef>
              <a:spcPct val="0"/>
            </a:spcBef>
            <a:spcAft>
              <a:spcPct val="15000"/>
            </a:spcAft>
            <a:buChar char="•"/>
          </a:pPr>
          <a:r>
            <a:rPr lang="he-IL" sz="2000" kern="1200" dirty="0"/>
            <a:t>חברת </a:t>
          </a:r>
          <a:r>
            <a:rPr lang="he-IL" sz="2000" kern="1200" dirty="0" err="1"/>
            <a:t>עדליא</a:t>
          </a:r>
          <a:r>
            <a:rPr lang="he-IL" sz="2000" kern="1200" dirty="0"/>
            <a:t> מבינה את החשיבות של ארגון הידע והניסיון שלה ומשקיעה במשאבים כדי לוודא שהניסיון שנצבר ישמש את הצוות בצורה האופטימלית</a:t>
          </a:r>
        </a:p>
      </dsp:txBody>
      <dsp:txXfrm rot="-5400000">
        <a:off x="859626" y="3286472"/>
        <a:ext cx="8919752" cy="7202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25F9E-708B-4FB6-B2E3-280041607F03}">
      <dsp:nvSpPr>
        <dsp:cNvPr id="0" name=""/>
        <dsp:cNvSpPr/>
      </dsp:nvSpPr>
      <dsp:spPr>
        <a:xfrm>
          <a:off x="1417969" y="2045"/>
          <a:ext cx="3125545" cy="187532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he-IL" sz="1700" kern="1200"/>
            <a:t>אסטרטגיית פיתוח השוק יכולה לכלול הרחבת הפעילות הגלובלית של עדליא על ידי מתן ייעוץ אסטרטגי בחו"ל</a:t>
          </a:r>
        </a:p>
      </dsp:txBody>
      <dsp:txXfrm>
        <a:off x="1417969" y="2045"/>
        <a:ext cx="3125545" cy="1875327"/>
      </dsp:txXfrm>
    </dsp:sp>
    <dsp:sp modelId="{EEA8D5B0-0A4A-4413-981A-E05E0FF1EC9A}">
      <dsp:nvSpPr>
        <dsp:cNvPr id="0" name=""/>
        <dsp:cNvSpPr/>
      </dsp:nvSpPr>
      <dsp:spPr>
        <a:xfrm>
          <a:off x="4856069" y="2045"/>
          <a:ext cx="3125545" cy="187532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he-IL" sz="1700" kern="1200" dirty="0" err="1"/>
            <a:t>עדליא</a:t>
          </a:r>
          <a:r>
            <a:rPr lang="he-IL" sz="1700" kern="1200" dirty="0"/>
            <a:t> יכולה לשפר את השיווק שלה כלפי לקוחות פוטנציאליים באמצעות פרסום ממוקד, שיתופי פעולה ויצירת תוכן שיווקי איכותי. בנוסף, המלצות מלקוחות קיימים יכולות להוות מנוע צמיחה חשוב על ידי יצירת שיווק מפה לאוזן שיביא לקוחות חדשים</a:t>
          </a:r>
        </a:p>
      </dsp:txBody>
      <dsp:txXfrm>
        <a:off x="4856069" y="2045"/>
        <a:ext cx="3125545" cy="1875327"/>
      </dsp:txXfrm>
    </dsp:sp>
    <dsp:sp modelId="{FAB51EEC-24B2-4C43-973F-5B8ED23040C6}">
      <dsp:nvSpPr>
        <dsp:cNvPr id="0" name=""/>
        <dsp:cNvSpPr/>
      </dsp:nvSpPr>
      <dsp:spPr>
        <a:xfrm>
          <a:off x="1417969" y="2189927"/>
          <a:ext cx="3125545" cy="187532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he-IL" sz="1700" kern="1200" dirty="0"/>
            <a:t>עדליא יכולה להתרחב לתחומים חדשים, כמו פיתוח פתרונות טכנולוגיים או ייעוץ בתחומים נוספים, כגון בריאות, קיימות או אבטחת סייבר. </a:t>
          </a:r>
        </a:p>
      </dsp:txBody>
      <dsp:txXfrm>
        <a:off x="1417969" y="2189927"/>
        <a:ext cx="3125545" cy="1875327"/>
      </dsp:txXfrm>
    </dsp:sp>
    <dsp:sp modelId="{A4717177-36B3-4908-8469-91B7A9EE9B91}">
      <dsp:nvSpPr>
        <dsp:cNvPr id="0" name=""/>
        <dsp:cNvSpPr/>
      </dsp:nvSpPr>
      <dsp:spPr>
        <a:xfrm>
          <a:off x="4856069" y="2189927"/>
          <a:ext cx="3125545" cy="187532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he-IL" sz="1700" kern="1200" dirty="0"/>
            <a:t>הרחבת קו השירותים של עדליא על ידי כניסה לתחום פיתוח התוכנה. על ידי פיתוח כלים טכנולוגיים לניתוח נתונים כלכליים, החברה תוכל להציע ללקוחותיה פתרונות מותאמים אישית להתמודדות עם אתגרים מורכבים</a:t>
          </a:r>
        </a:p>
      </dsp:txBody>
      <dsp:txXfrm>
        <a:off x="4856069" y="2189927"/>
        <a:ext cx="3125545" cy="187532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EE420-5B70-4BF6-9597-A88B036D5BD0}">
      <dsp:nvSpPr>
        <dsp:cNvPr id="0" name=""/>
        <dsp:cNvSpPr/>
      </dsp:nvSpPr>
      <dsp:spPr>
        <a:xfrm rot="5400000">
          <a:off x="5766121" y="-2291286"/>
          <a:ext cx="1078098" cy="593427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r" defTabSz="755650" rtl="1">
            <a:lnSpc>
              <a:spcPct val="90000"/>
            </a:lnSpc>
            <a:spcBef>
              <a:spcPct val="0"/>
            </a:spcBef>
            <a:spcAft>
              <a:spcPct val="15000"/>
            </a:spcAft>
            <a:buChar char="•"/>
          </a:pPr>
          <a:r>
            <a:rPr lang="he-IL" sz="1700" kern="1200" dirty="0"/>
            <a:t> </a:t>
          </a:r>
          <a:r>
            <a:rPr lang="he-IL" sz="1700" kern="1200" dirty="0" err="1"/>
            <a:t>בוולמארט</a:t>
          </a:r>
          <a:r>
            <a:rPr lang="he-IL" sz="1700" kern="1200" dirty="0"/>
            <a:t> ניתנים תמריצים כגון העלאות שכר, אופציות, ובונוסים על בסיס ביצועים, מהלך שמדרבן את העובדים למצוינות. גם </a:t>
          </a:r>
          <a:r>
            <a:rPr lang="he-IL" sz="1700" kern="1200" dirty="0" err="1"/>
            <a:t>בעדליא</a:t>
          </a:r>
          <a:r>
            <a:rPr lang="he-IL" sz="1700" kern="1200" dirty="0"/>
            <a:t> ניתן לאמץ אסטרטגיה זו כדי לתמרץ את העובדים לשיפור מתמיד.</a:t>
          </a:r>
        </a:p>
      </dsp:txBody>
      <dsp:txXfrm rot="-5400000">
        <a:off x="3338031" y="189432"/>
        <a:ext cx="5881650" cy="972842"/>
      </dsp:txXfrm>
    </dsp:sp>
    <dsp:sp modelId="{5B5B7DFF-ECF4-4B17-A9D0-DCC181329437}">
      <dsp:nvSpPr>
        <dsp:cNvPr id="0" name=""/>
        <dsp:cNvSpPr/>
      </dsp:nvSpPr>
      <dsp:spPr>
        <a:xfrm>
          <a:off x="0" y="2041"/>
          <a:ext cx="3338031" cy="13476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rtl="1">
            <a:lnSpc>
              <a:spcPct val="90000"/>
            </a:lnSpc>
            <a:spcBef>
              <a:spcPct val="0"/>
            </a:spcBef>
            <a:spcAft>
              <a:spcPct val="35000"/>
            </a:spcAft>
            <a:buNone/>
          </a:pPr>
          <a:r>
            <a:rPr lang="he-IL" sz="3600" b="1" kern="1200" dirty="0">
              <a:effectLst/>
              <a:latin typeface="Aptos" panose="020B0004020202020204" pitchFamily="34" charset="0"/>
              <a:ea typeface="Aptos" panose="020B0004020202020204" pitchFamily="34" charset="0"/>
              <a:cs typeface="Arial" panose="020B0604020202020204" pitchFamily="34" charset="0"/>
            </a:rPr>
            <a:t>תמריצים מבוססי ביצועים</a:t>
          </a:r>
          <a:endParaRPr lang="he-IL" sz="3600" kern="1200" dirty="0"/>
        </a:p>
      </dsp:txBody>
      <dsp:txXfrm>
        <a:off x="65785" y="67826"/>
        <a:ext cx="3206461" cy="1216052"/>
      </dsp:txXfrm>
    </dsp:sp>
    <dsp:sp modelId="{84DA90CA-ECC5-45B4-B30A-7FE86E69D348}">
      <dsp:nvSpPr>
        <dsp:cNvPr id="0" name=""/>
        <dsp:cNvSpPr/>
      </dsp:nvSpPr>
      <dsp:spPr>
        <a:xfrm rot="5400000">
          <a:off x="5766121" y="-876282"/>
          <a:ext cx="1078098" cy="593427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r" defTabSz="755650" rtl="1">
            <a:lnSpc>
              <a:spcPct val="90000"/>
            </a:lnSpc>
            <a:spcBef>
              <a:spcPct val="0"/>
            </a:spcBef>
            <a:spcAft>
              <a:spcPct val="15000"/>
            </a:spcAft>
            <a:buChar char="•"/>
          </a:pPr>
          <a:r>
            <a:rPr lang="he-IL" sz="1700" kern="12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700" kern="1200" dirty="0">
              <a:effectLst/>
              <a:latin typeface="Aptos" panose="020B0004020202020204" pitchFamily="34" charset="0"/>
              <a:ea typeface="Aptos" panose="020B0004020202020204" pitchFamily="34" charset="0"/>
              <a:cs typeface="Arial" panose="020B0604020202020204" pitchFamily="34" charset="0"/>
            </a:rPr>
            <a:t> הצליחה לחדור גם לשווקים קטנים על ידי פתיחת סניפים מחוץ לערים הגדולות. זהו לקח חשוב גם עבור </a:t>
          </a:r>
          <a:r>
            <a:rPr lang="he-IL" sz="1700" kern="1200" dirty="0" err="1">
              <a:effectLst/>
              <a:latin typeface="Aptos" panose="020B0004020202020204" pitchFamily="34" charset="0"/>
              <a:ea typeface="Aptos" panose="020B0004020202020204" pitchFamily="34" charset="0"/>
              <a:cs typeface="Arial" panose="020B0604020202020204" pitchFamily="34" charset="0"/>
            </a:rPr>
            <a:t>עדליא</a:t>
          </a:r>
          <a:r>
            <a:rPr lang="he-IL" sz="1700" kern="1200" dirty="0">
              <a:effectLst/>
              <a:latin typeface="Aptos" panose="020B0004020202020204" pitchFamily="34" charset="0"/>
              <a:ea typeface="Aptos" panose="020B0004020202020204" pitchFamily="34" charset="0"/>
              <a:cs typeface="Arial" panose="020B0604020202020204" pitchFamily="34" charset="0"/>
            </a:rPr>
            <a:t> אם היא מעוניינת להתרחב גיאוגרפית ולחדור לשווקים חדשים.</a:t>
          </a:r>
          <a:endParaRPr lang="he-IL" sz="1700" kern="1200" dirty="0"/>
        </a:p>
      </dsp:txBody>
      <dsp:txXfrm rot="-5400000">
        <a:off x="3338031" y="1604436"/>
        <a:ext cx="5881650" cy="972842"/>
      </dsp:txXfrm>
    </dsp:sp>
    <dsp:sp modelId="{C87B4F45-8834-4237-B31E-6FDB6205905A}">
      <dsp:nvSpPr>
        <dsp:cNvPr id="0" name=""/>
        <dsp:cNvSpPr/>
      </dsp:nvSpPr>
      <dsp:spPr>
        <a:xfrm>
          <a:off x="0" y="1417045"/>
          <a:ext cx="3338031" cy="13476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rtl="1">
            <a:lnSpc>
              <a:spcPct val="90000"/>
            </a:lnSpc>
            <a:spcBef>
              <a:spcPct val="0"/>
            </a:spcBef>
            <a:spcAft>
              <a:spcPct val="35000"/>
            </a:spcAft>
            <a:buNone/>
          </a:pPr>
          <a:r>
            <a:rPr lang="he-IL" sz="3600" b="1" kern="1200" dirty="0">
              <a:effectLst/>
              <a:latin typeface="Aptos" panose="020B0004020202020204" pitchFamily="34" charset="0"/>
              <a:ea typeface="Aptos" panose="020B0004020202020204" pitchFamily="34" charset="0"/>
              <a:cs typeface="Arial" panose="020B0604020202020204" pitchFamily="34" charset="0"/>
            </a:rPr>
            <a:t>פריסה רחבה של סניפים</a:t>
          </a:r>
          <a:endParaRPr lang="he-IL" sz="3600" kern="1200" dirty="0"/>
        </a:p>
      </dsp:txBody>
      <dsp:txXfrm>
        <a:off x="65785" y="1482830"/>
        <a:ext cx="3206461" cy="1216052"/>
      </dsp:txXfrm>
    </dsp:sp>
    <dsp:sp modelId="{C0AA1460-F09D-4B98-90BC-579AC4221F45}">
      <dsp:nvSpPr>
        <dsp:cNvPr id="0" name=""/>
        <dsp:cNvSpPr/>
      </dsp:nvSpPr>
      <dsp:spPr>
        <a:xfrm rot="5400000">
          <a:off x="5766121" y="538721"/>
          <a:ext cx="1078098" cy="593427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r" defTabSz="755650" rtl="1">
            <a:lnSpc>
              <a:spcPct val="90000"/>
            </a:lnSpc>
            <a:spcBef>
              <a:spcPct val="0"/>
            </a:spcBef>
            <a:spcAft>
              <a:spcPct val="15000"/>
            </a:spcAft>
            <a:buChar char="•"/>
          </a:pPr>
          <a:r>
            <a:rPr lang="he-IL" sz="1700" kern="12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700" kern="1200" dirty="0">
              <a:effectLst/>
              <a:latin typeface="Aptos" panose="020B0004020202020204" pitchFamily="34" charset="0"/>
              <a:ea typeface="Aptos" panose="020B0004020202020204" pitchFamily="34" charset="0"/>
              <a:cs typeface="Arial" panose="020B0604020202020204" pitchFamily="34" charset="0"/>
            </a:rPr>
            <a:t> משתמשת במגוון רחב של ערוצי פרסום, החל מפליירים ועד לפרסום ברדיו. אפשר ללמוד מכך איך לבצע פרסום אפקטיבי ונגיש גם בקנה מידה מקומי.</a:t>
          </a:r>
          <a:endParaRPr lang="he-IL" sz="1700" kern="1200" dirty="0"/>
        </a:p>
      </dsp:txBody>
      <dsp:txXfrm rot="-5400000">
        <a:off x="3338031" y="3019439"/>
        <a:ext cx="5881650" cy="972842"/>
      </dsp:txXfrm>
    </dsp:sp>
    <dsp:sp modelId="{6647B391-4B1E-40AA-8A95-64AAD5237ED7}">
      <dsp:nvSpPr>
        <dsp:cNvPr id="0" name=""/>
        <dsp:cNvSpPr/>
      </dsp:nvSpPr>
      <dsp:spPr>
        <a:xfrm>
          <a:off x="0" y="2832049"/>
          <a:ext cx="3338031" cy="13476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rtl="1">
            <a:lnSpc>
              <a:spcPct val="90000"/>
            </a:lnSpc>
            <a:spcBef>
              <a:spcPct val="0"/>
            </a:spcBef>
            <a:spcAft>
              <a:spcPct val="35000"/>
            </a:spcAft>
            <a:buNone/>
          </a:pPr>
          <a:r>
            <a:rPr lang="he-IL" sz="3600" b="1" kern="1200" dirty="0">
              <a:effectLst/>
              <a:latin typeface="Aptos" panose="020B0004020202020204" pitchFamily="34" charset="0"/>
              <a:ea typeface="Aptos" panose="020B0004020202020204" pitchFamily="34" charset="0"/>
              <a:cs typeface="Arial" panose="020B0604020202020204" pitchFamily="34" charset="0"/>
            </a:rPr>
            <a:t>שיווק ממוקד לקוח</a:t>
          </a:r>
          <a:endParaRPr lang="he-IL" sz="3600" kern="1200" dirty="0"/>
        </a:p>
      </dsp:txBody>
      <dsp:txXfrm>
        <a:off x="65785" y="2897834"/>
        <a:ext cx="3206461" cy="121605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FEF31-E7B9-4132-8734-E545446CD461}">
      <dsp:nvSpPr>
        <dsp:cNvPr id="0" name=""/>
        <dsp:cNvSpPr/>
      </dsp:nvSpPr>
      <dsp:spPr>
        <a:xfrm rot="5400000">
          <a:off x="6063766" y="-2417114"/>
          <a:ext cx="1114459" cy="6231525"/>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r" defTabSz="755650" rtl="1">
            <a:lnSpc>
              <a:spcPct val="90000"/>
            </a:lnSpc>
            <a:spcBef>
              <a:spcPct val="0"/>
            </a:spcBef>
            <a:spcAft>
              <a:spcPct val="15000"/>
            </a:spcAft>
            <a:buChar char="•"/>
          </a:pPr>
          <a:r>
            <a:rPr lang="he-IL" sz="1700" kern="1200" dirty="0"/>
            <a:t>זארה הציגה אסטרטגיה של ניהול גלובלי עם סניפים ברחבי העולם, מה שמאפשר גידול מהיר והתאמה לצרכים מקומיים. ניתן ללמוד על חשיבות הצמיחה וההתאמה לשווקים שונים גם בחברת </a:t>
          </a:r>
          <a:r>
            <a:rPr lang="he-IL" sz="1700" kern="1200" dirty="0" err="1"/>
            <a:t>עדליא</a:t>
          </a:r>
          <a:r>
            <a:rPr lang="he-IL" sz="1700" kern="1200" dirty="0"/>
            <a:t>.</a:t>
          </a:r>
        </a:p>
      </dsp:txBody>
      <dsp:txXfrm rot="-5400000">
        <a:off x="3505234" y="195821"/>
        <a:ext cx="6177122" cy="1005653"/>
      </dsp:txXfrm>
    </dsp:sp>
    <dsp:sp modelId="{F93E4851-6CDB-407B-8F18-7747867B9407}">
      <dsp:nvSpPr>
        <dsp:cNvPr id="0" name=""/>
        <dsp:cNvSpPr/>
      </dsp:nvSpPr>
      <dsp:spPr>
        <a:xfrm>
          <a:off x="0" y="2110"/>
          <a:ext cx="3505233" cy="139307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1">
            <a:lnSpc>
              <a:spcPct val="90000"/>
            </a:lnSpc>
            <a:spcBef>
              <a:spcPct val="0"/>
            </a:spcBef>
            <a:spcAft>
              <a:spcPct val="35000"/>
            </a:spcAft>
            <a:buNone/>
          </a:pPr>
          <a:r>
            <a:rPr lang="he-IL" sz="4100" kern="1200" dirty="0"/>
            <a:t>צמיחה גלובלית</a:t>
          </a:r>
        </a:p>
      </dsp:txBody>
      <dsp:txXfrm>
        <a:off x="68004" y="70114"/>
        <a:ext cx="3369225" cy="1257066"/>
      </dsp:txXfrm>
    </dsp:sp>
    <dsp:sp modelId="{C227DAD6-98D6-430D-8D48-6B37512C1543}">
      <dsp:nvSpPr>
        <dsp:cNvPr id="0" name=""/>
        <dsp:cNvSpPr/>
      </dsp:nvSpPr>
      <dsp:spPr>
        <a:xfrm rot="5400000">
          <a:off x="6063766" y="-954386"/>
          <a:ext cx="1114459" cy="6231525"/>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r" defTabSz="755650" rtl="1">
            <a:lnSpc>
              <a:spcPct val="90000"/>
            </a:lnSpc>
            <a:spcBef>
              <a:spcPct val="0"/>
            </a:spcBef>
            <a:spcAft>
              <a:spcPct val="15000"/>
            </a:spcAft>
            <a:buChar char="•"/>
          </a:pPr>
          <a:r>
            <a:rPr lang="he-IL" sz="1700" kern="1200" dirty="0"/>
            <a:t>זארה שמה דגש על עיצוב מהיר ומגוון, קמפיינים בינלאומיים ויכולת תגובה מהירה לשוק. ניהול חנויות עצמאי ושיווק ישיר מאפשרים לזארה להוביל בשוק.  ניתן ליישם כך בחברת </a:t>
          </a:r>
          <a:r>
            <a:rPr lang="he-IL" sz="1700" kern="1200" dirty="0" err="1"/>
            <a:t>עדלידא</a:t>
          </a:r>
          <a:endParaRPr lang="he-IL" sz="1700" kern="1200" dirty="0"/>
        </a:p>
      </dsp:txBody>
      <dsp:txXfrm rot="-5400000">
        <a:off x="3505234" y="1658549"/>
        <a:ext cx="6177122" cy="1005653"/>
      </dsp:txXfrm>
    </dsp:sp>
    <dsp:sp modelId="{92758791-72D2-4AD9-B5B6-A75BB13E9C97}">
      <dsp:nvSpPr>
        <dsp:cNvPr id="0" name=""/>
        <dsp:cNvSpPr/>
      </dsp:nvSpPr>
      <dsp:spPr>
        <a:xfrm>
          <a:off x="0" y="1464839"/>
          <a:ext cx="3505233" cy="139307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1">
            <a:lnSpc>
              <a:spcPct val="90000"/>
            </a:lnSpc>
            <a:spcBef>
              <a:spcPct val="0"/>
            </a:spcBef>
            <a:spcAft>
              <a:spcPct val="35000"/>
            </a:spcAft>
            <a:buNone/>
          </a:pPr>
          <a:r>
            <a:rPr lang="he-IL" sz="4100" kern="1200" dirty="0"/>
            <a:t>אסטרטגיית שיווק</a:t>
          </a:r>
        </a:p>
      </dsp:txBody>
      <dsp:txXfrm>
        <a:off x="68004" y="1532843"/>
        <a:ext cx="3369225" cy="1257066"/>
      </dsp:txXfrm>
    </dsp:sp>
    <dsp:sp modelId="{0016FA34-9CF9-4F40-B2E6-C305BFEABE59}">
      <dsp:nvSpPr>
        <dsp:cNvPr id="0" name=""/>
        <dsp:cNvSpPr/>
      </dsp:nvSpPr>
      <dsp:spPr>
        <a:xfrm rot="5400000">
          <a:off x="6063766" y="508342"/>
          <a:ext cx="1114459" cy="6231525"/>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r" defTabSz="755650" rtl="1">
            <a:lnSpc>
              <a:spcPct val="90000"/>
            </a:lnSpc>
            <a:spcBef>
              <a:spcPct val="0"/>
            </a:spcBef>
            <a:spcAft>
              <a:spcPct val="15000"/>
            </a:spcAft>
            <a:buChar char="•"/>
          </a:pPr>
          <a:r>
            <a:rPr lang="he-IL" sz="1700" kern="1200" dirty="0"/>
            <a:t>זארה הרחיבה את פעילותה לפלחי שוק נוספים כגון </a:t>
          </a:r>
          <a:r>
            <a:rPr lang="en-US" sz="1700" kern="1200" dirty="0"/>
            <a:t>Zara Home </a:t>
          </a:r>
          <a:r>
            <a:rPr lang="he-IL" sz="1700" kern="1200" dirty="0"/>
            <a:t>ותחום הספורט. חברת </a:t>
          </a:r>
          <a:r>
            <a:rPr lang="he-IL" sz="1700" kern="1200" dirty="0" err="1"/>
            <a:t>עדליא</a:t>
          </a:r>
          <a:r>
            <a:rPr lang="he-IL" sz="1700" kern="1200" dirty="0"/>
            <a:t> יכולה ללמוד מהאסטרטגיה הזו ולבחון אפשרויות להתרחבות ושירותים נוספים בתחום הייעוץ הכלכלי והאסטרטגי.</a:t>
          </a:r>
        </a:p>
      </dsp:txBody>
      <dsp:txXfrm rot="-5400000">
        <a:off x="3505234" y="3121278"/>
        <a:ext cx="6177122" cy="1005653"/>
      </dsp:txXfrm>
    </dsp:sp>
    <dsp:sp modelId="{929DFF7A-7C49-48DE-BF9A-CE4E4BF0632A}">
      <dsp:nvSpPr>
        <dsp:cNvPr id="0" name=""/>
        <dsp:cNvSpPr/>
      </dsp:nvSpPr>
      <dsp:spPr>
        <a:xfrm>
          <a:off x="0" y="2927567"/>
          <a:ext cx="3505233" cy="139307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1">
            <a:lnSpc>
              <a:spcPct val="90000"/>
            </a:lnSpc>
            <a:spcBef>
              <a:spcPct val="0"/>
            </a:spcBef>
            <a:spcAft>
              <a:spcPct val="35000"/>
            </a:spcAft>
            <a:buNone/>
          </a:pPr>
          <a:r>
            <a:rPr lang="he-IL" sz="4100" kern="1200" dirty="0"/>
            <a:t>צמיחה לפלח שוק נוסף</a:t>
          </a:r>
        </a:p>
      </dsp:txBody>
      <dsp:txXfrm>
        <a:off x="68004" y="2995571"/>
        <a:ext cx="3369225" cy="1257066"/>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E5700317-3F6D-4E67-A68B-3F052CAF5930}" type="datetimeFigureOut">
              <a:rPr lang="he-IL" smtClean="0"/>
              <a:t>י"ז/תשרי/תשפ"ה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F43703A1-5F4E-41E1-9E35-228D1150B16D}" type="slidenum">
              <a:rPr lang="he-IL" smtClean="0"/>
              <a:t>‹#›</a:t>
            </a:fld>
            <a:endParaRPr lang="he-IL"/>
          </a:p>
        </p:txBody>
      </p:sp>
    </p:spTree>
    <p:extLst>
      <p:ext uri="{BB962C8B-B14F-4D97-AF65-F5344CB8AC3E}">
        <p14:creationId xmlns:p14="http://schemas.microsoft.com/office/powerpoint/2010/main" val="277690250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a:t>
            </a:fld>
            <a:endParaRPr lang="he-IL"/>
          </a:p>
        </p:txBody>
      </p:sp>
    </p:spTree>
    <p:extLst>
      <p:ext uri="{BB962C8B-B14F-4D97-AF65-F5344CB8AC3E}">
        <p14:creationId xmlns:p14="http://schemas.microsoft.com/office/powerpoint/2010/main" val="521389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היא צריכה להיות בצורת יהלום כי צריכה להיות התאמה ואינטגרציה בין התחומים.</a:t>
            </a:r>
            <a:br>
              <a:rPr lang="en-US" sz="1800" dirty="0">
                <a:effectLst/>
                <a:latin typeface="Aptos" panose="020B0004020202020204" pitchFamily="34" charset="0"/>
                <a:ea typeface="Aptos" panose="020B0004020202020204" pitchFamily="34" charset="0"/>
                <a:cs typeface="Arial" panose="020B0604020202020204" pitchFamily="34" charset="0"/>
              </a:rPr>
            </a:br>
            <a:br>
              <a:rPr lang="en-US" sz="1800" dirty="0">
                <a:effectLst/>
                <a:latin typeface="Aptos" panose="020B0004020202020204" pitchFamily="34" charset="0"/>
                <a:ea typeface="Aptos" panose="020B0004020202020204" pitchFamily="34" charset="0"/>
                <a:cs typeface="Arial" panose="020B0604020202020204" pitchFamily="34" charset="0"/>
              </a:rPr>
            </a:br>
            <a:r>
              <a:rPr lang="he-IL" sz="1800" dirty="0">
                <a:effectLst/>
                <a:latin typeface="Aptos" panose="020B0004020202020204" pitchFamily="34" charset="0"/>
                <a:ea typeface="Aptos" panose="020B0004020202020204" pitchFamily="34" charset="0"/>
                <a:cs typeface="Arial" panose="020B0604020202020204" pitchFamily="34" charset="0"/>
              </a:rPr>
              <a:t>מוחשיים וקל לאפיין אותם: (</a:t>
            </a:r>
            <a:r>
              <a:rPr lang="en-US" sz="1800" dirty="0">
                <a:effectLst/>
                <a:latin typeface="Aptos" panose="020B0004020202020204" pitchFamily="34" charset="0"/>
                <a:ea typeface="Aptos" panose="020B0004020202020204" pitchFamily="34" charset="0"/>
                <a:cs typeface="Arial" panose="020B0604020202020204" pitchFamily="34" charset="0"/>
              </a:rPr>
              <a:t>HARD</a:t>
            </a:r>
            <a:r>
              <a:rPr lang="he-IL" sz="1800" dirty="0">
                <a:effectLst/>
                <a:latin typeface="Aptos" panose="020B0004020202020204" pitchFamily="34" charset="0"/>
                <a:ea typeface="Aptos" panose="020B0004020202020204" pitchFamily="34" charset="0"/>
                <a:cs typeface="Arial" panose="020B0604020202020204" pitchFamily="34" charset="0"/>
              </a:rPr>
              <a:t>)</a:t>
            </a:r>
            <a:br>
              <a:rPr lang="en-US" sz="1800" dirty="0">
                <a:effectLst/>
                <a:latin typeface="Aptos" panose="020B0004020202020204" pitchFamily="34" charset="0"/>
                <a:ea typeface="Aptos" panose="020B0004020202020204" pitchFamily="34" charset="0"/>
                <a:cs typeface="Arial" panose="020B0604020202020204" pitchFamily="34" charset="0"/>
              </a:rPr>
            </a:b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אסטרטגיה(</a:t>
            </a:r>
            <a:r>
              <a:rPr lang="en-US" sz="1800" dirty="0">
                <a:effectLst/>
                <a:latin typeface="Aptos" panose="020B0004020202020204" pitchFamily="34" charset="0"/>
                <a:ea typeface="Aptos" panose="020B0004020202020204" pitchFamily="34" charset="0"/>
                <a:cs typeface="Arial" panose="020B0604020202020204" pitchFamily="34" charset="0"/>
              </a:rPr>
              <a:t>Strategy</a:t>
            </a:r>
            <a:r>
              <a:rPr lang="he-IL" sz="1800" b="1" dirty="0">
                <a:effectLst/>
                <a:latin typeface="Aptos" panose="020B0004020202020204" pitchFamily="34" charset="0"/>
                <a:ea typeface="Aptos" panose="020B0004020202020204" pitchFamily="34" charset="0"/>
                <a:cs typeface="Arial" panose="020B0604020202020204" pitchFamily="34" charset="0"/>
              </a:rPr>
              <a:t>)</a:t>
            </a:r>
            <a:r>
              <a:rPr lang="he-IL" sz="1800" dirty="0">
                <a:effectLst/>
                <a:latin typeface="Aptos" panose="020B0004020202020204" pitchFamily="34" charset="0"/>
                <a:ea typeface="Aptos" panose="020B0004020202020204" pitchFamily="34" charset="0"/>
                <a:cs typeface="Arial" panose="020B0604020202020204" pitchFamily="34" charset="0"/>
              </a:rPr>
              <a:t>: החברה מתמקדת בשיפור מתמיד ברמת השירות ללקוחותיה, בדגש על יצירת ערך מהותי בכל </a:t>
            </a:r>
            <a:r>
              <a:rPr lang="he-IL" sz="1800" dirty="0" err="1">
                <a:effectLst/>
                <a:latin typeface="Aptos" panose="020B0004020202020204" pitchFamily="34" charset="0"/>
                <a:ea typeface="Aptos" panose="020B0004020202020204" pitchFamily="34" charset="0"/>
                <a:cs typeface="Arial" panose="020B0604020202020204" pitchFamily="34" charset="0"/>
              </a:rPr>
              <a:t>פרויקטי</a:t>
            </a:r>
            <a:r>
              <a:rPr lang="he-IL" sz="1800" dirty="0">
                <a:effectLst/>
                <a:latin typeface="Aptos" panose="020B0004020202020204" pitchFamily="34" charset="0"/>
                <a:ea typeface="Aptos" panose="020B0004020202020204" pitchFamily="34" charset="0"/>
                <a:cs typeface="Arial" panose="020B0604020202020204" pitchFamily="34" charset="0"/>
              </a:rPr>
              <a:t> החברה, במיוחד בפרויקטים מורכבים כמו רפורמות ממשלתיות , תעריפים בתחבורה ציבורית אחידה בכל האזורים, הפרטת תחבורה ציבורית ואגרות גודש. החברה שואפת להיות בחזית התחום על ידי אסטרטגיות שמותאמות לצרכים הספציפיים של לקוחותיה, ובכך היא מייצרת יתרון תחרותי משמעותי.</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מבנה</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en-US" sz="1800" dirty="0">
                <a:effectLst/>
                <a:latin typeface="Aptos" panose="020B0004020202020204" pitchFamily="34" charset="0"/>
                <a:ea typeface="Aptos" panose="020B0004020202020204" pitchFamily="34" charset="0"/>
                <a:cs typeface="Arial" panose="020B0604020202020204" pitchFamily="34" charset="0"/>
              </a:rPr>
              <a:t>STRUCTURE</a:t>
            </a:r>
            <a:r>
              <a:rPr lang="he-IL" sz="1800" dirty="0">
                <a:effectLst/>
                <a:latin typeface="Aptos" panose="020B0004020202020204" pitchFamily="34" charset="0"/>
                <a:ea typeface="Aptos" panose="020B0004020202020204" pitchFamily="34" charset="0"/>
                <a:cs typeface="Arial" panose="020B0604020202020204" pitchFamily="34" charset="0"/>
              </a:rPr>
              <a:t>)מבנה ההנהלה שלה הוא יחסית רזה, הוא מורכב  ממנכ"ל החברה, סמנכ"ל לפיתוח עסקי וראשי צוותים. המבנה מאפשר הפחתת בירוקרטיה וקיצור תהליכי ניהול, מה שבעצם מוביל לתגובה מהירה יותר לשינויים בשוק וליכולת להתאים את השירותים לצרכי הלקוחות.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מערכות</a:t>
            </a:r>
            <a:r>
              <a:rPr lang="en-US"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 </a:t>
            </a:r>
            <a:r>
              <a:rPr lang="he-IL"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a:t>
            </a:r>
            <a:r>
              <a:rPr lang="en-US"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SYSTEMS</a:t>
            </a:r>
            <a:r>
              <a:rPr lang="he-IL"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a:t>
            </a:r>
            <a:r>
              <a:rPr lang="he-IL" sz="1800" dirty="0">
                <a:effectLst/>
                <a:latin typeface="Aptos" panose="020B0004020202020204" pitchFamily="34" charset="0"/>
                <a:ea typeface="Aptos" panose="020B0004020202020204" pitchFamily="34" charset="0"/>
                <a:cs typeface="Arial" panose="020B0604020202020204" pitchFamily="34" charset="0"/>
              </a:rPr>
              <a:t> החברה מצוידת במערכות מידע מתקדמות המיועדות לניהול, אנליזת נתונים, ניהול מסמכים וניהול פרויקטים. בנוסף, החברה מחזיקה בתקנים מחמירים של אבטחת סייבר</a:t>
            </a:r>
            <a:r>
              <a:rPr lang="he-IL" sz="1800" dirty="0">
                <a:effectLst/>
                <a:latin typeface="Arial" panose="020B0604020202020204" pitchFamily="34" charset="0"/>
                <a:ea typeface="Aptos" panose="020B0004020202020204" pitchFamily="34" charset="0"/>
                <a:cs typeface="Arial" panose="020B0604020202020204" pitchFamily="34" charset="0"/>
              </a:rPr>
              <a:t>. ובעצם הטכנולוגיות האלו מאפשרות לייעל את העבודה הפנימית ולשפר את איכות השירותים שניתנים  </a:t>
            </a:r>
            <a:r>
              <a:rPr lang="he-IL" sz="1800" dirty="0" err="1">
                <a:effectLst/>
                <a:latin typeface="Arial" panose="020B0604020202020204" pitchFamily="34" charset="0"/>
                <a:ea typeface="Aptos" panose="020B0004020202020204" pitchFamily="34" charset="0"/>
                <a:cs typeface="Arial" panose="020B0604020202020204" pitchFamily="34" charset="0"/>
              </a:rPr>
              <a:t>ללקוחותה</a:t>
            </a:r>
            <a:r>
              <a:rPr lang="he-IL" sz="1800" dirty="0">
                <a:effectLst/>
                <a:latin typeface="Arial" panose="020B06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פחות מוחשיים וניתנים לפרוש:(</a:t>
            </a:r>
            <a:r>
              <a:rPr lang="en-US" sz="1800" dirty="0">
                <a:effectLst/>
                <a:latin typeface="Aptos" panose="020B0004020202020204" pitchFamily="34" charset="0"/>
                <a:ea typeface="Aptos" panose="020B0004020202020204" pitchFamily="34" charset="0"/>
                <a:cs typeface="Arial" panose="020B0604020202020204" pitchFamily="34" charset="0"/>
              </a:rPr>
              <a:t>SOFT</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0" marR="0" lvl="0" indent="0" algn="r" defTabSz="914400" rtl="1" eaLnBrk="1" fontAlgn="auto" latinLnBrk="0" hangingPunct="1">
              <a:lnSpc>
                <a:spcPct val="107000"/>
              </a:lnSpc>
              <a:spcBef>
                <a:spcPts val="0"/>
              </a:spcBef>
              <a:spcAft>
                <a:spcPts val="800"/>
              </a:spcAft>
              <a:buClrTx/>
              <a:buSzTx/>
              <a:buFontTx/>
              <a:buNone/>
              <a:tabLst/>
              <a:defRPr/>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סגנון ניהולי/ התרבות הארגונית(</a:t>
            </a:r>
            <a:r>
              <a:rPr lang="en-US" sz="1800" dirty="0">
                <a:effectLst/>
                <a:latin typeface="Aptos" panose="020B0004020202020204" pitchFamily="34" charset="0"/>
                <a:ea typeface="Aptos" panose="020B0004020202020204" pitchFamily="34" charset="0"/>
                <a:cs typeface="Arial" panose="020B0604020202020204" pitchFamily="34" charset="0"/>
              </a:rPr>
              <a:t>Style/culture</a:t>
            </a:r>
            <a:r>
              <a:rPr lang="he-IL" sz="1800" b="1" dirty="0">
                <a:effectLst/>
                <a:latin typeface="Aptos" panose="020B0004020202020204" pitchFamily="34" charset="0"/>
                <a:ea typeface="Aptos" panose="020B0004020202020204" pitchFamily="34" charset="0"/>
                <a:cs typeface="Arial" panose="020B0604020202020204" pitchFamily="34" charset="0"/>
              </a:rPr>
              <a:t>) </a:t>
            </a:r>
            <a:r>
              <a:rPr lang="he-IL" sz="1800" dirty="0">
                <a:effectLst/>
                <a:latin typeface="Aptos" panose="020B0004020202020204" pitchFamily="34" charset="0"/>
                <a:ea typeface="Aptos" panose="020B0004020202020204" pitchFamily="34" charset="0"/>
                <a:cs typeface="Arial" panose="020B0604020202020204" pitchFamily="34" charset="0"/>
              </a:rPr>
              <a:t>: החברה דוגלת בדלת פתוחה כך שכל עובד יכול לגשת למנכ"ל ולהעלות נושאים חשובים העולים על הפרק. כמו כן קיים תחושה משפחתית (תקשורת חזקה) בין עובד החברה.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5. </a:t>
            </a:r>
            <a:r>
              <a:rPr lang="he-IL" sz="1800" b="1" dirty="0">
                <a:effectLst/>
                <a:latin typeface="Aptos" panose="020B0004020202020204" pitchFamily="34" charset="0"/>
                <a:ea typeface="Aptos" panose="020B0004020202020204" pitchFamily="34" charset="0"/>
                <a:cs typeface="Arial" panose="020B0604020202020204" pitchFamily="34" charset="0"/>
              </a:rPr>
              <a:t>ערכים משותפים(</a:t>
            </a:r>
            <a:r>
              <a:rPr lang="en-US" sz="1800" dirty="0">
                <a:effectLst/>
                <a:latin typeface="Aptos" panose="020B0004020202020204" pitchFamily="34" charset="0"/>
                <a:ea typeface="Aptos" panose="020B0004020202020204" pitchFamily="34" charset="0"/>
                <a:cs typeface="Arial" panose="020B0604020202020204" pitchFamily="34" charset="0"/>
              </a:rPr>
              <a:t>Shared Values</a:t>
            </a:r>
            <a:r>
              <a:rPr lang="he-IL" sz="1800" b="1" dirty="0">
                <a:effectLst/>
                <a:latin typeface="Aptos" panose="020B0004020202020204" pitchFamily="34" charset="0"/>
                <a:ea typeface="Aptos" panose="020B0004020202020204" pitchFamily="34" charset="0"/>
                <a:cs typeface="Arial" panose="020B0604020202020204" pitchFamily="34" charset="0"/>
              </a:rPr>
              <a:t>)</a:t>
            </a:r>
            <a:r>
              <a:rPr lang="he-IL" sz="1800" dirty="0">
                <a:effectLst/>
                <a:latin typeface="Aptos" panose="020B0004020202020204" pitchFamily="34" charset="0"/>
                <a:ea typeface="Aptos" panose="020B0004020202020204" pitchFamily="34" charset="0"/>
                <a:cs typeface="Arial" panose="020B0604020202020204" pitchFamily="34" charset="0"/>
              </a:rPr>
              <a:t>: ערכי הליבה של החברה כוללים שקיפות, מצוינות מקצועית ותרומה להשפעה חיובית על החברה והמדינה. החברה מחויבת לשמור על ערכים אלו בשיתוף פעולה עם המגזר הציבורי והפרטי, תוך שאיפה מתמדת לחדשנות ויצירתיות. בעצם ערכים אלו מעצבים את התרבות הארגונית ומנחים את כל הפעילות של החברה.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6. </a:t>
            </a:r>
            <a:r>
              <a:rPr lang="he-IL" sz="1800" b="1" dirty="0">
                <a:effectLst/>
                <a:latin typeface="Aptos" panose="020B0004020202020204" pitchFamily="34" charset="0"/>
                <a:ea typeface="Aptos" panose="020B0004020202020204" pitchFamily="34" charset="0"/>
                <a:cs typeface="Arial" panose="020B0604020202020204" pitchFamily="34" charset="0"/>
              </a:rPr>
              <a:t>קישורים(</a:t>
            </a:r>
            <a:r>
              <a:rPr lang="en-US" sz="1800" b="1" dirty="0">
                <a:effectLst/>
                <a:latin typeface="Aptos" panose="020B0004020202020204" pitchFamily="34" charset="0"/>
                <a:ea typeface="Aptos" panose="020B0004020202020204" pitchFamily="34" charset="0"/>
                <a:cs typeface="Arial" panose="020B0604020202020204" pitchFamily="34" charset="0"/>
              </a:rPr>
              <a:t>SLILLS</a:t>
            </a:r>
            <a:r>
              <a:rPr lang="he-IL" sz="1800" b="1" dirty="0">
                <a:effectLst/>
                <a:latin typeface="Aptos" panose="020B0004020202020204" pitchFamily="34" charset="0"/>
                <a:ea typeface="Aptos" panose="020B0004020202020204" pitchFamily="34" charset="0"/>
                <a:cs typeface="Arial" panose="020B0604020202020204" pitchFamily="34" charset="0"/>
              </a:rPr>
              <a:t>)</a:t>
            </a:r>
            <a:r>
              <a:rPr lang="he-IL" sz="1800" dirty="0">
                <a:effectLst/>
                <a:latin typeface="Aptos" panose="020B0004020202020204" pitchFamily="34" charset="0"/>
                <a:ea typeface="Aptos" panose="020B0004020202020204" pitchFamily="34" charset="0"/>
                <a:cs typeface="Arial" panose="020B0604020202020204" pitchFamily="34" charset="0"/>
              </a:rPr>
              <a:t>: עובדי החברה מגיעים עם רקע אקדמי עשיר בתחומים כמו כלכלה, משפטים, ראיית חשבון ותכנון ערים. החברה משקיעה בהכשרות מקצועיות וימי עיון, מה שמאפשר לעובדים להמשיך להתפתח ולשפר את המיומנויות שלהם. וזהו מרכיב חשוב בהצלחה של החברה, שמביאה צוות מקצועי ומיומן.</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7. </a:t>
            </a:r>
            <a:r>
              <a:rPr lang="he-IL" sz="1800" b="1" dirty="0">
                <a:effectLst/>
                <a:latin typeface="Aptos" panose="020B0004020202020204" pitchFamily="34" charset="0"/>
                <a:ea typeface="Aptos" panose="020B0004020202020204" pitchFamily="34" charset="0"/>
                <a:cs typeface="Arial" panose="020B0604020202020204" pitchFamily="34" charset="0"/>
              </a:rPr>
              <a:t>כוח אדם(</a:t>
            </a:r>
            <a:r>
              <a:rPr lang="en-US" sz="1800" dirty="0">
                <a:effectLst/>
                <a:latin typeface="Aptos" panose="020B0004020202020204" pitchFamily="34" charset="0"/>
                <a:ea typeface="Aptos" panose="020B0004020202020204" pitchFamily="34" charset="0"/>
                <a:cs typeface="Arial" panose="020B0604020202020204" pitchFamily="34" charset="0"/>
              </a:rPr>
              <a:t>staff</a:t>
            </a:r>
            <a:r>
              <a:rPr lang="he-IL" sz="1800" b="1" dirty="0">
                <a:effectLst/>
                <a:latin typeface="Aptos" panose="020B0004020202020204" pitchFamily="34" charset="0"/>
                <a:ea typeface="Aptos" panose="020B0004020202020204" pitchFamily="34" charset="0"/>
                <a:cs typeface="Arial" panose="020B0604020202020204" pitchFamily="34" charset="0"/>
              </a:rPr>
              <a:t>)</a:t>
            </a:r>
            <a:r>
              <a:rPr lang="he-IL" sz="1800" dirty="0">
                <a:effectLst/>
                <a:latin typeface="Aptos" panose="020B0004020202020204" pitchFamily="34" charset="0"/>
                <a:ea typeface="Aptos" panose="020B0004020202020204" pitchFamily="34" charset="0"/>
                <a:cs typeface="Arial" panose="020B0604020202020204" pitchFamily="34" charset="0"/>
              </a:rPr>
              <a:t>: כל עובדי החברה הם אקדמאים עם ניסיון בתחום הייעוץ. קבלת עובדים חדשים מתבצעת דרך מחלקת משאבי אנוש, שעורכת בחינות התאמה מקצועית וחברתית. התהליך מבטיח שהעובדים החדשים לא רק מתאימים מקצועית, אלא גם משתלבים היטב בתרבות הארגונית של החברה.</a:t>
            </a:r>
            <a:br>
              <a:rPr lang="en-US" sz="1800" dirty="0">
                <a:effectLst/>
                <a:latin typeface="Aptos" panose="020B0004020202020204" pitchFamily="34" charset="0"/>
                <a:ea typeface="Aptos" panose="020B0004020202020204" pitchFamily="34" charset="0"/>
                <a:cs typeface="Arial" panose="020B0604020202020204" pitchFamily="34" charset="0"/>
              </a:rPr>
            </a:b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באמצעות ניתוח מודל 7</a:t>
            </a:r>
            <a:r>
              <a:rPr lang="en-US" sz="1800" dirty="0">
                <a:effectLst/>
                <a:latin typeface="Aptos" panose="020B0004020202020204" pitchFamily="34" charset="0"/>
                <a:ea typeface="Aptos" panose="020B0004020202020204" pitchFamily="34" charset="0"/>
                <a:cs typeface="Arial" panose="020B0604020202020204" pitchFamily="34" charset="0"/>
              </a:rPr>
              <a:t>S</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he-IL" sz="1800" dirty="0">
                <a:effectLst/>
                <a:latin typeface="Arial" panose="020B0604020202020204" pitchFamily="34" charset="0"/>
                <a:ea typeface="Aptos" panose="020B0004020202020204" pitchFamily="34" charset="0"/>
                <a:cs typeface="Arial" panose="020B0604020202020204" pitchFamily="34" charset="0"/>
              </a:rPr>
              <a:t>של </a:t>
            </a:r>
            <a:r>
              <a:rPr lang="he-IL" sz="1800" dirty="0" err="1">
                <a:effectLst/>
                <a:latin typeface="Arial" panose="020B0604020202020204" pitchFamily="34" charset="0"/>
                <a:ea typeface="Aptos" panose="020B0004020202020204" pitchFamily="34" charset="0"/>
                <a:cs typeface="Arial" panose="020B0604020202020204" pitchFamily="34" charset="0"/>
              </a:rPr>
              <a:t>מקינזי</a:t>
            </a:r>
            <a:r>
              <a:rPr lang="he-IL" sz="1800" dirty="0">
                <a:effectLst/>
                <a:latin typeface="Arial" panose="020B0604020202020204" pitchFamily="34" charset="0"/>
                <a:ea typeface="Aptos" panose="020B0004020202020204" pitchFamily="34" charset="0"/>
                <a:cs typeface="Arial" panose="020B0604020202020204" pitchFamily="34" charset="0"/>
              </a:rPr>
              <a:t>, ניתן לראות החברה מצליחה לשמר על יתרון תחרותי בשוק הייעוץ הכלכלי באמצעות אסטרטגיה ברורה, מבנה ארגוני גמיש, מערכות טכנולוגיות מתקדמות, סגנון עבודה חדשני, ערכים משותפים חזקים, צוות מקצועי וקישורים ניהוליים אפקטיביים.</a:t>
            </a: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8</a:t>
            </a:fld>
            <a:endParaRPr lang="he-IL"/>
          </a:p>
        </p:txBody>
      </p:sp>
    </p:spTree>
    <p:extLst>
      <p:ext uri="{BB962C8B-B14F-4D97-AF65-F5344CB8AC3E}">
        <p14:creationId xmlns:p14="http://schemas.microsoft.com/office/powerpoint/2010/main" val="1044473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9</a:t>
            </a:fld>
            <a:endParaRPr lang="he-IL"/>
          </a:p>
        </p:txBody>
      </p:sp>
    </p:spTree>
    <p:extLst>
      <p:ext uri="{BB962C8B-B14F-4D97-AF65-F5344CB8AC3E}">
        <p14:creationId xmlns:p14="http://schemas.microsoft.com/office/powerpoint/2010/main" val="2032215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חוזקות</a:t>
            </a:r>
            <a:r>
              <a:rPr lang="he-IL"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 (</a:t>
            </a:r>
            <a:r>
              <a:rPr lang="en-US"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S</a:t>
            </a:r>
            <a:r>
              <a:rPr lang="he-IL" sz="1800" b="1" dirty="0">
                <a:effectLst/>
                <a:latin typeface="Aptos" panose="020B0004020202020204" pitchFamily="34" charset="0"/>
                <a:ea typeface="Aptos" panose="020B0004020202020204" pitchFamily="34" charset="0"/>
                <a:cs typeface="Arial" panose="020B0604020202020204" pitchFamily="34" charset="0"/>
                <a:sym typeface="Wingdings" panose="05000000000000000000" pitchFamily="2" charset="2"/>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מוניטין חזק: </a:t>
            </a:r>
            <a:r>
              <a:rPr lang="he-IL" sz="1800" b="0" dirty="0">
                <a:effectLst/>
                <a:latin typeface="Aptos" panose="020B0004020202020204" pitchFamily="34" charset="0"/>
                <a:ea typeface="Aptos" panose="020B0004020202020204" pitchFamily="34" charset="0"/>
                <a:cs typeface="Arial" panose="020B0604020202020204" pitchFamily="34" charset="0"/>
              </a:rPr>
              <a:t>החברה</a:t>
            </a:r>
            <a:r>
              <a:rPr lang="he-IL" sz="1800" dirty="0">
                <a:effectLst/>
                <a:latin typeface="Aptos" panose="020B0004020202020204" pitchFamily="34" charset="0"/>
                <a:ea typeface="Aptos" panose="020B0004020202020204" pitchFamily="34" charset="0"/>
                <a:cs typeface="Arial" panose="020B0604020202020204" pitchFamily="34" charset="0"/>
              </a:rPr>
              <a:t> נהנית ממוניטין טוב בקרב לקוחותיה, מה שמגביר את האמינות שלה בשוק.</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השקעה בהכשרה: </a:t>
            </a:r>
            <a:r>
              <a:rPr lang="he-IL" sz="1800" dirty="0">
                <a:effectLst/>
                <a:latin typeface="Aptos" panose="020B0004020202020204" pitchFamily="34" charset="0"/>
                <a:ea typeface="Aptos" panose="020B0004020202020204" pitchFamily="34" charset="0"/>
                <a:cs typeface="Arial" panose="020B0604020202020204" pitchFamily="34" charset="0"/>
              </a:rPr>
              <a:t>החברה משקיעה בהכשרות מקצועיות לכל העובדים, מה שמוביל לשיפור מתמיד בידע וביכולות הצוות.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ניסיון בשיתוף פעולה: </a:t>
            </a:r>
            <a:r>
              <a:rPr lang="he-IL" sz="1800" dirty="0">
                <a:effectLst/>
                <a:latin typeface="Aptos" panose="020B0004020202020204" pitchFamily="34" charset="0"/>
                <a:ea typeface="Aptos" panose="020B0004020202020204" pitchFamily="34" charset="0"/>
                <a:cs typeface="Arial" panose="020B0604020202020204" pitchFamily="34" charset="0"/>
              </a:rPr>
              <a:t>החברה מתמחה בהנחיית שיתוף פעולה בין מגזרי, כולל ציבורי, עסקי וחברתי, מה שמעניק לה יתרון תחרותי.</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פרויקטים מורכבים: </a:t>
            </a:r>
            <a:r>
              <a:rPr lang="he-IL" sz="1800" dirty="0">
                <a:effectLst/>
                <a:latin typeface="Aptos" panose="020B0004020202020204" pitchFamily="34" charset="0"/>
                <a:ea typeface="Aptos" panose="020B0004020202020204" pitchFamily="34" charset="0"/>
                <a:cs typeface="Arial" panose="020B0604020202020204" pitchFamily="34" charset="0"/>
              </a:rPr>
              <a:t>החברה בעלת ניסיון רב בניהול פרויקטים מורכבים והובלת שינויים ברמה הלאומית.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5. </a:t>
            </a:r>
            <a:r>
              <a:rPr lang="he-IL" sz="1800" b="1" dirty="0">
                <a:effectLst/>
                <a:latin typeface="Aptos" panose="020B0004020202020204" pitchFamily="34" charset="0"/>
                <a:ea typeface="Aptos" panose="020B0004020202020204" pitchFamily="34" charset="0"/>
                <a:cs typeface="Arial" panose="020B0604020202020204" pitchFamily="34" charset="0"/>
              </a:rPr>
              <a:t>צוות מנוסה: </a:t>
            </a:r>
            <a:r>
              <a:rPr lang="he-IL" sz="1800" dirty="0">
                <a:effectLst/>
                <a:latin typeface="Aptos" panose="020B0004020202020204" pitchFamily="34" charset="0"/>
                <a:ea typeface="Aptos" panose="020B0004020202020204" pitchFamily="34" charset="0"/>
                <a:cs typeface="Arial" panose="020B0604020202020204" pitchFamily="34" charset="0"/>
              </a:rPr>
              <a:t>צוות המומחים של החברה כולל אנשי מקצוע עם ידע מעמיק בניתוח כלכלי וייעוץ פיננסי.</a:t>
            </a:r>
            <a:br>
              <a:rPr lang="en-US" sz="1800" dirty="0">
                <a:effectLst/>
                <a:latin typeface="Aptos" panose="020B0004020202020204" pitchFamily="34" charset="0"/>
                <a:ea typeface="Aptos" panose="020B0004020202020204" pitchFamily="34" charset="0"/>
                <a:cs typeface="Arial" panose="020B0604020202020204" pitchFamily="34" charset="0"/>
              </a:rPr>
            </a:b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חולשות</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en-US" sz="1800" dirty="0">
                <a:effectLst/>
                <a:latin typeface="Aptos" panose="020B0004020202020204" pitchFamily="34" charset="0"/>
                <a:ea typeface="Aptos" panose="020B0004020202020204" pitchFamily="34" charset="0"/>
                <a:cs typeface="Arial" panose="020B0604020202020204" pitchFamily="34" charset="0"/>
              </a:rPr>
              <a:t>W</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הזדמנויות קידום מוגבלות: </a:t>
            </a:r>
            <a:r>
              <a:rPr lang="he-IL" sz="1800" dirty="0">
                <a:effectLst/>
                <a:latin typeface="Aptos" panose="020B0004020202020204" pitchFamily="34" charset="0"/>
                <a:ea typeface="Aptos" panose="020B0004020202020204" pitchFamily="34" charset="0"/>
                <a:cs typeface="Arial" panose="020B0604020202020204" pitchFamily="34" charset="0"/>
              </a:rPr>
              <a:t>המבנה הניהולי הקטן מגביל את האפשרויות לעובדים הוותיקים להתקדם בתפקידים ניהוליים אשר יכול לגרום לעובדים בעלי הידע לעזוב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התמקדות במגוון צר: </a:t>
            </a:r>
            <a:r>
              <a:rPr lang="he-IL" sz="1800" dirty="0">
                <a:effectLst/>
                <a:latin typeface="Aptos" panose="020B0004020202020204" pitchFamily="34" charset="0"/>
                <a:ea typeface="Aptos" panose="020B0004020202020204" pitchFamily="34" charset="0"/>
                <a:cs typeface="Arial" panose="020B0604020202020204" pitchFamily="34" charset="0"/>
              </a:rPr>
              <a:t>החברה מתמקדת בתחומים ספציפיים, מה שמצמצם את הפוטנציאל להתרחבות לענפים חדשים או שווקים נוספים, כמו פיתוח תוכנה.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נוכחות מוגבלת בשוק הבינלאומי: </a:t>
            </a:r>
            <a:r>
              <a:rPr lang="he-IL" sz="1800" dirty="0">
                <a:effectLst/>
                <a:latin typeface="Aptos" panose="020B0004020202020204" pitchFamily="34" charset="0"/>
                <a:ea typeface="Aptos" panose="020B0004020202020204" pitchFamily="34" charset="0"/>
                <a:cs typeface="Arial" panose="020B0604020202020204" pitchFamily="34" charset="0"/>
              </a:rPr>
              <a:t>החברה מתמקדת בעיקר בשוק המקומי, דבר שמונע ממנה לנצל הזדמנויות בשווקים גלובליים.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הזדמנויות: (</a:t>
            </a:r>
            <a:r>
              <a:rPr lang="en-US" sz="1800" b="1" dirty="0">
                <a:effectLst/>
                <a:latin typeface="Aptos" panose="020B0004020202020204" pitchFamily="34" charset="0"/>
                <a:ea typeface="Aptos" panose="020B0004020202020204" pitchFamily="34" charset="0"/>
                <a:cs typeface="Arial" panose="020B0604020202020204" pitchFamily="34" charset="0"/>
              </a:rPr>
              <a:t>O</a:t>
            </a:r>
            <a:r>
              <a:rPr lang="he-IL" sz="1800" b="1" dirty="0">
                <a:effectLst/>
                <a:latin typeface="Aptos" panose="020B0004020202020204" pitchFamily="34" charset="0"/>
                <a:ea typeface="Aptos" panose="020B0004020202020204" pitchFamily="34" charset="0"/>
                <a:cs typeface="Arial" panose="020B0604020202020204" pitchFamily="34" charset="0"/>
              </a:rPr>
              <a:t>)</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כניסה לשווקים בינלאומיים: </a:t>
            </a:r>
            <a:r>
              <a:rPr lang="he-IL" sz="1800" dirty="0">
                <a:effectLst/>
                <a:latin typeface="Aptos" panose="020B0004020202020204" pitchFamily="34" charset="0"/>
                <a:ea typeface="Aptos" panose="020B0004020202020204" pitchFamily="34" charset="0"/>
                <a:cs typeface="Arial" panose="020B0604020202020204" pitchFamily="34" charset="0"/>
              </a:rPr>
              <a:t>החברה בוחנת אפשרויות להתרחבות לשווקי ייעוץ בינלאומיים, מה שיכול להגדיל את מאגר הלקוחות שלה.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טכנולוגיות מתקדמות:</a:t>
            </a:r>
            <a:r>
              <a:rPr lang="he-IL" sz="1800" dirty="0">
                <a:effectLst/>
                <a:latin typeface="Aptos" panose="020B0004020202020204" pitchFamily="34" charset="0"/>
                <a:ea typeface="Aptos" panose="020B0004020202020204" pitchFamily="34" charset="0"/>
                <a:cs typeface="Arial" panose="020B0604020202020204" pitchFamily="34" charset="0"/>
              </a:rPr>
              <a:t> שימוש בבינה מלאכותית ונתוני עתק יכול לשפר את איכות השירותים שהחברה מספקת ולהגביר את היעילות.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פתיחת סניפים חדשים: </a:t>
            </a:r>
            <a:r>
              <a:rPr lang="he-IL" sz="1800" dirty="0">
                <a:effectLst/>
                <a:latin typeface="Aptos" panose="020B0004020202020204" pitchFamily="34" charset="0"/>
                <a:ea typeface="Aptos" panose="020B0004020202020204" pitchFamily="34" charset="0"/>
                <a:cs typeface="Arial" panose="020B0604020202020204" pitchFamily="34" charset="0"/>
              </a:rPr>
              <a:t>הרחבת החברה ופתיחת סניפים נוספים בארץ עשויה לשפר את הנגישות ללקוחות.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התרחבות לתחומים חדשים:</a:t>
            </a:r>
            <a:r>
              <a:rPr lang="he-IL" sz="1800" dirty="0">
                <a:effectLst/>
                <a:latin typeface="Aptos" panose="020B0004020202020204" pitchFamily="34" charset="0"/>
                <a:ea typeface="Aptos" panose="020B0004020202020204" pitchFamily="34" charset="0"/>
                <a:cs typeface="Arial" panose="020B0604020202020204" pitchFamily="34" charset="0"/>
              </a:rPr>
              <a:t> יש לה פוטנציאל להתרחבות לאזורי פעילות חדשים כמו טכנולוגיה ובריאות.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איומים: (</a:t>
            </a:r>
            <a:r>
              <a:rPr lang="en-US" sz="1800" b="1" dirty="0">
                <a:effectLst/>
                <a:latin typeface="Aptos" panose="020B0004020202020204" pitchFamily="34" charset="0"/>
                <a:ea typeface="Aptos" panose="020B0004020202020204" pitchFamily="34" charset="0"/>
                <a:cs typeface="Arial" panose="020B0604020202020204" pitchFamily="34" charset="0"/>
              </a:rPr>
              <a:t>T</a:t>
            </a:r>
            <a:r>
              <a:rPr lang="he-IL" sz="1800" b="1" dirty="0">
                <a:effectLst/>
                <a:latin typeface="Aptos" panose="020B0004020202020204" pitchFamily="34" charset="0"/>
                <a:ea typeface="Aptos" panose="020B0004020202020204" pitchFamily="34" charset="0"/>
                <a:cs typeface="Arial" panose="020B0604020202020204" pitchFamily="34" charset="0"/>
              </a:rPr>
              <a:t>)</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תחרות גוברת: </a:t>
            </a:r>
            <a:r>
              <a:rPr lang="he-IL" sz="1800" dirty="0">
                <a:effectLst/>
                <a:latin typeface="Aptos" panose="020B0004020202020204" pitchFamily="34" charset="0"/>
                <a:ea typeface="Aptos" panose="020B0004020202020204" pitchFamily="34" charset="0"/>
                <a:cs typeface="Arial" panose="020B0604020202020204" pitchFamily="34" charset="0"/>
              </a:rPr>
              <a:t>כניסת שחקנים בינלאומיים לשוק המקומי מגדילה את התחרות, עם חברות כמו </a:t>
            </a:r>
            <a:r>
              <a:rPr lang="en-US" sz="1800" dirty="0">
                <a:effectLst/>
                <a:latin typeface="Aptos" panose="020B0004020202020204" pitchFamily="34" charset="0"/>
                <a:ea typeface="Aptos" panose="020B0004020202020204" pitchFamily="34" charset="0"/>
                <a:cs typeface="Arial" panose="020B0604020202020204" pitchFamily="34" charset="0"/>
              </a:rPr>
              <a:t> WSP</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he-IL" sz="1800" dirty="0">
                <a:effectLst/>
                <a:latin typeface="Arial" panose="020B0604020202020204" pitchFamily="34" charset="0"/>
                <a:ea typeface="Aptos" panose="020B0004020202020204" pitchFamily="34" charset="0"/>
                <a:cs typeface="Arial" panose="020B0604020202020204" pitchFamily="34" charset="0"/>
              </a:rPr>
              <a:t>המתמודדות על פרויקטים דומים או חברת </a:t>
            </a:r>
            <a:r>
              <a:rPr lang="he-IL" sz="1800" dirty="0" err="1">
                <a:effectLst/>
                <a:latin typeface="Arial" panose="020B0604020202020204" pitchFamily="34" charset="0"/>
                <a:ea typeface="Aptos" panose="020B0004020202020204" pitchFamily="34" charset="0"/>
                <a:cs typeface="Arial" panose="020B0604020202020204" pitchFamily="34" charset="0"/>
              </a:rPr>
              <a:t>פארטי</a:t>
            </a:r>
            <a:r>
              <a:rPr lang="he-IL" sz="1800" dirty="0">
                <a:effectLst/>
                <a:latin typeface="Arial" panose="020B0604020202020204" pitchFamily="34" charset="0"/>
                <a:ea typeface="Aptos" panose="020B0004020202020204" pitchFamily="34" charset="0"/>
                <a:cs typeface="Arial" panose="020B0604020202020204" pitchFamily="34" charset="0"/>
              </a:rPr>
              <a:t> שיושבת בנתניה וחברת אדן </a:t>
            </a:r>
            <a:r>
              <a:rPr lang="he-IL" sz="1800" dirty="0" err="1">
                <a:effectLst/>
                <a:latin typeface="Arial" panose="020B0604020202020204" pitchFamily="34" charset="0"/>
                <a:ea typeface="Aptos" panose="020B0004020202020204" pitchFamily="34" charset="0"/>
                <a:cs typeface="Arial" panose="020B0604020202020204" pitchFamily="34" charset="0"/>
              </a:rPr>
              <a:t>טכנולגיה</a:t>
            </a:r>
            <a:r>
              <a:rPr lang="he-IL" sz="1800" dirty="0">
                <a:effectLst/>
                <a:latin typeface="Arial" panose="020B0604020202020204" pitchFamily="34" charset="0"/>
                <a:ea typeface="Aptos" panose="020B0004020202020204" pitchFamily="34" charset="0"/>
                <a:cs typeface="Arial" panose="020B0604020202020204" pitchFamily="34" charset="0"/>
              </a:rPr>
              <a:t> וייעוץ.</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מיתון כלכלי: </a:t>
            </a:r>
            <a:r>
              <a:rPr lang="he-IL" sz="1800" dirty="0">
                <a:effectLst/>
                <a:latin typeface="Aptos" panose="020B0004020202020204" pitchFamily="34" charset="0"/>
                <a:ea typeface="Aptos" panose="020B0004020202020204" pitchFamily="34" charset="0"/>
                <a:cs typeface="Arial" panose="020B0604020202020204" pitchFamily="34" charset="0"/>
              </a:rPr>
              <a:t>קיימת סכנה שהמשק הישראלי יכנס למיתון, דבר שיכול להקטין את הפעילות </a:t>
            </a:r>
            <a:r>
              <a:rPr lang="he-IL" sz="1800" dirty="0" err="1">
                <a:effectLst/>
                <a:latin typeface="Aptos" panose="020B0004020202020204" pitchFamily="34" charset="0"/>
                <a:ea typeface="Aptos" panose="020B0004020202020204" pitchFamily="34" charset="0"/>
                <a:cs typeface="Arial" panose="020B0604020202020204" pitchFamily="34" charset="0"/>
              </a:rPr>
              <a:t>הפרויקטליית</a:t>
            </a:r>
            <a:r>
              <a:rPr lang="he-IL" sz="1800" dirty="0">
                <a:effectLst/>
                <a:latin typeface="Aptos" panose="020B0004020202020204" pitchFamily="34" charset="0"/>
                <a:ea typeface="Aptos" panose="020B0004020202020204" pitchFamily="34" charset="0"/>
                <a:cs typeface="Arial" panose="020B0604020202020204" pitchFamily="34" charset="0"/>
              </a:rPr>
              <a:t> של משרדי הממשלה ולהשפיע על הביקוש לשירותי החברה.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אי וודאות רגולטורית: </a:t>
            </a:r>
            <a:r>
              <a:rPr lang="he-IL" sz="1800" dirty="0">
                <a:effectLst/>
                <a:latin typeface="Aptos" panose="020B0004020202020204" pitchFamily="34" charset="0"/>
                <a:ea typeface="Aptos" panose="020B0004020202020204" pitchFamily="34" charset="0"/>
                <a:cs typeface="Arial" panose="020B0604020202020204" pitchFamily="34" charset="0"/>
              </a:rPr>
              <a:t>שינויים פוליטיים ורגולטוריים עשויים להקשות על פעילות החברה ולגרום לחוסר יציבות.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משברים כלכליים: </a:t>
            </a:r>
            <a:r>
              <a:rPr lang="he-IL" sz="1800" dirty="0">
                <a:effectLst/>
                <a:latin typeface="Aptos" panose="020B0004020202020204" pitchFamily="34" charset="0"/>
                <a:ea typeface="Aptos" panose="020B0004020202020204" pitchFamily="34" charset="0"/>
                <a:cs typeface="Arial" panose="020B0604020202020204" pitchFamily="34" charset="0"/>
              </a:rPr>
              <a:t>משברים כלכליים עלולים להקטין את הוצאות הלקוחות על שירותי ייעוץ, דבר שיכול לפגוע בהכנסות החברה.</a:t>
            </a:r>
            <a:br>
              <a:rPr lang="en-US" sz="1800" dirty="0">
                <a:effectLst/>
                <a:latin typeface="Aptos" panose="020B0004020202020204" pitchFamily="34" charset="0"/>
                <a:ea typeface="Aptos" panose="020B0004020202020204" pitchFamily="34" charset="0"/>
                <a:cs typeface="Arial" panose="020B0604020202020204" pitchFamily="34" charset="0"/>
              </a:rPr>
            </a:b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10</a:t>
            </a:fld>
            <a:endParaRPr lang="he-IL"/>
          </a:p>
        </p:txBody>
      </p:sp>
    </p:spTree>
    <p:extLst>
      <p:ext uri="{BB962C8B-B14F-4D97-AF65-F5344CB8AC3E}">
        <p14:creationId xmlns:p14="http://schemas.microsoft.com/office/powerpoint/2010/main" val="3097109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חוזקות והזדמנויות: (מכפיל הכוח)</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1</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מוניטין חיובי בשווקים בינלאומיים</a:t>
            </a:r>
            <a:r>
              <a:rPr lang="he-IL" sz="1800" dirty="0">
                <a:effectLst/>
                <a:latin typeface="Aptos" panose="020B0004020202020204" pitchFamily="34" charset="0"/>
                <a:ea typeface="Aptos" panose="020B0004020202020204" pitchFamily="34" charset="0"/>
                <a:cs typeface="Arial" panose="020B0604020202020204" pitchFamily="34" charset="0"/>
              </a:rPr>
              <a:t>: החברה יכולה לנצל את המוניטין החיובי שלה ואת הכישורים המקצועיים כדי להיכנס לשווקי ייעוץ בינלאומיים. זה לא רק יגדיל את ההכנסות אלא גם יחזק את המותג הגלובלי שלה.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2</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טכנולוגיות מתקדמות</a:t>
            </a:r>
            <a:r>
              <a:rPr lang="he-IL" sz="1800" dirty="0">
                <a:effectLst/>
                <a:latin typeface="Aptos" panose="020B0004020202020204" pitchFamily="34" charset="0"/>
                <a:ea typeface="Aptos" panose="020B0004020202020204" pitchFamily="34" charset="0"/>
                <a:cs typeface="Arial" panose="020B0604020202020204" pitchFamily="34" charset="0"/>
              </a:rPr>
              <a:t>: השימוש בטכנולוגיות כמו </a:t>
            </a:r>
            <a:r>
              <a:rPr lang="en-US" sz="1800" dirty="0">
                <a:effectLst/>
                <a:latin typeface="Aptos" panose="020B0004020202020204" pitchFamily="34" charset="0"/>
                <a:ea typeface="Aptos" panose="020B0004020202020204" pitchFamily="34" charset="0"/>
                <a:cs typeface="Arial" panose="020B0604020202020204" pitchFamily="34" charset="0"/>
              </a:rPr>
              <a:t>AI</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he-IL" sz="1800" dirty="0">
                <a:effectLst/>
                <a:latin typeface="Arial" panose="020B0604020202020204" pitchFamily="34" charset="0"/>
                <a:ea typeface="Aptos" panose="020B0004020202020204" pitchFamily="34" charset="0"/>
                <a:cs typeface="Arial" panose="020B0604020202020204" pitchFamily="34" charset="0"/>
              </a:rPr>
              <a:t>ונתוני עתק לשיפור הייעוץ האסטרטגי יכול להעצים את היכולת של החברה לספק פתרונות חדשניים ומדויקים יותר, ובכך להגדיל את יתרונה התחרותי בשוק.</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חוזקות ואיומים:</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1</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ניסיון רב מול תחרות גבוהה</a:t>
            </a:r>
            <a:r>
              <a:rPr lang="he-IL" sz="1800" dirty="0">
                <a:effectLst/>
                <a:latin typeface="Aptos" panose="020B0004020202020204" pitchFamily="34" charset="0"/>
                <a:ea typeface="Aptos" panose="020B0004020202020204" pitchFamily="34" charset="0"/>
                <a:cs typeface="Arial" panose="020B0604020202020204" pitchFamily="34" charset="0"/>
              </a:rPr>
              <a:t>: ניסיון הצוות יכול לסייע לחברה להתמודד עם התחרות הגוברת ולהפחית את הסיכון של שינויים רגולטוריים. זה מאפשר לחברה להציע פתרונות מותאמים אישית ומדויקים שיכולים להיבחן מול מתחרים גדולים.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2</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ערך מוסף בתגובה לשינויים</a:t>
            </a:r>
            <a:r>
              <a:rPr lang="he-IL" sz="1800" dirty="0">
                <a:effectLst/>
                <a:latin typeface="Aptos" panose="020B0004020202020204" pitchFamily="34" charset="0"/>
                <a:ea typeface="Aptos" panose="020B0004020202020204" pitchFamily="34" charset="0"/>
                <a:cs typeface="Arial" panose="020B0604020202020204" pitchFamily="34" charset="0"/>
              </a:rPr>
              <a:t>: המוניטין והידע העמוק של הצוות יכולים לשמש כאמצעי להתמודד עם שחקנים בינלאומיים, בכך שהחברה מציעה ערך מוסף שלא ניתן למצוא בקלות אצל מתחרים.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חולשות והזדמנויות:</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1</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פתיחת סניפים ויצירת תפקידים חדשים</a:t>
            </a:r>
            <a:r>
              <a:rPr lang="he-IL" sz="1800" dirty="0">
                <a:effectLst/>
                <a:latin typeface="Aptos" panose="020B0004020202020204" pitchFamily="34" charset="0"/>
                <a:ea typeface="Aptos" panose="020B0004020202020204" pitchFamily="34" charset="0"/>
                <a:cs typeface="Arial" panose="020B0604020202020204" pitchFamily="34" charset="0"/>
              </a:rPr>
              <a:t>: פתיחת סניפים חדשים בארץ והתרחבות לשווקים בינלאומיים עשויים לייצר תפקידים חדשים ולספק פתרונות לבעיות קידום פנימיות. זה יכול להוביל לצמיחה פנימית ולשיפור מחויבות העובדים.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2</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כניסה לתחומים חדשים</a:t>
            </a:r>
            <a:r>
              <a:rPr lang="he-IL" sz="1800" dirty="0">
                <a:effectLst/>
                <a:latin typeface="Aptos" panose="020B0004020202020204" pitchFamily="34" charset="0"/>
                <a:ea typeface="Aptos" panose="020B0004020202020204" pitchFamily="34" charset="0"/>
                <a:cs typeface="Arial" panose="020B0604020202020204" pitchFamily="34" charset="0"/>
              </a:rPr>
              <a:t>: התרחבות לתחומים כמו טכנולוגיה ובריאות עשויה לדרוש תפקידים ומיומנויות חדשות, מה שיכול לפתוח דלתות קידום והשתלבות לצוות הקיים.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חולשות ואיומים: ( בטן רכה)</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1</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תלות בשוק המקומי</a:t>
            </a:r>
            <a:r>
              <a:rPr lang="he-IL" sz="1800" dirty="0">
                <a:effectLst/>
                <a:latin typeface="Aptos" panose="020B0004020202020204" pitchFamily="34" charset="0"/>
                <a:ea typeface="Aptos" panose="020B0004020202020204" pitchFamily="34" charset="0"/>
                <a:cs typeface="Arial" panose="020B0604020202020204" pitchFamily="34" charset="0"/>
              </a:rPr>
              <a:t>: התמקדות בשוק המקומי ובתחום מסוים עלולה להוות חולשה משמעותית, במיוחד לאור תחרות גוברת ותנודות כלכליות. החברה צריכה לפתח אסטרטגיות לצמצום התלות הזו על ידי התרחבות לשווקים חדשים והרחבת מגוון השירותים.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2</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סיכונים כלכליים</a:t>
            </a:r>
            <a:r>
              <a:rPr lang="he-IL" sz="1800" dirty="0">
                <a:effectLst/>
                <a:latin typeface="Aptos" panose="020B0004020202020204" pitchFamily="34" charset="0"/>
                <a:ea typeface="Aptos" panose="020B0004020202020204" pitchFamily="34" charset="0"/>
                <a:cs typeface="Arial" panose="020B0604020202020204" pitchFamily="34" charset="0"/>
              </a:rPr>
              <a:t>: התמקדות בתחום ייעוץ אחד בלבד מגדילה את הסיכון לאי יציבות כלכלית. החברה צריכה להרחיב את תחומי הפעילות שלה ולהתכונן למקרים של ירידת ביקוש בתחום המרכזי, על ידי גיוון הפעילות והחדרת תחומים חדשים שיכולים לשמור על יציבותה הכלכלית</a:t>
            </a: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11</a:t>
            </a:fld>
            <a:endParaRPr lang="he-IL"/>
          </a:p>
        </p:txBody>
      </p:sp>
    </p:spTree>
    <p:extLst>
      <p:ext uri="{BB962C8B-B14F-4D97-AF65-F5344CB8AC3E}">
        <p14:creationId xmlns:p14="http://schemas.microsoft.com/office/powerpoint/2010/main" val="1435767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a:p>
            <a:r>
              <a:rPr lang="he-IL" dirty="0"/>
              <a:t>1. התמחות ייחודית ותחומי פעילות מורכבים: החברה מתמחה במגוון שירותים ייחודיים המותאמים לצרכים של משרדי ממשלה, גופים ציבוריים וחברות פרטיות. החברה מספקת שירותים ייחודיים כמו ליווי רפורמות ממשלתיות, פיתוח מודלים כלכליים מורכבים, ובדיקות כדאיות כלכלית. תחומים אלה דורשים ידע מעמיק ומומחיות רבה, דבר שמייחד את </a:t>
            </a:r>
            <a:r>
              <a:rPr lang="he-IL" dirty="0" err="1"/>
              <a:t>עדליא</a:t>
            </a:r>
            <a:r>
              <a:rPr lang="he-IL" dirty="0"/>
              <a:t> בשוק הייעוץ הכלכלי. כמו כן </a:t>
            </a:r>
            <a:r>
              <a:rPr lang="he-IL" dirty="0" err="1"/>
              <a:t>הנסיון</a:t>
            </a:r>
            <a:r>
              <a:rPr lang="he-IL" dirty="0"/>
              <a:t> הרב שיש לה עם גופים ממשלתיים נותן לה בידול רחב מחברות אחרות</a:t>
            </a:r>
          </a:p>
          <a:p>
            <a:endParaRPr lang="he-IL" dirty="0"/>
          </a:p>
          <a:p>
            <a:r>
              <a:rPr lang="he-IL" dirty="0"/>
              <a:t>2. שילוב כלים מתקדמים: החברה משתמשת בכלים מתקדמים כמו מודלים כלכליים סטטיסטיים ומתמטיים, מערכות מידע גיאוגרפיות (</a:t>
            </a:r>
            <a:r>
              <a:rPr lang="en-US" dirty="0"/>
              <a:t>GIS) </a:t>
            </a:r>
            <a:r>
              <a:rPr lang="he-IL" dirty="0"/>
              <a:t>וכלים אחרים המשלבים מדדי הערכה איכותית, שביעות רצון וחיזוי ביקושים. השימוש בכלים מורכבים אלה תורם לבידול החברה בשוק.</a:t>
            </a:r>
          </a:p>
          <a:p>
            <a:endParaRPr lang="he-IL" dirty="0"/>
          </a:p>
          <a:p>
            <a:r>
              <a:rPr lang="he-IL" dirty="0"/>
              <a:t>3. קהל לקוחות רחב: החברה פועלת מול קהל לקוחות רחב מגזרים מגוונים – משרדי ממשלה, חברות ציבוריות ופרטיות, גופים אקדמיים ועוד. בכך היא ממצבת את עצמה כחברה שפונה לשוק רחב ולא רק לנישה מצומצמת.</a:t>
            </a:r>
          </a:p>
          <a:p>
            <a:endParaRPr lang="he-IL" dirty="0"/>
          </a:p>
          <a:p>
            <a:r>
              <a:rPr lang="he-IL" dirty="0"/>
              <a:t>4. רמת שירות גבוהה וייחודיות במתן פתרונות: החברה מציעה פתרונות מותאמים אישית, תוך התאמה לצרכים המיוחדים של כל לקוח. היא בונה אסטרטגיות ארוכות טווח, </a:t>
            </a:r>
            <a:r>
              <a:rPr lang="he-IL" dirty="0" err="1"/>
              <a:t>תכניות</a:t>
            </a:r>
            <a:r>
              <a:rPr lang="he-IL" dirty="0"/>
              <a:t> רב-שנתיות ומסייעת בליווי תהליכים ממשלתיים מורכבים – כל אלה תורמים למיצוב החברה כמובילה בתחומה, מה שמחזק את אסטרטגיית הבידול.</a:t>
            </a:r>
          </a:p>
          <a:p>
            <a:endParaRPr lang="he-IL" dirty="0"/>
          </a:p>
          <a:p>
            <a:r>
              <a:rPr lang="he-IL" dirty="0"/>
              <a:t>לכן, האסטרטגיה שלה היא **בידול** בשוק **רחב**, כי היא מספקת שירותים ייחודיים וחדשניים ללקוחות מגוונים, ומצליחה להבדיל את עצמה מהמתחרים בזכות הידע והפתרונות הייחודיים שהיא מציעה.</a:t>
            </a: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12</a:t>
            </a:fld>
            <a:endParaRPr lang="he-IL"/>
          </a:p>
        </p:txBody>
      </p:sp>
    </p:spTree>
    <p:extLst>
      <p:ext uri="{BB962C8B-B14F-4D97-AF65-F5344CB8AC3E}">
        <p14:creationId xmlns:p14="http://schemas.microsoft.com/office/powerpoint/2010/main" val="2904576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90306-ACE6-8771-1580-67FB16723CB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304DED67-F314-381D-E5A6-BA34203E1D0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167A94A-7E42-04B6-88E4-8D2992B88DE6}"/>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4DEB43C7-A590-2B42-61D6-7C4E31380CF7}"/>
              </a:ext>
            </a:extLst>
          </p:cNvPr>
          <p:cNvSpPr>
            <a:spLocks noGrp="1"/>
          </p:cNvSpPr>
          <p:nvPr>
            <p:ph type="sldNum" sz="quarter" idx="5"/>
          </p:nvPr>
        </p:nvSpPr>
        <p:spPr/>
        <p:txBody>
          <a:bodyPr/>
          <a:lstStyle/>
          <a:p>
            <a:fld id="{F43703A1-5F4E-41E1-9E35-228D1150B16D}" type="slidenum">
              <a:rPr lang="he-IL" smtClean="0"/>
              <a:t>13</a:t>
            </a:fld>
            <a:endParaRPr lang="he-IL"/>
          </a:p>
        </p:txBody>
      </p:sp>
    </p:spTree>
    <p:extLst>
      <p:ext uri="{BB962C8B-B14F-4D97-AF65-F5344CB8AC3E}">
        <p14:creationId xmlns:p14="http://schemas.microsoft.com/office/powerpoint/2010/main" val="4276012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r>
              <a:rPr lang="he-IL" sz="1800" b="1" dirty="0">
                <a:effectLst/>
                <a:latin typeface="Aptos" panose="020B0004020202020204" pitchFamily="34" charset="0"/>
                <a:ea typeface="Aptos" panose="020B0004020202020204" pitchFamily="34" charset="0"/>
                <a:cs typeface="Arial" panose="020B0604020202020204" pitchFamily="34" charset="0"/>
              </a:rPr>
              <a:t>יתרונות:</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1</a:t>
            </a:r>
            <a:r>
              <a:rPr lang="he-IL" sz="1800" b="1" dirty="0">
                <a:effectLst/>
                <a:latin typeface="Aptos" panose="020B0004020202020204" pitchFamily="34" charset="0"/>
                <a:ea typeface="Aptos" panose="020B0004020202020204" pitchFamily="34" charset="0"/>
                <a:cs typeface="Arial" panose="020B0604020202020204" pitchFamily="34" charset="0"/>
              </a:rPr>
              <a:t>. יתרון תחרותי: </a:t>
            </a:r>
            <a:r>
              <a:rPr lang="he-IL" sz="1800" dirty="0">
                <a:effectLst/>
                <a:latin typeface="Aptos" panose="020B0004020202020204" pitchFamily="34" charset="0"/>
                <a:ea typeface="Aptos" panose="020B0004020202020204" pitchFamily="34" charset="0"/>
                <a:cs typeface="Arial" panose="020B0604020202020204" pitchFamily="34" charset="0"/>
              </a:rPr>
              <a:t>המוניטין הטוב של החברה בשוק מהווה בסיס לבידול. היכולת להציע שירותים איכותיים וחדשניים מאפשרת לחברה לבלוט בין המתחרים, ובכך לשמור על לקוחות נאמנים.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2</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שירות לקוחות מעולה: </a:t>
            </a:r>
            <a:r>
              <a:rPr lang="he-IL" sz="1800" dirty="0">
                <a:effectLst/>
                <a:latin typeface="Aptos" panose="020B0004020202020204" pitchFamily="34" charset="0"/>
                <a:ea typeface="Aptos" panose="020B0004020202020204" pitchFamily="34" charset="0"/>
                <a:cs typeface="Arial" panose="020B0604020202020204" pitchFamily="34" charset="0"/>
              </a:rPr>
              <a:t>החברה משקיעה בהכשרות מקצועיות ובמערכות מחשוב מתקדמות, מה שמגביר את יכולת החברה להציע שירותים ברמה גבוהה. זה לא רק מגדיל את שביעות רצון הלקוחות, אלא גם תורם למוניטין החיובי של החברה.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3</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תפיסה רחבה וחדשנית של שוק היעד: </a:t>
            </a:r>
            <a:r>
              <a:rPr lang="he-IL" sz="1800" dirty="0">
                <a:effectLst/>
                <a:latin typeface="Aptos" panose="020B0004020202020204" pitchFamily="34" charset="0"/>
                <a:ea typeface="Aptos" panose="020B0004020202020204" pitchFamily="34" charset="0"/>
                <a:cs typeface="Arial" panose="020B0604020202020204" pitchFamily="34" charset="0"/>
              </a:rPr>
              <a:t>החברה מזהה את הצרכים המשתנים של השוק ומגיבה להם עם פתרונות חדשניים. בעצם החברה פועלת בשוק רחב ומבינה את החשיבות של התמקדות בבידול כדי לספק ערך ללקוחות מגוונים, מה שמאפשר לה להישאר רלוונטית.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4</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מובילות בשוק: </a:t>
            </a:r>
            <a:r>
              <a:rPr lang="he-IL" sz="1800" dirty="0">
                <a:effectLst/>
                <a:latin typeface="Aptos" panose="020B0004020202020204" pitchFamily="34" charset="0"/>
                <a:ea typeface="Aptos" panose="020B0004020202020204" pitchFamily="34" charset="0"/>
                <a:cs typeface="Arial" panose="020B0604020202020204" pitchFamily="34" charset="0"/>
              </a:rPr>
              <a:t>הניסיון בניהול פרויקטים מורכבים והובלת שינויים ברמה הלאומית מחזק את יתרון החברה. יכולתה להתמודד עם תחרות גוברת, כולל שחקנים בינלאומיים, מציבה אותה בעמדה חזקה.</a:t>
            </a:r>
            <a:br>
              <a:rPr lang="en-US" sz="1800" dirty="0">
                <a:effectLst/>
                <a:latin typeface="Aptos" panose="020B0004020202020204" pitchFamily="34" charset="0"/>
                <a:ea typeface="Aptos" panose="020B0004020202020204" pitchFamily="34" charset="0"/>
                <a:cs typeface="Arial" panose="020B0604020202020204" pitchFamily="34" charset="0"/>
              </a:rPr>
            </a:br>
            <a:endParaRPr lang="he-IL"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endParaRPr lang="he-IL"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חסרונות</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1</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השקעה ניכרת: </a:t>
            </a:r>
            <a:r>
              <a:rPr lang="he-IL" sz="1800" dirty="0">
                <a:effectLst/>
                <a:latin typeface="Aptos" panose="020B0004020202020204" pitchFamily="34" charset="0"/>
                <a:ea typeface="Aptos" panose="020B0004020202020204" pitchFamily="34" charset="0"/>
                <a:cs typeface="Arial" panose="020B0604020202020204" pitchFamily="34" charset="0"/>
              </a:rPr>
              <a:t>עלויות ההשקעה בטכנולוגיות מתקדמות ובהכשרות מקצועיות עשויות להשפיע על הרווחיות. ולכן נדרש מהחברה ניהול כספי זהיר כדי להבטיח שהשקעות אלו יובילו לתשואות חיוביות.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2</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תחרות גוברת: </a:t>
            </a:r>
            <a:r>
              <a:rPr lang="he-IL" sz="1800" dirty="0">
                <a:effectLst/>
                <a:latin typeface="Aptos" panose="020B0004020202020204" pitchFamily="34" charset="0"/>
                <a:ea typeface="Aptos" panose="020B0004020202020204" pitchFamily="34" charset="0"/>
                <a:cs typeface="Arial" panose="020B0604020202020204" pitchFamily="34" charset="0"/>
              </a:rPr>
              <a:t>יתרונות ההבדלה של החברה עלולים להיות מועתקים על ידי מתחרים. ולכן על מנת לשמור על היתרון התחרותי, החברה צריכה להמשיך להשקיע בחדשנות ובטכנולוגיה, דבר שעשוי להכביד על המשאבים.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3</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שינויים טכנולוגיים: </a:t>
            </a:r>
            <a:r>
              <a:rPr lang="he-IL" sz="1800" dirty="0">
                <a:effectLst/>
                <a:latin typeface="Aptos" panose="020B0004020202020204" pitchFamily="34" charset="0"/>
                <a:ea typeface="Aptos" panose="020B0004020202020204" pitchFamily="34" charset="0"/>
                <a:cs typeface="Arial" panose="020B0604020202020204" pitchFamily="34" charset="0"/>
              </a:rPr>
              <a:t>תחום הייעוץ משתנה במהירות. ולכן החברה נדרשת להשקיע באופן מתמשך כדי לשמור על רמת חדשנות גבוהה ולמנוע ירידת יתרון הבידול.</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4</a:t>
            </a: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b="1" dirty="0">
                <a:effectLst/>
                <a:latin typeface="Aptos" panose="020B0004020202020204" pitchFamily="34" charset="0"/>
                <a:ea typeface="Aptos" panose="020B0004020202020204" pitchFamily="34" charset="0"/>
                <a:cs typeface="Arial" panose="020B0604020202020204" pitchFamily="34" charset="0"/>
              </a:rPr>
              <a:t>פוטנציאל צמיחה מוגבל: </a:t>
            </a:r>
            <a:r>
              <a:rPr lang="he-IL" sz="1800" dirty="0">
                <a:effectLst/>
                <a:latin typeface="Aptos" panose="020B0004020202020204" pitchFamily="34" charset="0"/>
                <a:ea typeface="Aptos" panose="020B0004020202020204" pitchFamily="34" charset="0"/>
                <a:cs typeface="Arial" panose="020B0604020202020204" pitchFamily="34" charset="0"/>
              </a:rPr>
              <a:t>התמקדות בעיקר בתחום מסוים בשוק המקומי עלולה להגביל את פוטנציאל הצמיחה של החברה. ולכן הכנסה לשווקים חדשים או תחומים נוספים עשויה להיות אתגר, במיוחד לאור המתחרים הבינלאומיים.</a:t>
            </a: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14</a:t>
            </a:fld>
            <a:endParaRPr lang="he-IL"/>
          </a:p>
        </p:txBody>
      </p:sp>
    </p:spTree>
    <p:extLst>
      <p:ext uri="{BB962C8B-B14F-4D97-AF65-F5344CB8AC3E}">
        <p14:creationId xmlns:p14="http://schemas.microsoft.com/office/powerpoint/2010/main" val="2214317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br>
              <a:rPr lang="en-US" dirty="0"/>
            </a:b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בידול משמעותי</a:t>
            </a:r>
            <a:r>
              <a:rPr lang="he-IL" sz="1800" dirty="0">
                <a:effectLst/>
                <a:latin typeface="Aptos" panose="020B0004020202020204" pitchFamily="34" charset="0"/>
                <a:ea typeface="Aptos" panose="020B0004020202020204" pitchFamily="34" charset="0"/>
                <a:cs typeface="Arial" panose="020B0604020202020204" pitchFamily="34" charset="0"/>
              </a:rPr>
              <a:t>: האסטרטגיה תורמת ליצירת בידול חזק מהמתחרים, מה שמאפשר לחברה להציע שירותים ייחודיים ואיכותיים. בידול זה מסייע בהשגת מוניטין חיובי ובניית תדמית מותג חזקה.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השקעה מתמשכת בחדשנות</a:t>
            </a:r>
            <a:r>
              <a:rPr lang="he-IL" sz="1800" dirty="0">
                <a:effectLst/>
                <a:latin typeface="Aptos" panose="020B0004020202020204" pitchFamily="34" charset="0"/>
                <a:ea typeface="Aptos" panose="020B0004020202020204" pitchFamily="34" charset="0"/>
                <a:cs typeface="Arial" panose="020B0604020202020204" pitchFamily="34" charset="0"/>
              </a:rPr>
              <a:t>: כדי לשמור על יתרון תחרותי, החברה נדרשת להמשיך להשקיע בחדשנות ובפיתוח טכנולוגי. השקעות אלו עשויות להיות גבוהות, אך הן חיוניות לשמירה על רלוונטיות בשוק.</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איכות שירות</a:t>
            </a:r>
            <a:r>
              <a:rPr lang="he-IL" sz="1800" dirty="0">
                <a:effectLst/>
                <a:latin typeface="Aptos" panose="020B0004020202020204" pitchFamily="34" charset="0"/>
                <a:ea typeface="Aptos" panose="020B0004020202020204" pitchFamily="34" charset="0"/>
                <a:cs typeface="Arial" panose="020B0604020202020204" pitchFamily="34" charset="0"/>
              </a:rPr>
              <a:t>: על מנת להצליח באסטרטגיה זו, החברה חייבת לשמור על רמה גבוהה של איכות ושירות. השקעה בהכשרות מקצועיות ובמערכות טכנולוגיות מתקדמות היא קריטית כדי להבטיח שהתוצרים יהיו באיכות הגבוהה ביותר.</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התמודדות עם עלויות גבוהות</a:t>
            </a:r>
            <a:r>
              <a:rPr lang="he-IL" sz="1800" dirty="0">
                <a:effectLst/>
                <a:latin typeface="Aptos" panose="020B0004020202020204" pitchFamily="34" charset="0"/>
                <a:ea typeface="Aptos" panose="020B0004020202020204" pitchFamily="34" charset="0"/>
                <a:cs typeface="Arial" panose="020B0604020202020204" pitchFamily="34" charset="0"/>
              </a:rPr>
              <a:t>: עלויות ההשקעה בחדשנות ובשירותים איכותיים עשויות להשפיע על הרווחיות. החברה צריכה לנהל את עלויותיה בזהירות כדי להימנע מבעיות כלכליות בעתיד.</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5. </a:t>
            </a:r>
            <a:r>
              <a:rPr lang="he-IL" sz="1800" b="1" dirty="0">
                <a:effectLst/>
                <a:latin typeface="Aptos" panose="020B0004020202020204" pitchFamily="34" charset="0"/>
                <a:ea typeface="Aptos" panose="020B0004020202020204" pitchFamily="34" charset="0"/>
                <a:cs typeface="Arial" panose="020B0604020202020204" pitchFamily="34" charset="0"/>
              </a:rPr>
              <a:t>סיכון חיקוי תחרותי</a:t>
            </a:r>
            <a:r>
              <a:rPr lang="he-IL" sz="1800" dirty="0">
                <a:effectLst/>
                <a:latin typeface="Aptos" panose="020B0004020202020204" pitchFamily="34" charset="0"/>
                <a:ea typeface="Aptos" panose="020B0004020202020204" pitchFamily="34" charset="0"/>
                <a:cs typeface="Arial" panose="020B0604020202020204" pitchFamily="34" charset="0"/>
              </a:rPr>
              <a:t>: היתרונות של ההבדלה עלולים להיות מועתקים על ידי מתחרים, מה שמחייב את החברה להמשיך לחדש ולהתעדכן כדי לשמור על יתרון תחרותי.</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6. </a:t>
            </a:r>
            <a:r>
              <a:rPr lang="he-IL" sz="1800" b="1" dirty="0">
                <a:effectLst/>
                <a:latin typeface="Aptos" panose="020B0004020202020204" pitchFamily="34" charset="0"/>
                <a:ea typeface="Aptos" panose="020B0004020202020204" pitchFamily="34" charset="0"/>
                <a:cs typeface="Arial" panose="020B0604020202020204" pitchFamily="34" charset="0"/>
              </a:rPr>
              <a:t>הגבלת מיקוד תחום הפעילות</a:t>
            </a:r>
            <a:r>
              <a:rPr lang="he-IL" sz="1800" dirty="0">
                <a:effectLst/>
                <a:latin typeface="Aptos" panose="020B0004020202020204" pitchFamily="34" charset="0"/>
                <a:ea typeface="Aptos" panose="020B0004020202020204" pitchFamily="34" charset="0"/>
                <a:cs typeface="Arial" panose="020B0604020202020204" pitchFamily="34" charset="0"/>
              </a:rPr>
              <a:t>: התמקדות בתחומים מסוימים עשויה להוביל להגבלת פוטנציאל הצמיחה. החברה חייבת לבחון אפשרויות להתרחבות לשווקים חדשים ותחומים נוספים כדי למזער את הסיכונים הקשורים למיקוד יתר.</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7. </a:t>
            </a:r>
            <a:r>
              <a:rPr lang="he-IL" sz="1800" b="1" dirty="0">
                <a:effectLst/>
                <a:latin typeface="Aptos" panose="020B0004020202020204" pitchFamily="34" charset="0"/>
                <a:ea typeface="Aptos" panose="020B0004020202020204" pitchFamily="34" charset="0"/>
                <a:cs typeface="Arial" panose="020B0604020202020204" pitchFamily="34" charset="0"/>
              </a:rPr>
              <a:t>חשיבות לתגובה מהירה לשוק</a:t>
            </a:r>
            <a:r>
              <a:rPr lang="he-IL" sz="1800" dirty="0">
                <a:effectLst/>
                <a:latin typeface="Aptos" panose="020B0004020202020204" pitchFamily="34" charset="0"/>
                <a:ea typeface="Aptos" panose="020B0004020202020204" pitchFamily="34" charset="0"/>
                <a:cs typeface="Arial" panose="020B0604020202020204" pitchFamily="34" charset="0"/>
              </a:rPr>
              <a:t>: הצלחה באסטרטגיה זו תלויה ביכולת החברה להגיב במהירות לצרכים המשתנים של השוק. על החברה להקשיב לקולות הלקוחות ולנתונים בשוק כדי להתאים את השירותים שהיא מציעה.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8. </a:t>
            </a:r>
            <a:r>
              <a:rPr lang="he-IL" sz="1800" b="1" dirty="0">
                <a:effectLst/>
                <a:latin typeface="Aptos" panose="020B0004020202020204" pitchFamily="34" charset="0"/>
                <a:ea typeface="Aptos" panose="020B0004020202020204" pitchFamily="34" charset="0"/>
                <a:cs typeface="Arial" panose="020B0604020202020204" pitchFamily="34" charset="0"/>
              </a:rPr>
              <a:t>יכולת הרחבה עתידית</a:t>
            </a:r>
            <a:r>
              <a:rPr lang="he-IL" sz="1800" dirty="0">
                <a:effectLst/>
                <a:latin typeface="Aptos" panose="020B0004020202020204" pitchFamily="34" charset="0"/>
                <a:ea typeface="Aptos" panose="020B0004020202020204" pitchFamily="34" charset="0"/>
                <a:cs typeface="Arial" panose="020B0604020202020204" pitchFamily="34" charset="0"/>
              </a:rPr>
              <a:t>: אם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תצליח למקסם את יתרונות הבידול, היא תוכל לשקול הרחבה לשווקים חדשים, מה שיכול לפתוח דלתות לצמיחה נוספת ולהכנסות חדשות.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באופן כללי, האסטרטגיה הגנרית של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מצריכה ניהול זהיר וממוקד, אך אם תתבצע בהצלחה, היא יכולה להניב תוצאות חיוביות בטווח הארוך. </a:t>
            </a:r>
            <a:br>
              <a:rPr lang="en-US" dirty="0"/>
            </a:br>
            <a:br>
              <a:rPr lang="en-US" dirty="0"/>
            </a:br>
            <a:br>
              <a:rPr lang="en-US" dirty="0"/>
            </a:br>
            <a:r>
              <a:rPr lang="he-IL" dirty="0"/>
              <a:t>החברה מיישמת אסטרטגיית הבדלה ושוק רחב, המאפשרת לה לייצר בידול משמעותי ולהשיג יתרון תחרותי בשוק. אסטרטגיה זו תורמת לבניית תדמית מותג חזקה ומחייבת השקעה מתמשכת בחדשנות ובפיתוח טכנולוגי. כדי לשמור על יתרון תחרותי, החברה נדרשת להמשיך להשקיע בחדשנות, דבר שעשוי להוביל לעלויות גבוהות, אך חיוני לשמירה על רלוונטיות בשוק. הצלחה באסטרטגיה זו תלויה בשמירה על רמה גבוהה של איכות ושירות, כשחברת </a:t>
            </a:r>
            <a:r>
              <a:rPr lang="he-IL" dirty="0" err="1"/>
              <a:t>עדליא</a:t>
            </a:r>
            <a:r>
              <a:rPr lang="he-IL" dirty="0"/>
              <a:t> משקיעה בהכשרות מקצועיות ובמערכות טכנולוגיות מתקדמות, מה שמבטיח שהתוצרים יהיו באיכות הגבוהה ביותר. עם זאת, ישנם אתגרים כמו חיקוי תחרותי, שעלולים להקטין את היתרון התחרותי של החברה. בנוסף, התמקדות בתחומים מסוימים עשויה להגביל את פוטנציאל הצמיחה, ולכן החברה חייבת לבחון אפשרויות להתרחבות לשווקים חדשים ותחומים נוספים. הצלחה באסטרטגיה זו תלויה גם ביכולת החברה להגיב במהירות לצרכים המשתנים של השוק ולהקשיב לקולות הלקוחות. אם </a:t>
            </a:r>
            <a:r>
              <a:rPr lang="he-IL" dirty="0" err="1"/>
              <a:t>עדליא</a:t>
            </a:r>
            <a:r>
              <a:rPr lang="he-IL" dirty="0"/>
              <a:t> תצליח למקסם את יתרונות הבידול, היא תוכל לשקול הרחבה לשווקים חדשים, מה שיכול לפתוח דלתות לצמיחה נוספת ולהכנסות חדשות.</a:t>
            </a: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15</a:t>
            </a:fld>
            <a:endParaRPr lang="he-IL"/>
          </a:p>
        </p:txBody>
      </p:sp>
    </p:spTree>
    <p:extLst>
      <p:ext uri="{BB962C8B-B14F-4D97-AF65-F5344CB8AC3E}">
        <p14:creationId xmlns:p14="http://schemas.microsoft.com/office/powerpoint/2010/main" val="2938991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16</a:t>
            </a:fld>
            <a:endParaRPr lang="he-IL"/>
          </a:p>
        </p:txBody>
      </p:sp>
    </p:spTree>
    <p:extLst>
      <p:ext uri="{BB962C8B-B14F-4D97-AF65-F5344CB8AC3E}">
        <p14:creationId xmlns:p14="http://schemas.microsoft.com/office/powerpoint/2010/main" val="4023462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17</a:t>
            </a:fld>
            <a:endParaRPr lang="he-IL"/>
          </a:p>
        </p:txBody>
      </p:sp>
    </p:spTree>
    <p:extLst>
      <p:ext uri="{BB962C8B-B14F-4D97-AF65-F5344CB8AC3E}">
        <p14:creationId xmlns:p14="http://schemas.microsoft.com/office/powerpoint/2010/main" val="3707804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27448-8B77-7617-45C6-3C164ED807B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BD7B636-D885-F57F-6810-194E1A9D868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39FD0F3-846D-64B4-EFAD-366BF19D52B6}"/>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8BCA8420-F936-B15D-8BC7-FA0988EAD81A}"/>
              </a:ext>
            </a:extLst>
          </p:cNvPr>
          <p:cNvSpPr>
            <a:spLocks noGrp="1"/>
          </p:cNvSpPr>
          <p:nvPr>
            <p:ph type="sldNum" sz="quarter" idx="5"/>
          </p:nvPr>
        </p:nvSpPr>
        <p:spPr/>
        <p:txBody>
          <a:bodyPr/>
          <a:lstStyle/>
          <a:p>
            <a:fld id="{F43703A1-5F4E-41E1-9E35-228D1150B16D}" type="slidenum">
              <a:rPr lang="he-IL" smtClean="0"/>
              <a:t>18</a:t>
            </a:fld>
            <a:endParaRPr lang="he-IL"/>
          </a:p>
        </p:txBody>
      </p:sp>
    </p:spTree>
    <p:extLst>
      <p:ext uri="{BB962C8B-B14F-4D97-AF65-F5344CB8AC3E}">
        <p14:creationId xmlns:p14="http://schemas.microsoft.com/office/powerpoint/2010/main" val="1635580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E1090-EFE3-A52E-2AA4-4548461C8EB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8F75730-01A9-54DB-E999-FC77CE11234A}"/>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1DA80D3-92D0-8A36-1191-00CAED008836}"/>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A4E35433-0758-2928-896B-412EFACF668F}"/>
              </a:ext>
            </a:extLst>
          </p:cNvPr>
          <p:cNvSpPr>
            <a:spLocks noGrp="1"/>
          </p:cNvSpPr>
          <p:nvPr>
            <p:ph type="sldNum" sz="quarter" idx="5"/>
          </p:nvPr>
        </p:nvSpPr>
        <p:spPr/>
        <p:txBody>
          <a:bodyPr/>
          <a:lstStyle/>
          <a:p>
            <a:fld id="{F43703A1-5F4E-41E1-9E35-228D1150B16D}" type="slidenum">
              <a:rPr lang="he-IL" smtClean="0"/>
              <a:t>19</a:t>
            </a:fld>
            <a:endParaRPr lang="he-IL"/>
          </a:p>
        </p:txBody>
      </p:sp>
    </p:spTree>
    <p:extLst>
      <p:ext uri="{BB962C8B-B14F-4D97-AF65-F5344CB8AC3E}">
        <p14:creationId xmlns:p14="http://schemas.microsoft.com/office/powerpoint/2010/main" val="127754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u="sng" dirty="0">
                <a:effectLst/>
                <a:latin typeface="Aptos" panose="020B0004020202020204" pitchFamily="34" charset="0"/>
                <a:ea typeface="Aptos" panose="020B0004020202020204" pitchFamily="34" charset="0"/>
                <a:cs typeface="Arial" panose="020B0604020202020204" pitchFamily="34" charset="0"/>
              </a:rPr>
              <a:t>דברים דומים</a:t>
            </a:r>
            <a:r>
              <a:rPr lang="he-IL" sz="1800" dirty="0">
                <a:effectLst/>
                <a:latin typeface="Aptos" panose="020B0004020202020204" pitchFamily="34" charset="0"/>
                <a:ea typeface="Aptos" panose="020B0004020202020204" pitchFamily="34" charset="0"/>
                <a:cs typeface="Arial" panose="020B0604020202020204" pitchFamily="34" charset="0"/>
              </a:rPr>
              <a:t>:</a:t>
            </a:r>
            <a:br>
              <a:rPr lang="en-US" sz="1800" dirty="0">
                <a:effectLst/>
                <a:latin typeface="Aptos" panose="020B0004020202020204" pitchFamily="34" charset="0"/>
                <a:ea typeface="Aptos" panose="020B0004020202020204" pitchFamily="34" charset="0"/>
                <a:cs typeface="Arial" panose="020B0604020202020204" pitchFamily="34" charset="0"/>
              </a:rPr>
            </a:br>
            <a:br>
              <a:rPr lang="en-US" sz="1800" dirty="0">
                <a:effectLst/>
                <a:latin typeface="Aptos" panose="020B0004020202020204" pitchFamily="34" charset="0"/>
                <a:ea typeface="Aptos" panose="020B0004020202020204" pitchFamily="34" charset="0"/>
                <a:cs typeface="Arial" panose="020B0604020202020204" pitchFamily="34" charset="0"/>
              </a:rPr>
            </a:b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פיתוח טכנולוגי כמנוע צמיחה</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השקיעה כ-4 מיליארד דולר בהקמה ופיתוח של מערכת המידע המתקדמת שלה, מהלך שסייע לה ליצור יתרון תחרותי משמעותי מול מתחרותיה. גם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מיישמת גישה דומה, עם השקעות משמעותיות בפיתוח מערכות מידע מתקדמות, שמספקות לה יתרון תחרותי בשוק המקומי.</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הנהלה מרכזית ורזה</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למרות גודלה העצום,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מקיימת מבנה ארגוני רזה, כשמשרדי ההנהלה מרוכזים במקום אחד. </a:t>
            </a:r>
            <a:r>
              <a:rPr lang="he-IL" sz="1800" dirty="0" err="1">
                <a:effectLst/>
                <a:latin typeface="Aptos" panose="020B0004020202020204" pitchFamily="34" charset="0"/>
                <a:ea typeface="Aptos" panose="020B0004020202020204" pitchFamily="34" charset="0"/>
                <a:cs typeface="Arial" panose="020B0604020202020204" pitchFamily="34" charset="0"/>
              </a:rPr>
              <a:t>בעדליא</a:t>
            </a:r>
            <a:r>
              <a:rPr lang="he-IL" sz="1800" dirty="0">
                <a:effectLst/>
                <a:latin typeface="Aptos" panose="020B0004020202020204" pitchFamily="34" charset="0"/>
                <a:ea typeface="Aptos" panose="020B0004020202020204" pitchFamily="34" charset="0"/>
                <a:cs typeface="Arial" panose="020B0604020202020204" pitchFamily="34" charset="0"/>
              </a:rPr>
              <a:t>, ניתן לראות דמיון בכך שמשרדי ההנהלה ממוקמים כולם במתחם אחד בתל אביב, מה שמקל על קבלת החלטות ושמירה על ארגון יעיל ודינמי.</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פיתוח דור מנהלים מתוך החברה</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אחד ממאפייניה הבולטים של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הוא ההנהלה שצמחה מתוך שורות החברה. גם </a:t>
            </a:r>
            <a:r>
              <a:rPr lang="he-IL" sz="1800" dirty="0" err="1">
                <a:effectLst/>
                <a:latin typeface="Aptos" panose="020B0004020202020204" pitchFamily="34" charset="0"/>
                <a:ea typeface="Aptos" panose="020B0004020202020204" pitchFamily="34" charset="0"/>
                <a:cs typeface="Arial" panose="020B0604020202020204" pitchFamily="34" charset="0"/>
              </a:rPr>
              <a:t>בעדליא</a:t>
            </a:r>
            <a:r>
              <a:rPr lang="he-IL" sz="1800" dirty="0">
                <a:effectLst/>
                <a:latin typeface="Aptos" panose="020B0004020202020204" pitchFamily="34" charset="0"/>
                <a:ea typeface="Aptos" panose="020B0004020202020204" pitchFamily="34" charset="0"/>
                <a:cs typeface="Arial" panose="020B0604020202020204" pitchFamily="34" charset="0"/>
              </a:rPr>
              <a:t> דוגלים באסטרטגיה זו, כאשר החברה מקדמת את עובדיה לעמדות ניהוליות, מה שיוצר תחושת מחויבות חזקה מצד העובדים כלפי החברה והלקוחות.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מדיניות "דלת פתוחה":</a:t>
            </a:r>
            <a:endParaRPr lang="en-US" sz="1800" b="1"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מיישמת מדיניות "דלת פתוחה" שמאפשרת לכל עובד גישה ישירה להנהלה ולמנכ"ל, במטרה לטפח תחושת שייכות ואמון בארגון. גם </a:t>
            </a:r>
            <a:r>
              <a:rPr lang="he-IL" sz="1800" dirty="0" err="1">
                <a:effectLst/>
                <a:latin typeface="Aptos" panose="020B0004020202020204" pitchFamily="34" charset="0"/>
                <a:ea typeface="Aptos" panose="020B0004020202020204" pitchFamily="34" charset="0"/>
                <a:cs typeface="Arial" panose="020B0604020202020204" pitchFamily="34" charset="0"/>
              </a:rPr>
              <a:t>בעדליא</a:t>
            </a:r>
            <a:r>
              <a:rPr lang="he-IL" sz="1800" dirty="0">
                <a:effectLst/>
                <a:latin typeface="Aptos" panose="020B0004020202020204" pitchFamily="34" charset="0"/>
                <a:ea typeface="Aptos" panose="020B0004020202020204" pitchFamily="34" charset="0"/>
                <a:cs typeface="Arial" panose="020B0604020202020204" pitchFamily="34" charset="0"/>
              </a:rPr>
              <a:t> יש מדיניות דומה, כאשר כל עובד יכול לגשת למנכ"ל ולהעלות נושאים חשובים.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5. </a:t>
            </a:r>
            <a:r>
              <a:rPr lang="he-IL" sz="1800" b="1" dirty="0">
                <a:effectLst/>
                <a:latin typeface="Aptos" panose="020B0004020202020204" pitchFamily="34" charset="0"/>
                <a:ea typeface="Aptos" panose="020B0004020202020204" pitchFamily="34" charset="0"/>
                <a:cs typeface="Arial" panose="020B0604020202020204" pitchFamily="34" charset="0"/>
              </a:rPr>
              <a:t>תרבות ארגונית חזקה</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הן </a:t>
            </a:r>
            <a:r>
              <a:rPr lang="he-IL" sz="1800" dirty="0" err="1">
                <a:effectLst/>
                <a:latin typeface="Aptos" panose="020B0004020202020204" pitchFamily="34" charset="0"/>
                <a:ea typeface="Aptos" panose="020B0004020202020204" pitchFamily="34" charset="0"/>
                <a:cs typeface="Arial" panose="020B0604020202020204" pitchFamily="34" charset="0"/>
              </a:rPr>
              <a:t>בוולמארט</a:t>
            </a:r>
            <a:r>
              <a:rPr lang="he-IL" sz="1800" dirty="0">
                <a:effectLst/>
                <a:latin typeface="Aptos" panose="020B0004020202020204" pitchFamily="34" charset="0"/>
                <a:ea typeface="Aptos" panose="020B0004020202020204" pitchFamily="34" charset="0"/>
                <a:cs typeface="Arial" panose="020B0604020202020204" pitchFamily="34" charset="0"/>
              </a:rPr>
              <a:t> והן </a:t>
            </a:r>
            <a:r>
              <a:rPr lang="he-IL" sz="1800" dirty="0" err="1">
                <a:effectLst/>
                <a:latin typeface="Aptos" panose="020B0004020202020204" pitchFamily="34" charset="0"/>
                <a:ea typeface="Aptos" panose="020B0004020202020204" pitchFamily="34" charset="0"/>
                <a:cs typeface="Arial" panose="020B0604020202020204" pitchFamily="34" charset="0"/>
              </a:rPr>
              <a:t>בעדליא</a:t>
            </a:r>
            <a:r>
              <a:rPr lang="he-IL" sz="1800" dirty="0">
                <a:effectLst/>
                <a:latin typeface="Aptos" panose="020B0004020202020204" pitchFamily="34" charset="0"/>
                <a:ea typeface="Aptos" panose="020B0004020202020204" pitchFamily="34" charset="0"/>
                <a:cs typeface="Arial" panose="020B0604020202020204" pitchFamily="34" charset="0"/>
              </a:rPr>
              <a:t> ניתן לראות תרבות ארגונית שמדגישה גאווה בארגון, תחושת משפחתיות, וטיפוח המשאב האנושי. זהו אחד הנדבכים המרכזיים לשמירה על מוטיבציה גבוהה בקרב העובדים.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6. </a:t>
            </a:r>
            <a:r>
              <a:rPr lang="he-IL" sz="1800" b="1" dirty="0">
                <a:effectLst/>
                <a:latin typeface="Aptos" panose="020B0004020202020204" pitchFamily="34" charset="0"/>
                <a:ea typeface="Aptos" panose="020B0004020202020204" pitchFamily="34" charset="0"/>
                <a:cs typeface="Arial" panose="020B0604020202020204" pitchFamily="34" charset="0"/>
              </a:rPr>
              <a:t>התאמת מוצרים לצרכי הלקוח</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משקיעה רבות בהתאמת המוצרים ללקוחותיה, במיוחד באמצעות פיתוחים טכנולוגיים מתקדמים. גם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מיישמת גישה זו, כשהיא שמה דגש על התאמת פתרונות ושירותים לצרכים הייחודיים של הלקוחות שלה.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u="sng" dirty="0">
                <a:effectLst/>
                <a:latin typeface="Aptos" panose="020B0004020202020204" pitchFamily="34" charset="0"/>
                <a:ea typeface="Aptos" panose="020B0004020202020204" pitchFamily="34" charset="0"/>
                <a:cs typeface="Arial" panose="020B0604020202020204" pitchFamily="34" charset="0"/>
              </a:rPr>
              <a:t>לקחים </a:t>
            </a:r>
            <a:r>
              <a:rPr lang="he-IL" sz="1800" u="sng" dirty="0" err="1">
                <a:effectLst/>
                <a:latin typeface="Aptos" panose="020B0004020202020204" pitchFamily="34" charset="0"/>
                <a:ea typeface="Aptos" panose="020B0004020202020204" pitchFamily="34" charset="0"/>
                <a:cs typeface="Arial" panose="020B0604020202020204" pitchFamily="34" charset="0"/>
              </a:rPr>
              <a:t>מוולמארט</a:t>
            </a:r>
            <a:r>
              <a:rPr lang="he-IL" sz="1800" u="sng" dirty="0">
                <a:effectLst/>
                <a:latin typeface="Aptos" panose="020B0004020202020204" pitchFamily="34" charset="0"/>
                <a:ea typeface="Aptos" panose="020B0004020202020204" pitchFamily="34" charset="0"/>
                <a:cs typeface="Arial" panose="020B0604020202020204" pitchFamily="34" charset="0"/>
              </a:rPr>
              <a:t>:</a:t>
            </a:r>
            <a:endParaRPr lang="en-US" sz="1800" u="sng"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תמריצים מבוססי ביצועים</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dirty="0" err="1">
                <a:effectLst/>
                <a:latin typeface="Aptos" panose="020B0004020202020204" pitchFamily="34" charset="0"/>
                <a:ea typeface="Aptos" panose="020B0004020202020204" pitchFamily="34" charset="0"/>
                <a:cs typeface="Arial" panose="020B0604020202020204" pitchFamily="34" charset="0"/>
              </a:rPr>
              <a:t>בוולמארט</a:t>
            </a:r>
            <a:r>
              <a:rPr lang="he-IL" sz="1800" dirty="0">
                <a:effectLst/>
                <a:latin typeface="Aptos" panose="020B0004020202020204" pitchFamily="34" charset="0"/>
                <a:ea typeface="Aptos" panose="020B0004020202020204" pitchFamily="34" charset="0"/>
                <a:cs typeface="Arial" panose="020B0604020202020204" pitchFamily="34" charset="0"/>
              </a:rPr>
              <a:t> ניתנים תמריצים כגון העלאות שכר, אופציות, ובונוסים על בסיס ביצועים, מהלך שמדרבן את העובדים למצוינות. גם </a:t>
            </a:r>
            <a:r>
              <a:rPr lang="he-IL" sz="1800" dirty="0" err="1">
                <a:effectLst/>
                <a:latin typeface="Aptos" panose="020B0004020202020204" pitchFamily="34" charset="0"/>
                <a:ea typeface="Aptos" panose="020B0004020202020204" pitchFamily="34" charset="0"/>
                <a:cs typeface="Arial" panose="020B0604020202020204" pitchFamily="34" charset="0"/>
              </a:rPr>
              <a:t>בעדליא</a:t>
            </a:r>
            <a:r>
              <a:rPr lang="he-IL" sz="1800" dirty="0">
                <a:effectLst/>
                <a:latin typeface="Aptos" panose="020B0004020202020204" pitchFamily="34" charset="0"/>
                <a:ea typeface="Aptos" panose="020B0004020202020204" pitchFamily="34" charset="0"/>
                <a:cs typeface="Arial" panose="020B0604020202020204" pitchFamily="34" charset="0"/>
              </a:rPr>
              <a:t> ניתן לאמץ אסטרטגיה זו כדי לתמרץ את העובדים לשיפור מתמיד.</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מגוון רחב של מוצרים</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אחד מהיתרונות הבולטים של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הוא היכולת לספק מגוון עצום של מוצרים לכל סוגי הלקוחות. </a:t>
            </a:r>
            <a:r>
              <a:rPr lang="he-IL" sz="1800" dirty="0" err="1">
                <a:effectLst/>
                <a:latin typeface="Aptos" panose="020B0004020202020204" pitchFamily="34" charset="0"/>
                <a:ea typeface="Aptos" panose="020B0004020202020204" pitchFamily="34" charset="0"/>
                <a:cs typeface="Arial" panose="020B0604020202020204" pitchFamily="34" charset="0"/>
              </a:rPr>
              <a:t>בעדליא</a:t>
            </a:r>
            <a:r>
              <a:rPr lang="he-IL" sz="1800" dirty="0">
                <a:effectLst/>
                <a:latin typeface="Aptos" panose="020B0004020202020204" pitchFamily="34" charset="0"/>
                <a:ea typeface="Aptos" panose="020B0004020202020204" pitchFamily="34" charset="0"/>
                <a:cs typeface="Arial" panose="020B0604020202020204" pitchFamily="34" charset="0"/>
              </a:rPr>
              <a:t> ניתן לקחת השראה מכך ולחשוב על הרחבת היצע המוצרים או השירותים שהיא מציעה.</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פריסה רחבה של סניפים</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הצליחה לחדור גם לשווקים קטנים על ידי פתיחת סניפים מחוץ לערים הגדולות. זהו לקח חשוב גם עבור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אם היא מעוניינת להתרחב גיאוגרפית ולחדור לשווקים חדשים.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שיווק ממוקד לקוח</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indent="-1270" algn="r" rtl="1">
              <a:lnSpc>
                <a:spcPct val="150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r>
              <a:rPr lang="he-IL" sz="1800" dirty="0" err="1">
                <a:effectLst/>
                <a:latin typeface="Aptos" panose="020B0004020202020204" pitchFamily="34" charset="0"/>
                <a:ea typeface="Aptos" panose="020B0004020202020204" pitchFamily="34" charset="0"/>
                <a:cs typeface="Arial" panose="020B0604020202020204" pitchFamily="34" charset="0"/>
              </a:rPr>
              <a:t>וולמארט</a:t>
            </a:r>
            <a:r>
              <a:rPr lang="he-IL" sz="1800" dirty="0">
                <a:effectLst/>
                <a:latin typeface="Aptos" panose="020B0004020202020204" pitchFamily="34" charset="0"/>
                <a:ea typeface="Aptos" panose="020B0004020202020204" pitchFamily="34" charset="0"/>
                <a:cs typeface="Arial" panose="020B0604020202020204" pitchFamily="34" charset="0"/>
              </a:rPr>
              <a:t> משתמשת במגוון רחב של ערוצי פרסום, החל מפליירים ועד לפרסום ברדיו. אפשר ללמוד מכך איך לבצע פרסום אפקטיבי ונגיש גם בקנה מידה מקומי.</a:t>
            </a: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20</a:t>
            </a:fld>
            <a:endParaRPr lang="he-IL"/>
          </a:p>
        </p:txBody>
      </p:sp>
    </p:spTree>
    <p:extLst>
      <p:ext uri="{BB962C8B-B14F-4D97-AF65-F5344CB8AC3E}">
        <p14:creationId xmlns:p14="http://schemas.microsoft.com/office/powerpoint/2010/main" val="2499791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lnSpc>
                <a:spcPct val="107000"/>
              </a:lnSpc>
              <a:spcAft>
                <a:spcPts val="800"/>
              </a:spcAft>
            </a:pPr>
            <a:r>
              <a:rPr lang="he-IL" sz="1800" u="sng" dirty="0">
                <a:effectLst/>
                <a:latin typeface="Aptos" panose="020B0004020202020204" pitchFamily="34" charset="0"/>
                <a:ea typeface="Aptos" panose="020B0004020202020204" pitchFamily="34" charset="0"/>
                <a:cs typeface="Arial" panose="020B0604020202020204" pitchFamily="34" charset="0"/>
              </a:rPr>
              <a:t>דמיון:</a:t>
            </a:r>
            <a:endParaRPr lang="en-US" sz="1800" u="sng"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מהירות תגובה: </a:t>
            </a:r>
            <a:r>
              <a:rPr lang="he-IL" sz="1800" dirty="0">
                <a:effectLst/>
                <a:latin typeface="Aptos" panose="020B0004020202020204" pitchFamily="34" charset="0"/>
                <a:ea typeface="Aptos" panose="020B0004020202020204" pitchFamily="34" charset="0"/>
                <a:cs typeface="Arial" panose="020B0604020202020204" pitchFamily="34" charset="0"/>
              </a:rPr>
              <a:t>זארה מתמקדת ביכולת שלה להגיב במהירות לשינויים וטרנדים בשוק האופנה, ומציעה מוצרים עדכניים וטרנדיים.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המתמחה בייעוץ כלכלי וניהול תהליכים, גם כן שמה דגש על יכולת תגובה מהירה לצרכים משתנים של לקוחותיה, במיוחד בתחום רפורמות ממשלתיות ומודלים כלכליים מורכבים. ולשינויים רגולטורים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מיקום:</a:t>
            </a:r>
            <a:r>
              <a:rPr lang="he-IL" sz="1800" dirty="0">
                <a:effectLst/>
                <a:latin typeface="Aptos" panose="020B0004020202020204" pitchFamily="34" charset="0"/>
                <a:ea typeface="Aptos" panose="020B0004020202020204" pitchFamily="34" charset="0"/>
                <a:cs typeface="Arial" panose="020B0604020202020204" pitchFamily="34" charset="0"/>
              </a:rPr>
              <a:t> זארה בוחרת מיקומים אסטרטגיים לחנויותיה בערים מרכזיות ולאחר מכן מתפשטת לערים קטנות יותר, מה שמוביל לשכירות גבוהה יותר. באופן דומה,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ממוקמת בתל אביב, מה שמצביע על אסטרטגיה של מיקום אסטרטגי כדי לשרת את לקוחותיה מהמגזר הציבורי והפרטי בצורה אופטימלית.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תפעול:</a:t>
            </a:r>
            <a:r>
              <a:rPr lang="he-IL" sz="1800" dirty="0">
                <a:effectLst/>
                <a:latin typeface="Aptos" panose="020B0004020202020204" pitchFamily="34" charset="0"/>
                <a:ea typeface="Aptos" panose="020B0004020202020204" pitchFamily="34" charset="0"/>
                <a:cs typeface="Arial" panose="020B0604020202020204" pitchFamily="34" charset="0"/>
              </a:rPr>
              <a:t> זארה שואפת להימנע מפרסום אגרסיבי ומורידה מחירים בצורה מוגבלת. גם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נוקטת בגישה דומה, מתמקדת במתן שירותי ייעוץ כלכליים איכותיים מבלי להיענות להנחות אגרסיביות.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4. </a:t>
            </a:r>
            <a:r>
              <a:rPr lang="he-IL" sz="1800" b="1" dirty="0">
                <a:effectLst/>
                <a:latin typeface="Aptos" panose="020B0004020202020204" pitchFamily="34" charset="0"/>
                <a:ea typeface="Aptos" panose="020B0004020202020204" pitchFamily="34" charset="0"/>
                <a:cs typeface="Arial" panose="020B0604020202020204" pitchFamily="34" charset="0"/>
              </a:rPr>
              <a:t>הכשרת עובדים:</a:t>
            </a:r>
            <a:r>
              <a:rPr lang="he-IL" sz="1800" dirty="0">
                <a:effectLst/>
                <a:latin typeface="Aptos" panose="020B0004020202020204" pitchFamily="34" charset="0"/>
                <a:ea typeface="Aptos" panose="020B0004020202020204" pitchFamily="34" charset="0"/>
                <a:cs typeface="Arial" panose="020B0604020202020204" pitchFamily="34" charset="0"/>
              </a:rPr>
              <a:t> זארה משקיעה בהון האנושי שלה, ומבצעת הכשרה מקיפה לעובדים.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גם משקיעה רבות בהכשרה מקצועית של צוות העובדים שלה, כדי להבטיח את איכות הייעוץ והשירותים הכלכליים המורכבים שהיא מספקת.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5. </a:t>
            </a:r>
            <a:r>
              <a:rPr lang="he-IL" sz="1800" b="1" dirty="0">
                <a:effectLst/>
                <a:latin typeface="Aptos" panose="020B0004020202020204" pitchFamily="34" charset="0"/>
                <a:ea typeface="Aptos" panose="020B0004020202020204" pitchFamily="34" charset="0"/>
                <a:cs typeface="Arial" panose="020B0604020202020204" pitchFamily="34" charset="0"/>
              </a:rPr>
              <a:t>הבעת דעה אישית: </a:t>
            </a:r>
            <a:r>
              <a:rPr lang="he-IL" sz="1800" dirty="0">
                <a:effectLst/>
                <a:latin typeface="Aptos" panose="020B0004020202020204" pitchFamily="34" charset="0"/>
                <a:ea typeface="Aptos" panose="020B0004020202020204" pitchFamily="34" charset="0"/>
                <a:cs typeface="Arial" panose="020B0604020202020204" pitchFamily="34" charset="0"/>
              </a:rPr>
              <a:t>מנהלי החנויות בזארה מבססים את ההמלצות שלהם על התרשמותם מהלקוחות ומתאימים את ההיצע לצרכים האישיים של הקונים. באופן דומה, 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 מספקת ייעוץ מותאם אישית ופתרונות המגיבים לצרכים הייחודיים של לקוחותיה, תוך שימת דגש על היבטים פיננסיים ואסטרטגיים.</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u="sng" dirty="0">
                <a:effectLst/>
                <a:latin typeface="Aptos" panose="020B0004020202020204" pitchFamily="34" charset="0"/>
                <a:ea typeface="Aptos" panose="020B0004020202020204" pitchFamily="34" charset="0"/>
                <a:cs typeface="Arial" panose="020B0604020202020204" pitchFamily="34" charset="0"/>
              </a:rPr>
              <a:t>לקחים:</a:t>
            </a:r>
            <a:endParaRPr lang="en-US" sz="1800" u="sng"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1. </a:t>
            </a:r>
            <a:r>
              <a:rPr lang="he-IL" sz="1800" b="1" dirty="0">
                <a:effectLst/>
                <a:latin typeface="Aptos" panose="020B0004020202020204" pitchFamily="34" charset="0"/>
                <a:ea typeface="Aptos" panose="020B0004020202020204" pitchFamily="34" charset="0"/>
                <a:cs typeface="Arial" panose="020B0604020202020204" pitchFamily="34" charset="0"/>
              </a:rPr>
              <a:t>צמיחה גלובלית: </a:t>
            </a:r>
            <a:r>
              <a:rPr lang="he-IL" sz="1800" dirty="0">
                <a:effectLst/>
                <a:latin typeface="Aptos" panose="020B0004020202020204" pitchFamily="34" charset="0"/>
                <a:ea typeface="Aptos" panose="020B0004020202020204" pitchFamily="34" charset="0"/>
                <a:cs typeface="Arial" panose="020B0604020202020204" pitchFamily="34" charset="0"/>
              </a:rPr>
              <a:t>זארה הציגה אסטרטגיה של ניהול גלובלי עם סניפים ברחבי העולם, מה שמאפשר גידול מהיר והתאמה לצרכים מקומיים. ניתן ללמוד על חשיבות הצמיחה וההתאמה לשווקים שונים גם בחברת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עדליא</a:t>
            </a:r>
            <a:r>
              <a:rPr lang="he-IL" sz="1800" dirty="0">
                <a:effectLst/>
                <a:latin typeface="Aptos" panose="020B0004020202020204" pitchFamily="34" charset="0"/>
                <a:ea typeface="Aptos" panose="020B0004020202020204" pitchFamily="34"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2. </a:t>
            </a:r>
            <a:r>
              <a:rPr lang="he-IL" sz="1800" b="1" dirty="0">
                <a:effectLst/>
                <a:latin typeface="Aptos" panose="020B0004020202020204" pitchFamily="34" charset="0"/>
                <a:ea typeface="Aptos" panose="020B0004020202020204" pitchFamily="34" charset="0"/>
                <a:cs typeface="Arial" panose="020B0604020202020204" pitchFamily="34" charset="0"/>
              </a:rPr>
              <a:t>אסטרטגיית שיווק:  </a:t>
            </a:r>
            <a:r>
              <a:rPr lang="he-IL" sz="1800" dirty="0">
                <a:effectLst/>
                <a:latin typeface="Aptos" panose="020B0004020202020204" pitchFamily="34" charset="0"/>
                <a:ea typeface="Aptos" panose="020B0004020202020204" pitchFamily="34" charset="0"/>
                <a:cs typeface="Arial" panose="020B0604020202020204" pitchFamily="34" charset="0"/>
              </a:rPr>
              <a:t>זארה שמה דגש על עיצוב מהיר ומגוון, קמפיינים בינלאומיים ויכולת תגובה מהירה לשוק. ניהול חנויות עצמאי ושיווק ישיר מאפשרים לזארה להוביל בשוק.  ניתן ליישם כך בחברת </a:t>
            </a:r>
            <a:r>
              <a:rPr lang="he-IL" sz="1800" dirty="0" err="1">
                <a:effectLst/>
                <a:latin typeface="Aptos" panose="020B0004020202020204" pitchFamily="34" charset="0"/>
                <a:ea typeface="Aptos" panose="020B0004020202020204" pitchFamily="34" charset="0"/>
                <a:cs typeface="Arial" panose="020B0604020202020204" pitchFamily="34" charset="0"/>
              </a:rPr>
              <a:t>עדלידא</a:t>
            </a:r>
            <a:br>
              <a:rPr lang="en-US" sz="1800" dirty="0">
                <a:effectLst/>
                <a:latin typeface="Aptos" panose="020B0004020202020204" pitchFamily="34" charset="0"/>
                <a:ea typeface="Aptos" panose="020B0004020202020204" pitchFamily="34" charset="0"/>
                <a:cs typeface="Arial" panose="020B0604020202020204" pitchFamily="34" charset="0"/>
              </a:rPr>
            </a:b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07000"/>
              </a:lnSpc>
              <a:spcAft>
                <a:spcPts val="800"/>
              </a:spcAft>
            </a:pPr>
            <a:r>
              <a:rPr lang="he-IL" sz="1800" dirty="0">
                <a:effectLst/>
                <a:latin typeface="Aptos" panose="020B0004020202020204" pitchFamily="34" charset="0"/>
                <a:ea typeface="Aptos" panose="020B0004020202020204" pitchFamily="34" charset="0"/>
                <a:cs typeface="Arial" panose="020B0604020202020204" pitchFamily="34" charset="0"/>
              </a:rPr>
              <a:t>3. </a:t>
            </a:r>
            <a:r>
              <a:rPr lang="he-IL" sz="1800" b="1" dirty="0">
                <a:effectLst/>
                <a:latin typeface="Aptos" panose="020B0004020202020204" pitchFamily="34" charset="0"/>
                <a:ea typeface="Aptos" panose="020B0004020202020204" pitchFamily="34" charset="0"/>
                <a:cs typeface="Arial" panose="020B0604020202020204" pitchFamily="34" charset="0"/>
              </a:rPr>
              <a:t>צמיחה לפלח שוק נוסף: </a:t>
            </a:r>
            <a:r>
              <a:rPr lang="he-IL" sz="1800" dirty="0">
                <a:effectLst/>
                <a:latin typeface="Aptos" panose="020B0004020202020204" pitchFamily="34" charset="0"/>
                <a:ea typeface="Aptos" panose="020B0004020202020204" pitchFamily="34" charset="0"/>
                <a:cs typeface="Arial" panose="020B0604020202020204" pitchFamily="34" charset="0"/>
              </a:rPr>
              <a:t>זארה הרחיבה את פעילותה לפלחי שוק נוספים כגון </a:t>
            </a:r>
            <a:r>
              <a:rPr lang="en-US" sz="1800" dirty="0">
                <a:effectLst/>
                <a:latin typeface="Aptos" panose="020B0004020202020204" pitchFamily="34" charset="0"/>
                <a:ea typeface="Aptos" panose="020B0004020202020204" pitchFamily="34" charset="0"/>
                <a:cs typeface="Arial" panose="020B0604020202020204" pitchFamily="34" charset="0"/>
              </a:rPr>
              <a:t>Zara Home</a:t>
            </a:r>
            <a:r>
              <a:rPr lang="en-US" sz="1800" dirty="0">
                <a:effectLst/>
                <a:latin typeface="Arial" panose="020B0604020202020204" pitchFamily="34" charset="0"/>
                <a:ea typeface="Aptos" panose="020B0004020202020204" pitchFamily="34" charset="0"/>
                <a:cs typeface="Arial" panose="020B0604020202020204" pitchFamily="34" charset="0"/>
              </a:rPr>
              <a:t> </a:t>
            </a:r>
            <a:r>
              <a:rPr lang="he-IL" sz="1800" dirty="0">
                <a:effectLst/>
                <a:latin typeface="Arial" panose="020B0604020202020204" pitchFamily="34" charset="0"/>
                <a:ea typeface="Aptos" panose="020B0004020202020204" pitchFamily="34" charset="0"/>
                <a:cs typeface="Arial" panose="020B0604020202020204" pitchFamily="34" charset="0"/>
              </a:rPr>
              <a:t>ותחום הספורט. חברת </a:t>
            </a:r>
            <a:r>
              <a:rPr lang="he-IL" sz="1800" dirty="0" err="1">
                <a:effectLst/>
                <a:latin typeface="Arial" panose="020B0604020202020204" pitchFamily="34" charset="0"/>
                <a:ea typeface="Aptos" panose="020B0004020202020204" pitchFamily="34" charset="0"/>
                <a:cs typeface="Arial" panose="020B0604020202020204" pitchFamily="34" charset="0"/>
              </a:rPr>
              <a:t>עדליא</a:t>
            </a:r>
            <a:r>
              <a:rPr lang="he-IL" sz="1800" dirty="0">
                <a:effectLst/>
                <a:latin typeface="Arial" panose="020B0604020202020204" pitchFamily="34" charset="0"/>
                <a:ea typeface="Aptos" panose="020B0004020202020204" pitchFamily="34" charset="0"/>
                <a:cs typeface="Arial" panose="020B0604020202020204" pitchFamily="34" charset="0"/>
              </a:rPr>
              <a:t> יכולה ללמוד מהאסטרטגיה הזו ולבחון אפשרויות להתרחבות ושירותים נוספים בתחום הייעוץ הכלכלי והאסטרטגי.</a:t>
            </a:r>
            <a:endParaRPr lang="en-US" sz="1800" dirty="0">
              <a:effectLst/>
              <a:latin typeface="Aptos" panose="020B0004020202020204" pitchFamily="34" charset="0"/>
              <a:ea typeface="Aptos" panose="020B000402020202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21</a:t>
            </a:fld>
            <a:endParaRPr lang="he-IL"/>
          </a:p>
        </p:txBody>
      </p:sp>
    </p:spTree>
    <p:extLst>
      <p:ext uri="{BB962C8B-B14F-4D97-AF65-F5344CB8AC3E}">
        <p14:creationId xmlns:p14="http://schemas.microsoft.com/office/powerpoint/2010/main" val="3650357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22</a:t>
            </a:fld>
            <a:endParaRPr lang="he-IL"/>
          </a:p>
        </p:txBody>
      </p:sp>
    </p:spTree>
    <p:extLst>
      <p:ext uri="{BB962C8B-B14F-4D97-AF65-F5344CB8AC3E}">
        <p14:creationId xmlns:p14="http://schemas.microsoft.com/office/powerpoint/2010/main" val="2191107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43703A1-5F4E-41E1-9E35-228D1150B16D}" type="slidenum">
              <a:rPr lang="he-IL" smtClean="0"/>
              <a:t>23</a:t>
            </a:fld>
            <a:endParaRPr lang="he-IL"/>
          </a:p>
        </p:txBody>
      </p:sp>
    </p:spTree>
    <p:extLst>
      <p:ext uri="{BB962C8B-B14F-4D97-AF65-F5344CB8AC3E}">
        <p14:creationId xmlns:p14="http://schemas.microsoft.com/office/powerpoint/2010/main" val="2496957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9CD951-4E06-A9FA-30CF-2A7AB8A484A8}"/>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0B21F17-D4EA-2C12-34F6-D1DB46AD23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ABE837A-E8AB-20CD-49B9-7C2010372599}"/>
              </a:ext>
            </a:extLst>
          </p:cNvPr>
          <p:cNvSpPr>
            <a:spLocks noGrp="1"/>
          </p:cNvSpPr>
          <p:nvPr>
            <p:ph type="dt" sz="half" idx="10"/>
          </p:nvPr>
        </p:nvSpPr>
        <p:spPr/>
        <p:txBody>
          <a:bodyPr/>
          <a:lstStyle/>
          <a:p>
            <a:fld id="{83F3F6A0-1338-42D6-A60E-879D52BA43B3}" type="datetime8">
              <a:rPr lang="he-IL" smtClean="0"/>
              <a:t>19 אוקטובר 24</a:t>
            </a:fld>
            <a:endParaRPr lang="he-IL"/>
          </a:p>
        </p:txBody>
      </p:sp>
      <p:sp>
        <p:nvSpPr>
          <p:cNvPr id="5" name="מציין מיקום של כותרת תחתונה 4">
            <a:extLst>
              <a:ext uri="{FF2B5EF4-FFF2-40B4-BE49-F238E27FC236}">
                <a16:creationId xmlns:a16="http://schemas.microsoft.com/office/drawing/2014/main" id="{6F5D97D7-4C3E-85AA-83FB-F85D387148D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BD82373-9A7B-749F-8997-30A82AB0FC79}"/>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2054789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9C5FE3-CCB8-731D-2CA9-5D600D1954F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3C473F20-DEBA-B29A-66C8-9DB3955B4BC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9299795-63F0-B90C-C630-9E9FE5F24142}"/>
              </a:ext>
            </a:extLst>
          </p:cNvPr>
          <p:cNvSpPr>
            <a:spLocks noGrp="1"/>
          </p:cNvSpPr>
          <p:nvPr>
            <p:ph type="dt" sz="half" idx="10"/>
          </p:nvPr>
        </p:nvSpPr>
        <p:spPr/>
        <p:txBody>
          <a:bodyPr/>
          <a:lstStyle/>
          <a:p>
            <a:fld id="{9235130E-2B32-4368-8CE2-F0121716E110}" type="datetime8">
              <a:rPr lang="he-IL" smtClean="0"/>
              <a:t>19 אוקטובר 24</a:t>
            </a:fld>
            <a:endParaRPr lang="he-IL"/>
          </a:p>
        </p:txBody>
      </p:sp>
      <p:sp>
        <p:nvSpPr>
          <p:cNvPr id="5" name="מציין מיקום של כותרת תחתונה 4">
            <a:extLst>
              <a:ext uri="{FF2B5EF4-FFF2-40B4-BE49-F238E27FC236}">
                <a16:creationId xmlns:a16="http://schemas.microsoft.com/office/drawing/2014/main" id="{3DBEAF88-CF00-2DB9-2F63-2BE3AD773CD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EBFEADD-A494-0DEA-B10D-988FFA0EB5BE}"/>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1708574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2E0248-436B-4A71-2B02-D1F38D7642ED}"/>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77FEC21-62B7-A607-ACF0-C52CD9158A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7B6FDEC4-E450-19AC-0424-09223E8BA338}"/>
              </a:ext>
            </a:extLst>
          </p:cNvPr>
          <p:cNvSpPr>
            <a:spLocks noGrp="1"/>
          </p:cNvSpPr>
          <p:nvPr>
            <p:ph type="dt" sz="half" idx="10"/>
          </p:nvPr>
        </p:nvSpPr>
        <p:spPr/>
        <p:txBody>
          <a:bodyPr/>
          <a:lstStyle/>
          <a:p>
            <a:fld id="{9D7A44A4-11C8-4840-9A9D-2C5686AB76CA}" type="datetime8">
              <a:rPr lang="he-IL" smtClean="0"/>
              <a:t>19 אוקטובר 24</a:t>
            </a:fld>
            <a:endParaRPr lang="he-IL"/>
          </a:p>
        </p:txBody>
      </p:sp>
      <p:sp>
        <p:nvSpPr>
          <p:cNvPr id="5" name="מציין מיקום של כותרת תחתונה 4">
            <a:extLst>
              <a:ext uri="{FF2B5EF4-FFF2-40B4-BE49-F238E27FC236}">
                <a16:creationId xmlns:a16="http://schemas.microsoft.com/office/drawing/2014/main" id="{3D707640-5A30-1027-68C7-BD6D427EF12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CE403D3-2784-19CB-F55C-5FD37B880EEB}"/>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1973099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607C60D-9897-C0E0-DEC0-77AB9209CE2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E9BD6BD-7C1D-F540-C2B0-675A9FE670BB}"/>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B737A736-ED38-715A-D28D-21D8C52A35D6}"/>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85171024-D275-504D-6FB8-8B7AE96BE7A4}"/>
              </a:ext>
            </a:extLst>
          </p:cNvPr>
          <p:cNvSpPr>
            <a:spLocks noGrp="1"/>
          </p:cNvSpPr>
          <p:nvPr>
            <p:ph type="dt" sz="half" idx="10"/>
          </p:nvPr>
        </p:nvSpPr>
        <p:spPr/>
        <p:txBody>
          <a:bodyPr/>
          <a:lstStyle/>
          <a:p>
            <a:fld id="{3815B65E-DEB9-4D8F-9C4B-D71C4DB5478D}" type="datetime8">
              <a:rPr lang="he-IL" smtClean="0"/>
              <a:t>19 אוקטובר 24</a:t>
            </a:fld>
            <a:endParaRPr lang="he-IL"/>
          </a:p>
        </p:txBody>
      </p:sp>
      <p:sp>
        <p:nvSpPr>
          <p:cNvPr id="6" name="מציין מיקום של כותרת תחתונה 5">
            <a:extLst>
              <a:ext uri="{FF2B5EF4-FFF2-40B4-BE49-F238E27FC236}">
                <a16:creationId xmlns:a16="http://schemas.microsoft.com/office/drawing/2014/main" id="{3C1C7DF2-C95A-964A-3E0D-12723D2E0D4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BC84605-3DA8-2BED-653E-8D0366111951}"/>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1324001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2557D1D-F15F-2C7E-EAD1-C9A67CA59928}"/>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1C737CA-A559-6C43-5013-58416D4D2F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30D9CC12-C414-C27B-B400-10BCB83F51E7}"/>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9574DF61-F23B-354E-BBE3-4EFFFA3065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429C850C-C17F-6E3D-F7E6-2D2DC986FE64}"/>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469C0065-B314-5EE8-855F-5287820303DE}"/>
              </a:ext>
            </a:extLst>
          </p:cNvPr>
          <p:cNvSpPr>
            <a:spLocks noGrp="1"/>
          </p:cNvSpPr>
          <p:nvPr>
            <p:ph type="dt" sz="half" idx="10"/>
          </p:nvPr>
        </p:nvSpPr>
        <p:spPr/>
        <p:txBody>
          <a:bodyPr/>
          <a:lstStyle/>
          <a:p>
            <a:fld id="{DDF4AEB5-C9A5-450D-A39D-03C7542EA2C5}" type="datetime8">
              <a:rPr lang="he-IL" smtClean="0"/>
              <a:t>19 אוקטובר 24</a:t>
            </a:fld>
            <a:endParaRPr lang="he-IL"/>
          </a:p>
        </p:txBody>
      </p:sp>
      <p:sp>
        <p:nvSpPr>
          <p:cNvPr id="8" name="מציין מיקום של כותרת תחתונה 7">
            <a:extLst>
              <a:ext uri="{FF2B5EF4-FFF2-40B4-BE49-F238E27FC236}">
                <a16:creationId xmlns:a16="http://schemas.microsoft.com/office/drawing/2014/main" id="{822E5A11-5094-888F-218D-F8CBB9629185}"/>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93D2D4FB-8705-40B3-AB39-4D930A00E900}"/>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86422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F61264D-7FCE-1959-8605-57365EDC2D4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34BB0C7D-BBC5-7F92-CE5A-A53817304864}"/>
              </a:ext>
            </a:extLst>
          </p:cNvPr>
          <p:cNvSpPr>
            <a:spLocks noGrp="1"/>
          </p:cNvSpPr>
          <p:nvPr>
            <p:ph type="dt" sz="half" idx="10"/>
          </p:nvPr>
        </p:nvSpPr>
        <p:spPr/>
        <p:txBody>
          <a:bodyPr/>
          <a:lstStyle/>
          <a:p>
            <a:fld id="{1BE642BC-4FE3-42C0-978E-78BFF1C7A701}" type="datetime8">
              <a:rPr lang="he-IL" smtClean="0"/>
              <a:t>19 אוקטובר 24</a:t>
            </a:fld>
            <a:endParaRPr lang="he-IL"/>
          </a:p>
        </p:txBody>
      </p:sp>
      <p:sp>
        <p:nvSpPr>
          <p:cNvPr id="4" name="מציין מיקום של כותרת תחתונה 3">
            <a:extLst>
              <a:ext uri="{FF2B5EF4-FFF2-40B4-BE49-F238E27FC236}">
                <a16:creationId xmlns:a16="http://schemas.microsoft.com/office/drawing/2014/main" id="{CD49461B-E05F-06DA-5E5D-BDFBB5B0DA58}"/>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76DED2B7-E03B-03E0-6ACE-152E0B412C5D}"/>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4277301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D6152755-2292-71DF-703F-83AF10325B38}"/>
              </a:ext>
            </a:extLst>
          </p:cNvPr>
          <p:cNvSpPr>
            <a:spLocks noGrp="1"/>
          </p:cNvSpPr>
          <p:nvPr>
            <p:ph type="dt" sz="half" idx="10"/>
          </p:nvPr>
        </p:nvSpPr>
        <p:spPr/>
        <p:txBody>
          <a:bodyPr/>
          <a:lstStyle/>
          <a:p>
            <a:fld id="{0235E6C7-1F48-4526-BD5C-EFC70D317001}" type="datetime8">
              <a:rPr lang="he-IL" smtClean="0"/>
              <a:t>19 אוקטובר 24</a:t>
            </a:fld>
            <a:endParaRPr lang="he-IL"/>
          </a:p>
        </p:txBody>
      </p:sp>
      <p:sp>
        <p:nvSpPr>
          <p:cNvPr id="3" name="מציין מיקום של כותרת תחתונה 2">
            <a:extLst>
              <a:ext uri="{FF2B5EF4-FFF2-40B4-BE49-F238E27FC236}">
                <a16:creationId xmlns:a16="http://schemas.microsoft.com/office/drawing/2014/main" id="{AEA93B5A-D363-B32D-4095-B8805D5919E4}"/>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A7254347-CBBE-3F75-49D3-4F646D911680}"/>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553261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DB9EC9-FD82-494F-78B0-2C3DF2BD3A3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6252956D-DC56-4038-1D25-22052DF256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759326D4-D852-649C-B9C6-7229D8585D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1D33C66-26FA-137A-049D-64AC18526090}"/>
              </a:ext>
            </a:extLst>
          </p:cNvPr>
          <p:cNvSpPr>
            <a:spLocks noGrp="1"/>
          </p:cNvSpPr>
          <p:nvPr>
            <p:ph type="dt" sz="half" idx="10"/>
          </p:nvPr>
        </p:nvSpPr>
        <p:spPr/>
        <p:txBody>
          <a:bodyPr/>
          <a:lstStyle/>
          <a:p>
            <a:fld id="{D4E78503-8149-4C21-86DC-DC1B5C830933}" type="datetime8">
              <a:rPr lang="he-IL" smtClean="0"/>
              <a:t>19 אוקטובר 24</a:t>
            </a:fld>
            <a:endParaRPr lang="he-IL"/>
          </a:p>
        </p:txBody>
      </p:sp>
      <p:sp>
        <p:nvSpPr>
          <p:cNvPr id="6" name="מציין מיקום של כותרת תחתונה 5">
            <a:extLst>
              <a:ext uri="{FF2B5EF4-FFF2-40B4-BE49-F238E27FC236}">
                <a16:creationId xmlns:a16="http://schemas.microsoft.com/office/drawing/2014/main" id="{115BCB10-3C81-97EA-9EE0-24BFF22D114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A5323EA-8397-34C4-38FE-195138F24CC0}"/>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3677398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56BF53-F7C6-58D6-0E89-64E7386FDB7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8B879839-270D-B50B-06BC-565C782532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3D07FA46-00A5-B6E8-3FBB-9F89AA4466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9472503F-85BA-CF1B-00DF-C21BC58D260A}"/>
              </a:ext>
            </a:extLst>
          </p:cNvPr>
          <p:cNvSpPr>
            <a:spLocks noGrp="1"/>
          </p:cNvSpPr>
          <p:nvPr>
            <p:ph type="dt" sz="half" idx="10"/>
          </p:nvPr>
        </p:nvSpPr>
        <p:spPr/>
        <p:txBody>
          <a:bodyPr/>
          <a:lstStyle/>
          <a:p>
            <a:fld id="{292A5E63-2EFB-44A6-B2E9-808531804D33}" type="datetime8">
              <a:rPr lang="he-IL" smtClean="0"/>
              <a:t>19 אוקטובר 24</a:t>
            </a:fld>
            <a:endParaRPr lang="he-IL"/>
          </a:p>
        </p:txBody>
      </p:sp>
      <p:sp>
        <p:nvSpPr>
          <p:cNvPr id="6" name="מציין מיקום של כותרת תחתונה 5">
            <a:extLst>
              <a:ext uri="{FF2B5EF4-FFF2-40B4-BE49-F238E27FC236}">
                <a16:creationId xmlns:a16="http://schemas.microsoft.com/office/drawing/2014/main" id="{3BA56B3D-DD78-3A84-D2DB-41CE8F72C88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D2B2A7F-3B1B-0A16-62E5-AC2AE3943BCB}"/>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241482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B12BFB1-76D1-6A51-568A-1151608DE4B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C54FF77-FA11-4C5C-92FF-476A193F5865}"/>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1A28FC3-B907-52FC-9E3E-241C2540503C}"/>
              </a:ext>
            </a:extLst>
          </p:cNvPr>
          <p:cNvSpPr>
            <a:spLocks noGrp="1"/>
          </p:cNvSpPr>
          <p:nvPr>
            <p:ph type="dt" sz="half" idx="10"/>
          </p:nvPr>
        </p:nvSpPr>
        <p:spPr/>
        <p:txBody>
          <a:bodyPr/>
          <a:lstStyle/>
          <a:p>
            <a:fld id="{B765E75C-3E11-4E05-83AB-E9F6546525E4}" type="datetime8">
              <a:rPr lang="he-IL" smtClean="0"/>
              <a:t>19 אוקטובר 24</a:t>
            </a:fld>
            <a:endParaRPr lang="he-IL"/>
          </a:p>
        </p:txBody>
      </p:sp>
      <p:sp>
        <p:nvSpPr>
          <p:cNvPr id="5" name="מציין מיקום של כותרת תחתונה 4">
            <a:extLst>
              <a:ext uri="{FF2B5EF4-FFF2-40B4-BE49-F238E27FC236}">
                <a16:creationId xmlns:a16="http://schemas.microsoft.com/office/drawing/2014/main" id="{9E6723D9-D84D-1324-31C1-21C56C608FC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2D6B0AF-39B3-4197-D02C-2BFBC21627D4}"/>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2671264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DA2A5F13-6689-D7B6-4AE9-5EDDFACAB561}"/>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A2C9716D-F8D2-1B8B-61DA-C9505C9FF66F}"/>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A82CD3D-0A66-86C5-169B-EE80785D8B02}"/>
              </a:ext>
            </a:extLst>
          </p:cNvPr>
          <p:cNvSpPr>
            <a:spLocks noGrp="1"/>
          </p:cNvSpPr>
          <p:nvPr>
            <p:ph type="dt" sz="half" idx="10"/>
          </p:nvPr>
        </p:nvSpPr>
        <p:spPr/>
        <p:txBody>
          <a:bodyPr/>
          <a:lstStyle/>
          <a:p>
            <a:fld id="{0EBB7D7A-4FB4-4730-8FBF-5700CEC7AF9B}" type="datetime8">
              <a:rPr lang="he-IL" smtClean="0"/>
              <a:t>19 אוקטובר 24</a:t>
            </a:fld>
            <a:endParaRPr lang="he-IL"/>
          </a:p>
        </p:txBody>
      </p:sp>
      <p:sp>
        <p:nvSpPr>
          <p:cNvPr id="5" name="מציין מיקום של כותרת תחתונה 4">
            <a:extLst>
              <a:ext uri="{FF2B5EF4-FFF2-40B4-BE49-F238E27FC236}">
                <a16:creationId xmlns:a16="http://schemas.microsoft.com/office/drawing/2014/main" id="{D418E4FF-5C1E-BA75-2BD0-9A769FF287F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9996E59-6FAA-D90F-E7C2-149488838F91}"/>
              </a:ext>
            </a:extLst>
          </p:cNvPr>
          <p:cNvSpPr>
            <a:spLocks noGrp="1"/>
          </p:cNvSpPr>
          <p:nvPr>
            <p:ph type="sldNum" sz="quarter" idx="12"/>
          </p:nvPr>
        </p:nvSpPr>
        <p:spPr/>
        <p:txBody>
          <a:bodyPr/>
          <a:lstStyle/>
          <a:p>
            <a:fld id="{E06EC34E-F7E0-477E-B27B-C28BB6EFBFB2}" type="slidenum">
              <a:rPr lang="he-IL" smtClean="0"/>
              <a:t>‹#›</a:t>
            </a:fld>
            <a:endParaRPr lang="he-IL"/>
          </a:p>
        </p:txBody>
      </p:sp>
    </p:spTree>
    <p:extLst>
      <p:ext uri="{BB962C8B-B14F-4D97-AF65-F5344CB8AC3E}">
        <p14:creationId xmlns:p14="http://schemas.microsoft.com/office/powerpoint/2010/main" val="338367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730A27C6-701F-87F4-1921-0DE8FED68D4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992A217-905E-FE61-80A5-DB76A9C6BEBC}"/>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8818D0C-695F-4E60-409F-5B666FD76C2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5A69864B-15A2-40A0-8168-A73BFCE83CF1}" type="datetime8">
              <a:rPr lang="he-IL" smtClean="0"/>
              <a:t>19 אוקטובר 24</a:t>
            </a:fld>
            <a:endParaRPr lang="he-IL"/>
          </a:p>
        </p:txBody>
      </p:sp>
      <p:sp>
        <p:nvSpPr>
          <p:cNvPr id="5" name="מציין מיקום של כותרת תחתונה 4">
            <a:extLst>
              <a:ext uri="{FF2B5EF4-FFF2-40B4-BE49-F238E27FC236}">
                <a16:creationId xmlns:a16="http://schemas.microsoft.com/office/drawing/2014/main" id="{230A5DC2-7685-48A5-5B42-F014944B7D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FA8E75E2-D065-75A6-71D3-1E3E898FB24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E06EC34E-F7E0-477E-B27B-C28BB6EFBFB2}" type="slidenum">
              <a:rPr lang="he-IL" smtClean="0"/>
              <a:t>‹#›</a:t>
            </a:fld>
            <a:endParaRPr lang="he-IL"/>
          </a:p>
        </p:txBody>
      </p:sp>
    </p:spTree>
    <p:extLst>
      <p:ext uri="{BB962C8B-B14F-4D97-AF65-F5344CB8AC3E}">
        <p14:creationId xmlns:p14="http://schemas.microsoft.com/office/powerpoint/2010/main" val="2016877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07/relationships/hdphoto" Target="../media/hdphoto1.wdp"/><Relationship Id="rId7" Type="http://schemas.openxmlformats.org/officeDocument/2006/relationships/diagramLayout" Target="../diagrams/layout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Data" Target="../diagrams/data1.xml"/><Relationship Id="rId5" Type="http://schemas.openxmlformats.org/officeDocument/2006/relationships/image" Target="../media/image5.png"/><Relationship Id="rId10" Type="http://schemas.microsoft.com/office/2007/relationships/diagramDrawing" Target="../diagrams/drawing1.xml"/><Relationship Id="rId4" Type="http://schemas.openxmlformats.org/officeDocument/2006/relationships/image" Target="../media/image2.png"/><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microsoft.com/office/2007/relationships/hdphoto" Target="../media/hdphoto1.wdp"/><Relationship Id="rId7" Type="http://schemas.openxmlformats.org/officeDocument/2006/relationships/diagramQuickStyle" Target="../diagrams/quickStyle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hdphoto" Target="../media/hdphoto1.wdp"/><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Colors" Target="../diagrams/colors4.xml"/><Relationship Id="rId3" Type="http://schemas.microsoft.com/office/2007/relationships/hdphoto" Target="../media/hdphoto1.wdp"/><Relationship Id="rId7" Type="http://schemas.openxmlformats.org/officeDocument/2006/relationships/diagramQuickStyle" Target="../diagrams/quickStyle3.xml"/><Relationship Id="rId12" Type="http://schemas.openxmlformats.org/officeDocument/2006/relationships/diagramQuickStyle" Target="../diagrams/quickStyle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3.xml"/><Relationship Id="rId11" Type="http://schemas.openxmlformats.org/officeDocument/2006/relationships/diagramLayout" Target="../diagrams/layout4.xml"/><Relationship Id="rId5" Type="http://schemas.openxmlformats.org/officeDocument/2006/relationships/diagramData" Target="../diagrams/data3.xml"/><Relationship Id="rId10" Type="http://schemas.openxmlformats.org/officeDocument/2006/relationships/diagramData" Target="../diagrams/data4.xml"/><Relationship Id="rId4" Type="http://schemas.openxmlformats.org/officeDocument/2006/relationships/image" Target="../media/image2.png"/><Relationship Id="rId9" Type="http://schemas.microsoft.com/office/2007/relationships/diagramDrawing" Target="../diagrams/drawing3.xml"/><Relationship Id="rId14" Type="http://schemas.microsoft.com/office/2007/relationships/diagramDrawing" Target="../diagrams/drawing4.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5.xml"/><Relationship Id="rId3" Type="http://schemas.microsoft.com/office/2007/relationships/hdphoto" Target="../media/hdphoto1.wdp"/><Relationship Id="rId7" Type="http://schemas.openxmlformats.org/officeDocument/2006/relationships/diagramQuickStyle" Target="../diagrams/quickStyle5.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png"/><Relationship Id="rId9" Type="http://schemas.microsoft.com/office/2007/relationships/diagramDrawing" Target="../diagrams/drawing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1.png"/><Relationship Id="rId7" Type="http://schemas.openxmlformats.org/officeDocument/2006/relationships/diagramLayout" Target="../diagrams/layout6.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Data" Target="../diagrams/data6.xml"/><Relationship Id="rId5" Type="http://schemas.openxmlformats.org/officeDocument/2006/relationships/image" Target="../media/image2.png"/><Relationship Id="rId10" Type="http://schemas.microsoft.com/office/2007/relationships/diagramDrawing" Target="../diagrams/drawing6.xml"/><Relationship Id="rId4" Type="http://schemas.microsoft.com/office/2007/relationships/hdphoto" Target="../media/hdphoto1.wdp"/><Relationship Id="rId9" Type="http://schemas.openxmlformats.org/officeDocument/2006/relationships/diagramColors" Target="../diagrams/colors6.xml"/></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1.png"/><Relationship Id="rId7" Type="http://schemas.openxmlformats.org/officeDocument/2006/relationships/diagramLayout" Target="../diagrams/layout7.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Data" Target="../diagrams/data7.xml"/><Relationship Id="rId5" Type="http://schemas.openxmlformats.org/officeDocument/2006/relationships/image" Target="../media/image2.png"/><Relationship Id="rId10" Type="http://schemas.microsoft.com/office/2007/relationships/diagramDrawing" Target="../diagrams/drawing7.xml"/><Relationship Id="rId4" Type="http://schemas.microsoft.com/office/2007/relationships/hdphoto" Target="../media/hdphoto1.wdp"/><Relationship Id="rId9" Type="http://schemas.openxmlformats.org/officeDocument/2006/relationships/diagramColors" Target="../diagrams/colors7.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8.xml"/><Relationship Id="rId3" Type="http://schemas.openxmlformats.org/officeDocument/2006/relationships/image" Target="../media/image1.png"/><Relationship Id="rId7" Type="http://schemas.openxmlformats.org/officeDocument/2006/relationships/diagramLayout" Target="../diagrams/layout8.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Data" Target="../diagrams/data8.xml"/><Relationship Id="rId5" Type="http://schemas.openxmlformats.org/officeDocument/2006/relationships/image" Target="../media/image2.png"/><Relationship Id="rId10" Type="http://schemas.microsoft.com/office/2007/relationships/diagramDrawing" Target="../diagrams/drawing8.xml"/><Relationship Id="rId4" Type="http://schemas.microsoft.com/office/2007/relationships/hdphoto" Target="../media/hdphoto1.wdp"/><Relationship Id="rId9" Type="http://schemas.openxmlformats.org/officeDocument/2006/relationships/diagramColors" Target="../diagrams/colors8.xml"/></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1.png"/><Relationship Id="rId7" Type="http://schemas.openxmlformats.org/officeDocument/2006/relationships/diagramLayout" Target="../diagrams/layout9.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Data" Target="../diagrams/data9.xml"/><Relationship Id="rId5" Type="http://schemas.openxmlformats.org/officeDocument/2006/relationships/image" Target="../media/image2.png"/><Relationship Id="rId10" Type="http://schemas.microsoft.com/office/2007/relationships/diagramDrawing" Target="../diagrams/drawing9.xml"/><Relationship Id="rId4" Type="http://schemas.microsoft.com/office/2007/relationships/hdphoto" Target="../media/hdphoto1.wdp"/><Relationship Id="rId9" Type="http://schemas.openxmlformats.org/officeDocument/2006/relationships/diagramColors" Target="../diagrams/colors9.xml"/></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10.xml"/><Relationship Id="rId13"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diagramLayout" Target="../diagrams/layout10.xml"/><Relationship Id="rId12" Type="http://schemas.openxmlformats.org/officeDocument/2006/relationships/image" Target="../media/image36.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Data" Target="../diagrams/data10.xml"/><Relationship Id="rId11" Type="http://schemas.openxmlformats.org/officeDocument/2006/relationships/image" Target="../media/image35.png"/><Relationship Id="rId5" Type="http://schemas.openxmlformats.org/officeDocument/2006/relationships/image" Target="../media/image2.png"/><Relationship Id="rId10" Type="http://schemas.microsoft.com/office/2007/relationships/diagramDrawing" Target="../diagrams/drawing10.xml"/><Relationship Id="rId4" Type="http://schemas.microsoft.com/office/2007/relationships/hdphoto" Target="../media/hdphoto1.wdp"/><Relationship Id="rId9" Type="http://schemas.openxmlformats.org/officeDocument/2006/relationships/diagramColors" Target="../diagrams/colors10.xml"/><Relationship Id="rId14" Type="http://schemas.openxmlformats.org/officeDocument/2006/relationships/image" Target="../media/image38.svg"/></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11.xml"/><Relationship Id="rId3" Type="http://schemas.openxmlformats.org/officeDocument/2006/relationships/image" Target="../media/image1.png"/><Relationship Id="rId7" Type="http://schemas.openxmlformats.org/officeDocument/2006/relationships/diagramLayout" Target="../diagrams/layout11.xml"/><Relationship Id="rId12"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Data" Target="../diagrams/data11.xml"/><Relationship Id="rId11" Type="http://schemas.openxmlformats.org/officeDocument/2006/relationships/image" Target="../media/image39.jpeg"/><Relationship Id="rId5" Type="http://schemas.openxmlformats.org/officeDocument/2006/relationships/image" Target="../media/image2.png"/><Relationship Id="rId10" Type="http://schemas.microsoft.com/office/2007/relationships/diagramDrawing" Target="../diagrams/drawing11.xml"/><Relationship Id="rId4" Type="http://schemas.microsoft.com/office/2007/relationships/hdphoto" Target="../media/hdphoto1.wdp"/><Relationship Id="rId9" Type="http://schemas.openxmlformats.org/officeDocument/2006/relationships/diagramColors" Target="../diagrams/colors11.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image" Target="../media/image1.png"/><Relationship Id="rId7" Type="http://schemas.openxmlformats.org/officeDocument/2006/relationships/diagramData" Target="../diagrams/data12.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1.png"/><Relationship Id="rId11" Type="http://schemas.microsoft.com/office/2007/relationships/diagramDrawing" Target="../diagrams/drawing12.xml"/><Relationship Id="rId5" Type="http://schemas.openxmlformats.org/officeDocument/2006/relationships/image" Target="../media/image2.png"/><Relationship Id="rId10" Type="http://schemas.openxmlformats.org/officeDocument/2006/relationships/diagramColors" Target="../diagrams/colors12.xml"/><Relationship Id="rId4" Type="http://schemas.microsoft.com/office/2007/relationships/hdphoto" Target="../media/hdphoto1.wdp"/><Relationship Id="rId9" Type="http://schemas.openxmlformats.org/officeDocument/2006/relationships/diagramQuickStyle" Target="../diagrams/quickStyle12.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image" Target="../media/image1.png"/><Relationship Id="rId7" Type="http://schemas.openxmlformats.org/officeDocument/2006/relationships/diagramData" Target="../diagrams/data13.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2.png"/><Relationship Id="rId11" Type="http://schemas.microsoft.com/office/2007/relationships/diagramDrawing" Target="../diagrams/drawing13.xml"/><Relationship Id="rId5" Type="http://schemas.openxmlformats.org/officeDocument/2006/relationships/image" Target="../media/image2.png"/><Relationship Id="rId10" Type="http://schemas.openxmlformats.org/officeDocument/2006/relationships/diagramColors" Target="../diagrams/colors13.xml"/><Relationship Id="rId4" Type="http://schemas.microsoft.com/office/2007/relationships/hdphoto" Target="../media/hdphoto1.wdp"/><Relationship Id="rId9" Type="http://schemas.openxmlformats.org/officeDocument/2006/relationships/diagramQuickStyle" Target="../diagrams/quickStyle1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2.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6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a:solidFill>
            <a:schemeClr val="accent1"/>
          </a:solidFill>
          <a:ln>
            <a:solidFill>
              <a:schemeClr val="lt1"/>
            </a:solidFill>
          </a:ln>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a:t>
            </a:fld>
            <a:endParaRPr lang="he-IL" sz="1800" b="1" dirty="0">
              <a:solidFill>
                <a:srgbClr val="002060"/>
              </a:solidFill>
            </a:endParaRPr>
          </a:p>
        </p:txBody>
      </p:sp>
      <p:sp>
        <p:nvSpPr>
          <p:cNvPr id="16" name="מלבן 15">
            <a:extLst>
              <a:ext uri="{FF2B5EF4-FFF2-40B4-BE49-F238E27FC236}">
                <a16:creationId xmlns:a16="http://schemas.microsoft.com/office/drawing/2014/main" id="{E0E72A0D-B8E0-34CA-9DBF-22F9193DC7BF}"/>
              </a:ext>
            </a:extLst>
          </p:cNvPr>
          <p:cNvSpPr/>
          <p:nvPr/>
        </p:nvSpPr>
        <p:spPr>
          <a:xfrm>
            <a:off x="1709746" y="1576253"/>
            <a:ext cx="8320221" cy="4753049"/>
          </a:xfrm>
          <a:prstGeom prst="rect">
            <a:avLst/>
          </a:prstGeom>
          <a:noFill/>
        </p:spPr>
        <p:txBody>
          <a:bodyPr wrap="none" lIns="91440" tIns="45720" rIns="91440" bIns="45720">
            <a:prstTxWarp prst="textButton">
              <a:avLst>
                <a:gd name="adj" fmla="val 10799999"/>
              </a:avLst>
            </a:prstTxWarp>
            <a:spAutoFit/>
          </a:bodyPr>
          <a:lstStyle/>
          <a:p>
            <a:pPr algn="ctr"/>
            <a:r>
              <a:rPr lang="he-IL" sz="8000" b="0" cap="none" spc="0" dirty="0">
                <a:ln w="0"/>
                <a:solidFill>
                  <a:schemeClr val="accent1"/>
                </a:solidFill>
                <a:effectLst>
                  <a:outerShdw blurRad="38100" dist="25400" dir="5400000" algn="ctr" rotWithShape="0">
                    <a:srgbClr val="6E747A">
                      <a:alpha val="43000"/>
                    </a:srgbClr>
                  </a:outerShdw>
                </a:effectLst>
                <a:latin typeface="Aharoni" panose="02010803020104030203" pitchFamily="2" charset="-79"/>
                <a:cs typeface="Aharoni" panose="02010803020104030203" pitchFamily="2" charset="-79"/>
              </a:rPr>
              <a:t>אסטרטגיה עסקית</a:t>
            </a:r>
          </a:p>
        </p:txBody>
      </p:sp>
      <p:cxnSp>
        <p:nvCxnSpPr>
          <p:cNvPr id="24" name="מחבר ישר 23">
            <a:extLst>
              <a:ext uri="{FF2B5EF4-FFF2-40B4-BE49-F238E27FC236}">
                <a16:creationId xmlns:a16="http://schemas.microsoft.com/office/drawing/2014/main" id="{45C20081-1327-DB9B-6A59-3D6EA782C7F6}"/>
              </a:ext>
            </a:extLst>
          </p:cNvPr>
          <p:cNvCxnSpPr>
            <a:cxnSpLocks/>
          </p:cNvCxnSpPr>
          <p:nvPr/>
        </p:nvCxnSpPr>
        <p:spPr>
          <a:xfrm>
            <a:off x="5869858" y="5081202"/>
            <a:ext cx="0" cy="1057591"/>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6" name="מלבן 25">
            <a:extLst>
              <a:ext uri="{FF2B5EF4-FFF2-40B4-BE49-F238E27FC236}">
                <a16:creationId xmlns:a16="http://schemas.microsoft.com/office/drawing/2014/main" id="{B8463FD8-4873-B795-15BC-AF2F801CBECD}"/>
              </a:ext>
            </a:extLst>
          </p:cNvPr>
          <p:cNvSpPr/>
          <p:nvPr/>
        </p:nvSpPr>
        <p:spPr>
          <a:xfrm>
            <a:off x="2463434" y="3647880"/>
            <a:ext cx="7265130" cy="923330"/>
          </a:xfrm>
          <a:prstGeom prst="rect">
            <a:avLst/>
          </a:prstGeom>
          <a:noFill/>
        </p:spPr>
        <p:txBody>
          <a:bodyPr wrap="none" lIns="91440" tIns="45720" rIns="91440" bIns="45720">
            <a:spAutoFit/>
          </a:bodyPr>
          <a:lstStyle/>
          <a:p>
            <a:pPr algn="ctr"/>
            <a:r>
              <a:rPr lang="he-IL" sz="5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innerShdw blurRad="63500" dist="50800" dir="5400000">
                    <a:prstClr val="black">
                      <a:alpha val="50000"/>
                    </a:prstClr>
                  </a:innerShdw>
                </a:effectLst>
                <a:latin typeface="Calibri" panose="020F0502020204030204"/>
              </a:rPr>
              <a:t>עדליא</a:t>
            </a:r>
            <a:r>
              <a:rPr lang="he-IL"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innerShdw blurRad="63500" dist="50800" dir="5400000">
                    <a:prstClr val="black">
                      <a:alpha val="50000"/>
                    </a:prstClr>
                  </a:innerShdw>
                </a:effectLst>
                <a:latin typeface="Calibri" panose="020F0502020204030204"/>
              </a:rPr>
              <a:t> - ייעוץ כלכלי בע"מ</a:t>
            </a:r>
            <a:endParaRPr lang="he-IL"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innerShdw blurRad="63500" dist="50800" dir="5400000">
                  <a:prstClr val="black">
                    <a:alpha val="50000"/>
                  </a:prstClr>
                </a:innerShdw>
              </a:effectLst>
            </a:endParaRPr>
          </a:p>
        </p:txBody>
      </p:sp>
      <p:pic>
        <p:nvPicPr>
          <p:cNvPr id="29" name="תמונה 28">
            <a:extLst>
              <a:ext uri="{FF2B5EF4-FFF2-40B4-BE49-F238E27FC236}">
                <a16:creationId xmlns:a16="http://schemas.microsoft.com/office/drawing/2014/main" id="{699B093F-2AFC-19CD-5A4B-DC782404C8F3}"/>
              </a:ext>
            </a:extLst>
          </p:cNvPr>
          <p:cNvPicPr>
            <a:picLocks noChangeAspect="1"/>
          </p:cNvPicPr>
          <p:nvPr/>
        </p:nvPicPr>
        <p:blipFill>
          <a:blip r:embed="rId6"/>
          <a:stretch>
            <a:fillRect/>
          </a:stretch>
        </p:blipFill>
        <p:spPr>
          <a:xfrm>
            <a:off x="5357747" y="2407378"/>
            <a:ext cx="1024217" cy="10668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82972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תמונה 21">
            <a:extLst>
              <a:ext uri="{FF2B5EF4-FFF2-40B4-BE49-F238E27FC236}">
                <a16:creationId xmlns:a16="http://schemas.microsoft.com/office/drawing/2014/main" id="{64B89EF0-31C1-7A49-1B8A-FD22B49D8A25}"/>
              </a:ext>
            </a:extLst>
          </p:cNvPr>
          <p:cNvPicPr>
            <a:picLocks noChangeAspect="1"/>
          </p:cNvPicPr>
          <p:nvPr/>
        </p:nvPicPr>
        <p:blipFill>
          <a:blip r:embed="rId2"/>
          <a:srcRect t="8313" b="27150"/>
          <a:stretch/>
        </p:blipFill>
        <p:spPr>
          <a:xfrm>
            <a:off x="0" y="3146323"/>
            <a:ext cx="12182165" cy="3146419"/>
          </a:xfrm>
          <a:prstGeom prst="rect">
            <a:avLst/>
          </a:prstGeom>
        </p:spPr>
      </p:pic>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2</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4420178" y="670500"/>
            <a:ext cx="3132589"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על הארגון</a:t>
            </a:r>
          </a:p>
        </p:txBody>
      </p:sp>
      <p:sp>
        <p:nvSpPr>
          <p:cNvPr id="24" name="תיבת טקסט 23">
            <a:extLst>
              <a:ext uri="{FF2B5EF4-FFF2-40B4-BE49-F238E27FC236}">
                <a16:creationId xmlns:a16="http://schemas.microsoft.com/office/drawing/2014/main" id="{28158F72-4798-54C3-60BF-3A1A64C82A2C}"/>
              </a:ext>
            </a:extLst>
          </p:cNvPr>
          <p:cNvSpPr txBox="1"/>
          <p:nvPr/>
        </p:nvSpPr>
        <p:spPr>
          <a:xfrm>
            <a:off x="0" y="1754523"/>
            <a:ext cx="12182165" cy="1323439"/>
          </a:xfrm>
          <a:prstGeom prst="rect">
            <a:avLst/>
          </a:prstGeom>
          <a:solidFill>
            <a:schemeClr val="bg1"/>
          </a:solidFill>
        </p:spPr>
        <p:txBody>
          <a:bodyPr wrap="square">
            <a:spAutoFit/>
          </a:bodyPr>
          <a:lstStyle/>
          <a:p>
            <a:r>
              <a:rPr lang="he-IL" sz="2000" b="1" dirty="0"/>
              <a:t>"</a:t>
            </a:r>
            <a:r>
              <a:rPr lang="he-IL" sz="2000" b="1" dirty="0" err="1"/>
              <a:t>עדליא</a:t>
            </a:r>
            <a:r>
              <a:rPr lang="he-IL" sz="2000" b="1" dirty="0"/>
              <a:t> – ייעוץ כלכלי בע"מ" הוקמה בשנת 2002 כחברת ייעוץ כלכלי וניהול תהליכים, המתמחה בעבודות מורכבות עבור משרדי ממשלה, גופים ציבוריים וחברות מהמגזר הפרטי. בין היתר מתמחה החברה בליווי רפורמות ממשלתיות בתחום הפרטת שירותים, בניית מודלים כלכליים מורכבים, בדיקות כדאיות כלכלית למשק של פרויקטים שונים, כתיבת מסמכי מדיניות ואסטרטגיה וביצוע מחקרי שוק בהיבטים שונים תוך מתן דגש על היבטים פיננסיים.</a:t>
            </a:r>
          </a:p>
        </p:txBody>
      </p:sp>
    </p:spTree>
    <p:extLst>
      <p:ext uri="{BB962C8B-B14F-4D97-AF65-F5344CB8AC3E}">
        <p14:creationId xmlns:p14="http://schemas.microsoft.com/office/powerpoint/2010/main" val="3136256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4"/>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3</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963137" y="596399"/>
            <a:ext cx="3725700" cy="1015663"/>
          </a:xfrm>
          <a:prstGeom prst="rect">
            <a:avLst/>
          </a:prstGeom>
          <a:noFill/>
        </p:spPr>
        <p:txBody>
          <a:bodyPr wrap="none" lIns="91440" tIns="45720" rIns="91440" bIns="45720">
            <a:spAutoFit/>
          </a:bodyPr>
          <a:lstStyle/>
          <a:p>
            <a:pPr algn="ctr"/>
            <a:r>
              <a:rPr lang="he-IL" sz="6000" b="0" cap="none" spc="0" dirty="0" err="1">
                <a:ln w="0"/>
                <a:solidFill>
                  <a:schemeClr val="accent1"/>
                </a:solidFill>
                <a:effectLst>
                  <a:outerShdw blurRad="38100" dist="25400" dir="5400000" algn="ctr" rotWithShape="0">
                    <a:srgbClr val="6E747A">
                      <a:alpha val="43000"/>
                    </a:srgbClr>
                  </a:outerShdw>
                </a:effectLst>
              </a:rPr>
              <a:t>חזון</a:t>
            </a:r>
            <a:r>
              <a:rPr lang="he-IL" sz="6000" b="0" cap="none" spc="0" dirty="0">
                <a:ln w="0"/>
                <a:solidFill>
                  <a:schemeClr val="accent1"/>
                </a:solidFill>
                <a:effectLst>
                  <a:outerShdw blurRad="38100" dist="25400" dir="5400000" algn="ctr" rotWithShape="0">
                    <a:srgbClr val="6E747A">
                      <a:alpha val="43000"/>
                    </a:srgbClr>
                  </a:outerShdw>
                </a:effectLst>
              </a:rPr>
              <a:t> החברה</a:t>
            </a:r>
          </a:p>
        </p:txBody>
      </p:sp>
      <p:pic>
        <p:nvPicPr>
          <p:cNvPr id="2" name="תמונה 1">
            <a:extLst>
              <a:ext uri="{FF2B5EF4-FFF2-40B4-BE49-F238E27FC236}">
                <a16:creationId xmlns:a16="http://schemas.microsoft.com/office/drawing/2014/main" id="{4FA11392-B174-0060-4C57-2AD7C49D7205}"/>
              </a:ext>
            </a:extLst>
          </p:cNvPr>
          <p:cNvPicPr>
            <a:picLocks noChangeAspect="1"/>
          </p:cNvPicPr>
          <p:nvPr/>
        </p:nvPicPr>
        <p:blipFill>
          <a:blip r:embed="rId5">
            <a:alphaModFix/>
          </a:blip>
          <a:stretch>
            <a:fillRect/>
          </a:stretch>
        </p:blipFill>
        <p:spPr>
          <a:xfrm>
            <a:off x="6611816" y="1547446"/>
            <a:ext cx="5580184" cy="47290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3" name="דיאגרמה 2">
            <a:extLst>
              <a:ext uri="{FF2B5EF4-FFF2-40B4-BE49-F238E27FC236}">
                <a16:creationId xmlns:a16="http://schemas.microsoft.com/office/drawing/2014/main" id="{4D3A2D57-46B5-DD0F-C426-B662712A2186}"/>
              </a:ext>
            </a:extLst>
          </p:cNvPr>
          <p:cNvGraphicFramePr/>
          <p:nvPr>
            <p:extLst>
              <p:ext uri="{D42A27DB-BD31-4B8C-83A1-F6EECF244321}">
                <p14:modId xmlns:p14="http://schemas.microsoft.com/office/powerpoint/2010/main" val="4157220572"/>
              </p:ext>
            </p:extLst>
          </p:nvPr>
        </p:nvGraphicFramePr>
        <p:xfrm>
          <a:off x="-786287" y="1637282"/>
          <a:ext cx="8735369" cy="442964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317030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4"/>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4</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581398" y="575146"/>
            <a:ext cx="4703532"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לקוחות החברה</a:t>
            </a:r>
          </a:p>
        </p:txBody>
      </p:sp>
      <p:graphicFrame>
        <p:nvGraphicFramePr>
          <p:cNvPr id="19" name="דיאגרמה 18">
            <a:extLst>
              <a:ext uri="{FF2B5EF4-FFF2-40B4-BE49-F238E27FC236}">
                <a16:creationId xmlns:a16="http://schemas.microsoft.com/office/drawing/2014/main" id="{6BCC83CC-34F3-37DA-5312-D40928C57380}"/>
              </a:ext>
            </a:extLst>
          </p:cNvPr>
          <p:cNvGraphicFramePr/>
          <p:nvPr>
            <p:extLst>
              <p:ext uri="{D42A27DB-BD31-4B8C-83A1-F6EECF244321}">
                <p14:modId xmlns:p14="http://schemas.microsoft.com/office/powerpoint/2010/main" val="2872754860"/>
              </p:ext>
            </p:extLst>
          </p:nvPr>
        </p:nvGraphicFramePr>
        <p:xfrm>
          <a:off x="2584163" y="1952586"/>
          <a:ext cx="6872748" cy="42349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836713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4"/>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5</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502528" y="204254"/>
            <a:ext cx="4717958" cy="1015663"/>
          </a:xfrm>
          <a:prstGeom prst="rect">
            <a:avLst/>
          </a:prstGeom>
          <a:noFill/>
        </p:spPr>
        <p:txBody>
          <a:bodyPr wrap="none" lIns="91440" tIns="45720" rIns="91440" bIns="45720">
            <a:spAutoFit/>
          </a:bodyPr>
          <a:lstStyle/>
          <a:p>
            <a:pPr algn="ctr"/>
            <a:r>
              <a:rPr lang="he-IL" sz="6000" dirty="0">
                <a:ln w="0"/>
                <a:solidFill>
                  <a:schemeClr val="accent1"/>
                </a:solidFill>
                <a:effectLst>
                  <a:outerShdw blurRad="38100" dist="25400" dir="5400000" algn="ctr" rotWithShape="0">
                    <a:srgbClr val="6E747A">
                      <a:alpha val="43000"/>
                    </a:srgbClr>
                  </a:outerShdw>
                </a:effectLst>
              </a:rPr>
              <a:t>ה</a:t>
            </a:r>
            <a:r>
              <a:rPr lang="he-IL" sz="6000" b="0" cap="none" spc="0" dirty="0">
                <a:ln w="0"/>
                <a:solidFill>
                  <a:schemeClr val="accent1"/>
                </a:solidFill>
                <a:effectLst>
                  <a:outerShdw blurRad="38100" dist="25400" dir="5400000" algn="ctr" rotWithShape="0">
                    <a:srgbClr val="6E747A">
                      <a:alpha val="43000"/>
                    </a:srgbClr>
                  </a:outerShdw>
                </a:effectLst>
              </a:rPr>
              <a:t>מבנה הארגוני</a:t>
            </a:r>
          </a:p>
        </p:txBody>
      </p:sp>
      <p:sp>
        <p:nvSpPr>
          <p:cNvPr id="2" name="אליפסה 1">
            <a:extLst>
              <a:ext uri="{FF2B5EF4-FFF2-40B4-BE49-F238E27FC236}">
                <a16:creationId xmlns:a16="http://schemas.microsoft.com/office/drawing/2014/main" id="{DC65B38E-019B-30DF-47A5-E8A954BD028A}"/>
              </a:ext>
            </a:extLst>
          </p:cNvPr>
          <p:cNvSpPr/>
          <p:nvPr/>
        </p:nvSpPr>
        <p:spPr>
          <a:xfrm>
            <a:off x="4996730" y="1466190"/>
            <a:ext cx="1805863" cy="1906033"/>
          </a:xfrm>
          <a:prstGeom prst="ellipse">
            <a:avLst/>
          </a:prstGeom>
          <a:gradFill>
            <a:gsLst>
              <a:gs pos="9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pic>
        <p:nvPicPr>
          <p:cNvPr id="3" name="תמונה 2">
            <a:extLst>
              <a:ext uri="{FF2B5EF4-FFF2-40B4-BE49-F238E27FC236}">
                <a16:creationId xmlns:a16="http://schemas.microsoft.com/office/drawing/2014/main" id="{B20E287E-0532-23DE-1893-0FB0D556606C}"/>
              </a:ext>
            </a:extLst>
          </p:cNvPr>
          <p:cNvPicPr>
            <a:picLocks noChangeAspect="1"/>
          </p:cNvPicPr>
          <p:nvPr/>
        </p:nvPicPr>
        <p:blipFill>
          <a:blip r:embed="rId5"/>
          <a:stretch>
            <a:fillRect/>
          </a:stretch>
        </p:blipFill>
        <p:spPr>
          <a:xfrm>
            <a:off x="4943154" y="1482635"/>
            <a:ext cx="1913013" cy="1913013"/>
          </a:xfrm>
          <a:prstGeom prst="ellipse">
            <a:avLst/>
          </a:prstGeom>
          <a:ln>
            <a:noFill/>
          </a:ln>
          <a:effectLst>
            <a:softEdge rad="112500"/>
          </a:effectLst>
        </p:spPr>
      </p:pic>
      <p:sp>
        <p:nvSpPr>
          <p:cNvPr id="4" name="אליפסה 3">
            <a:extLst>
              <a:ext uri="{FF2B5EF4-FFF2-40B4-BE49-F238E27FC236}">
                <a16:creationId xmlns:a16="http://schemas.microsoft.com/office/drawing/2014/main" id="{71A85550-1C6D-988A-2233-764A5C231BA3}"/>
              </a:ext>
            </a:extLst>
          </p:cNvPr>
          <p:cNvSpPr/>
          <p:nvPr/>
        </p:nvSpPr>
        <p:spPr>
          <a:xfrm>
            <a:off x="9493532" y="3886324"/>
            <a:ext cx="1805863" cy="1906033"/>
          </a:xfrm>
          <a:prstGeom prst="ellipse">
            <a:avLst/>
          </a:prstGeom>
          <a:gradFill>
            <a:gsLst>
              <a:gs pos="9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5" name="אליפסה 4">
            <a:extLst>
              <a:ext uri="{FF2B5EF4-FFF2-40B4-BE49-F238E27FC236}">
                <a16:creationId xmlns:a16="http://schemas.microsoft.com/office/drawing/2014/main" id="{330AB56D-9BDF-4063-AC6A-D9C0B84639FC}"/>
              </a:ext>
            </a:extLst>
          </p:cNvPr>
          <p:cNvSpPr/>
          <p:nvPr/>
        </p:nvSpPr>
        <p:spPr>
          <a:xfrm>
            <a:off x="6504951" y="3899677"/>
            <a:ext cx="1805863" cy="1906033"/>
          </a:xfrm>
          <a:prstGeom prst="ellipse">
            <a:avLst/>
          </a:prstGeom>
          <a:gradFill>
            <a:gsLst>
              <a:gs pos="9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13" name="אליפסה 12">
            <a:extLst>
              <a:ext uri="{FF2B5EF4-FFF2-40B4-BE49-F238E27FC236}">
                <a16:creationId xmlns:a16="http://schemas.microsoft.com/office/drawing/2014/main" id="{9479EC48-2A19-E1BA-F791-5ADF5DCF29A1}"/>
              </a:ext>
            </a:extLst>
          </p:cNvPr>
          <p:cNvSpPr/>
          <p:nvPr/>
        </p:nvSpPr>
        <p:spPr>
          <a:xfrm>
            <a:off x="3337155" y="3739916"/>
            <a:ext cx="1805863" cy="1906033"/>
          </a:xfrm>
          <a:prstGeom prst="ellipse">
            <a:avLst/>
          </a:prstGeom>
          <a:gradFill>
            <a:gsLst>
              <a:gs pos="9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pic>
        <p:nvPicPr>
          <p:cNvPr id="14" name="תמונה 13">
            <a:extLst>
              <a:ext uri="{FF2B5EF4-FFF2-40B4-BE49-F238E27FC236}">
                <a16:creationId xmlns:a16="http://schemas.microsoft.com/office/drawing/2014/main" id="{F5169A63-D046-D61B-FED6-E6D6AC74BA47}"/>
              </a:ext>
            </a:extLst>
          </p:cNvPr>
          <p:cNvPicPr>
            <a:picLocks noChangeAspect="1"/>
          </p:cNvPicPr>
          <p:nvPr/>
        </p:nvPicPr>
        <p:blipFill>
          <a:blip r:embed="rId6"/>
          <a:stretch>
            <a:fillRect/>
          </a:stretch>
        </p:blipFill>
        <p:spPr>
          <a:xfrm>
            <a:off x="9464787" y="3945630"/>
            <a:ext cx="1863352" cy="1863352"/>
          </a:xfrm>
          <a:prstGeom prst="ellipse">
            <a:avLst/>
          </a:prstGeom>
          <a:ln>
            <a:noFill/>
          </a:ln>
          <a:effectLst>
            <a:softEdge rad="112500"/>
          </a:effectLst>
        </p:spPr>
      </p:pic>
      <p:pic>
        <p:nvPicPr>
          <p:cNvPr id="17" name="תמונה 16">
            <a:extLst>
              <a:ext uri="{FF2B5EF4-FFF2-40B4-BE49-F238E27FC236}">
                <a16:creationId xmlns:a16="http://schemas.microsoft.com/office/drawing/2014/main" id="{EAE8E328-5394-6E10-34AB-1767610CE88F}"/>
              </a:ext>
            </a:extLst>
          </p:cNvPr>
          <p:cNvPicPr>
            <a:picLocks noChangeAspect="1"/>
          </p:cNvPicPr>
          <p:nvPr/>
        </p:nvPicPr>
        <p:blipFill>
          <a:blip r:embed="rId7"/>
          <a:stretch>
            <a:fillRect/>
          </a:stretch>
        </p:blipFill>
        <p:spPr>
          <a:xfrm>
            <a:off x="6479080" y="3952436"/>
            <a:ext cx="1915255" cy="1915255"/>
          </a:xfrm>
          <a:prstGeom prst="ellipse">
            <a:avLst/>
          </a:prstGeom>
          <a:ln>
            <a:noFill/>
          </a:ln>
          <a:effectLst>
            <a:softEdge rad="112500"/>
          </a:effectLst>
        </p:spPr>
      </p:pic>
      <p:sp>
        <p:nvSpPr>
          <p:cNvPr id="19" name="אליפסה 18">
            <a:extLst>
              <a:ext uri="{FF2B5EF4-FFF2-40B4-BE49-F238E27FC236}">
                <a16:creationId xmlns:a16="http://schemas.microsoft.com/office/drawing/2014/main" id="{E6BAE6C7-D53B-461C-261D-1C6BFE531DA3}"/>
              </a:ext>
            </a:extLst>
          </p:cNvPr>
          <p:cNvSpPr/>
          <p:nvPr/>
        </p:nvSpPr>
        <p:spPr>
          <a:xfrm>
            <a:off x="409388" y="3681918"/>
            <a:ext cx="1805863" cy="1906033"/>
          </a:xfrm>
          <a:prstGeom prst="ellipse">
            <a:avLst/>
          </a:prstGeom>
          <a:gradFill>
            <a:gsLst>
              <a:gs pos="9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pic>
        <p:nvPicPr>
          <p:cNvPr id="20" name="תמונה 19">
            <a:extLst>
              <a:ext uri="{FF2B5EF4-FFF2-40B4-BE49-F238E27FC236}">
                <a16:creationId xmlns:a16="http://schemas.microsoft.com/office/drawing/2014/main" id="{3F34B82A-77E5-AEF8-7DD7-5BA96884A580}"/>
              </a:ext>
            </a:extLst>
          </p:cNvPr>
          <p:cNvPicPr>
            <a:picLocks noChangeAspect="1"/>
          </p:cNvPicPr>
          <p:nvPr/>
        </p:nvPicPr>
        <p:blipFill>
          <a:blip r:embed="rId8"/>
          <a:stretch>
            <a:fillRect/>
          </a:stretch>
        </p:blipFill>
        <p:spPr>
          <a:xfrm>
            <a:off x="3282006" y="3758157"/>
            <a:ext cx="1913012" cy="1913012"/>
          </a:xfrm>
          <a:prstGeom prst="ellipse">
            <a:avLst/>
          </a:prstGeom>
          <a:ln>
            <a:noFill/>
          </a:ln>
          <a:effectLst>
            <a:softEdge rad="112500"/>
          </a:effectLst>
        </p:spPr>
      </p:pic>
      <p:pic>
        <p:nvPicPr>
          <p:cNvPr id="21" name="תמונה 20">
            <a:extLst>
              <a:ext uri="{FF2B5EF4-FFF2-40B4-BE49-F238E27FC236}">
                <a16:creationId xmlns:a16="http://schemas.microsoft.com/office/drawing/2014/main" id="{F0A49BCC-9A54-EDD9-0D7B-A2837EEF7B66}"/>
              </a:ext>
            </a:extLst>
          </p:cNvPr>
          <p:cNvPicPr>
            <a:picLocks noChangeAspect="1"/>
          </p:cNvPicPr>
          <p:nvPr/>
        </p:nvPicPr>
        <p:blipFill>
          <a:blip r:embed="rId9"/>
          <a:stretch>
            <a:fillRect/>
          </a:stretch>
        </p:blipFill>
        <p:spPr>
          <a:xfrm>
            <a:off x="370675" y="3787717"/>
            <a:ext cx="1933632" cy="1933632"/>
          </a:xfrm>
          <a:prstGeom prst="ellipse">
            <a:avLst/>
          </a:prstGeom>
          <a:ln>
            <a:noFill/>
          </a:ln>
          <a:effectLst>
            <a:softEdge rad="112500"/>
          </a:effectLst>
        </p:spPr>
      </p:pic>
      <p:cxnSp>
        <p:nvCxnSpPr>
          <p:cNvPr id="23" name="מחבר חץ ישר 22">
            <a:extLst>
              <a:ext uri="{FF2B5EF4-FFF2-40B4-BE49-F238E27FC236}">
                <a16:creationId xmlns:a16="http://schemas.microsoft.com/office/drawing/2014/main" id="{87A331D4-E15C-5E1F-201C-41F92A9BE175}"/>
              </a:ext>
            </a:extLst>
          </p:cNvPr>
          <p:cNvCxnSpPr>
            <a:cxnSpLocks/>
            <a:stCxn id="3" idx="6"/>
            <a:endCxn id="4" idx="1"/>
          </p:cNvCxnSpPr>
          <p:nvPr/>
        </p:nvCxnSpPr>
        <p:spPr>
          <a:xfrm>
            <a:off x="6856167" y="2439142"/>
            <a:ext cx="2901828" cy="1726314"/>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28" name="מחבר חץ ישר 27">
            <a:extLst>
              <a:ext uri="{FF2B5EF4-FFF2-40B4-BE49-F238E27FC236}">
                <a16:creationId xmlns:a16="http://schemas.microsoft.com/office/drawing/2014/main" id="{202D18CB-9F40-1EBF-2216-AA3482362CAC}"/>
              </a:ext>
            </a:extLst>
          </p:cNvPr>
          <p:cNvCxnSpPr>
            <a:cxnSpLocks/>
            <a:stCxn id="3" idx="5"/>
            <a:endCxn id="5" idx="1"/>
          </p:cNvCxnSpPr>
          <p:nvPr/>
        </p:nvCxnSpPr>
        <p:spPr>
          <a:xfrm>
            <a:off x="6576013" y="3115494"/>
            <a:ext cx="193401" cy="106331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מחבר חץ ישר 29">
            <a:extLst>
              <a:ext uri="{FF2B5EF4-FFF2-40B4-BE49-F238E27FC236}">
                <a16:creationId xmlns:a16="http://schemas.microsoft.com/office/drawing/2014/main" id="{D283FDC4-15A5-04EA-F5C2-74C6A0529DAC}"/>
              </a:ext>
            </a:extLst>
          </p:cNvPr>
          <p:cNvCxnSpPr>
            <a:cxnSpLocks/>
            <a:stCxn id="3" idx="3"/>
            <a:endCxn id="20" idx="7"/>
          </p:cNvCxnSpPr>
          <p:nvPr/>
        </p:nvCxnSpPr>
        <p:spPr>
          <a:xfrm flipH="1">
            <a:off x="4914864" y="3115494"/>
            <a:ext cx="308444" cy="9228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מחבר חץ ישר 31">
            <a:extLst>
              <a:ext uri="{FF2B5EF4-FFF2-40B4-BE49-F238E27FC236}">
                <a16:creationId xmlns:a16="http://schemas.microsoft.com/office/drawing/2014/main" id="{93508651-837F-8C3C-FE5A-83E352AD3025}"/>
              </a:ext>
            </a:extLst>
          </p:cNvPr>
          <p:cNvCxnSpPr>
            <a:cxnSpLocks/>
            <a:stCxn id="3" idx="2"/>
            <a:endCxn id="21" idx="7"/>
          </p:cNvCxnSpPr>
          <p:nvPr/>
        </p:nvCxnSpPr>
        <p:spPr>
          <a:xfrm flipH="1">
            <a:off x="2021133" y="2439142"/>
            <a:ext cx="2922021" cy="163174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2" name="תיבת טקסט 51">
            <a:extLst>
              <a:ext uri="{FF2B5EF4-FFF2-40B4-BE49-F238E27FC236}">
                <a16:creationId xmlns:a16="http://schemas.microsoft.com/office/drawing/2014/main" id="{6B3181DE-ED86-DE46-2407-79ED851174B2}"/>
              </a:ext>
            </a:extLst>
          </p:cNvPr>
          <p:cNvSpPr txBox="1"/>
          <p:nvPr/>
        </p:nvSpPr>
        <p:spPr>
          <a:xfrm>
            <a:off x="9120019" y="5706659"/>
            <a:ext cx="2552887" cy="646331"/>
          </a:xfrm>
          <a:prstGeom prst="rect">
            <a:avLst/>
          </a:prstGeom>
          <a:noFill/>
        </p:spPr>
        <p:txBody>
          <a:bodyPr wrap="square">
            <a:spAutoFit/>
          </a:bodyPr>
          <a:lstStyle/>
          <a:p>
            <a:pPr algn="ctr"/>
            <a:r>
              <a:rPr lang="he-IL" dirty="0"/>
              <a:t>מנהל המחלקה הכלכלית</a:t>
            </a:r>
          </a:p>
          <a:p>
            <a:pPr algn="ctr"/>
            <a:r>
              <a:rPr lang="he-IL" dirty="0"/>
              <a:t> ומנהלת תחבורה ציבורית</a:t>
            </a:r>
          </a:p>
        </p:txBody>
      </p:sp>
      <p:sp>
        <p:nvSpPr>
          <p:cNvPr id="54" name="תיבת טקסט 53">
            <a:extLst>
              <a:ext uri="{FF2B5EF4-FFF2-40B4-BE49-F238E27FC236}">
                <a16:creationId xmlns:a16="http://schemas.microsoft.com/office/drawing/2014/main" id="{2FDF15DA-4042-B3C5-4F84-B658359B3AA2}"/>
              </a:ext>
            </a:extLst>
          </p:cNvPr>
          <p:cNvSpPr txBox="1"/>
          <p:nvPr/>
        </p:nvSpPr>
        <p:spPr>
          <a:xfrm rot="21186859">
            <a:off x="9420939" y="3781958"/>
            <a:ext cx="1550716" cy="512706"/>
          </a:xfrm>
          <a:prstGeom prst="rect">
            <a:avLst/>
          </a:prstGeom>
          <a:noFill/>
        </p:spPr>
        <p:txBody>
          <a:bodyPr wrap="square">
            <a:prstTxWarp prst="textArchUp">
              <a:avLst/>
            </a:prstTxWarp>
            <a:spAutoFit/>
          </a:bodyPr>
          <a:lstStyle/>
          <a:p>
            <a:r>
              <a:rPr lang="he-IL" sz="2000" b="1" dirty="0">
                <a:solidFill>
                  <a:srgbClr val="002060"/>
                </a:solidFill>
                <a:latin typeface="David" panose="020E0502060401010101" pitchFamily="34" charset="-79"/>
                <a:cs typeface="David" panose="020E0502060401010101" pitchFamily="34" charset="-79"/>
              </a:rPr>
              <a:t>נמרוד פרנסיס</a:t>
            </a:r>
          </a:p>
        </p:txBody>
      </p:sp>
      <p:sp>
        <p:nvSpPr>
          <p:cNvPr id="67" name="תיבת טקסט 66">
            <a:extLst>
              <a:ext uri="{FF2B5EF4-FFF2-40B4-BE49-F238E27FC236}">
                <a16:creationId xmlns:a16="http://schemas.microsoft.com/office/drawing/2014/main" id="{E00EFC30-B418-0A81-38BE-D5F51597DBD6}"/>
              </a:ext>
            </a:extLst>
          </p:cNvPr>
          <p:cNvSpPr txBox="1"/>
          <p:nvPr/>
        </p:nvSpPr>
        <p:spPr>
          <a:xfrm rot="21289479">
            <a:off x="6524446" y="3812492"/>
            <a:ext cx="1476810" cy="504978"/>
          </a:xfrm>
          <a:prstGeom prst="rect">
            <a:avLst/>
          </a:prstGeom>
          <a:noFill/>
        </p:spPr>
        <p:txBody>
          <a:bodyPr wrap="square">
            <a:prstTxWarp prst="textArchUp">
              <a:avLst/>
            </a:prstTxWarp>
            <a:spAutoFit/>
          </a:bodyPr>
          <a:lstStyle/>
          <a:p>
            <a:r>
              <a:rPr lang="he-IL" sz="2000" b="1" dirty="0">
                <a:solidFill>
                  <a:srgbClr val="002060"/>
                </a:solidFill>
                <a:latin typeface="David" panose="020E0502060401010101" pitchFamily="34" charset="-79"/>
                <a:cs typeface="David" panose="020E0502060401010101" pitchFamily="34" charset="-79"/>
              </a:rPr>
              <a:t>עודד </a:t>
            </a:r>
            <a:r>
              <a:rPr lang="he-IL" sz="2000" b="1" dirty="0" err="1">
                <a:solidFill>
                  <a:srgbClr val="002060"/>
                </a:solidFill>
                <a:latin typeface="David" panose="020E0502060401010101" pitchFamily="34" charset="-79"/>
                <a:cs typeface="David" panose="020E0502060401010101" pitchFamily="34" charset="-79"/>
              </a:rPr>
              <a:t>סטקלוב</a:t>
            </a:r>
            <a:endParaRPr lang="he-IL" sz="2000" b="1" dirty="0">
              <a:solidFill>
                <a:srgbClr val="002060"/>
              </a:solidFill>
              <a:latin typeface="David" panose="020E0502060401010101" pitchFamily="34" charset="-79"/>
              <a:cs typeface="David" panose="020E0502060401010101" pitchFamily="34" charset="-79"/>
            </a:endParaRPr>
          </a:p>
        </p:txBody>
      </p:sp>
      <p:sp>
        <p:nvSpPr>
          <p:cNvPr id="69" name="תיבת טקסט 68">
            <a:extLst>
              <a:ext uri="{FF2B5EF4-FFF2-40B4-BE49-F238E27FC236}">
                <a16:creationId xmlns:a16="http://schemas.microsoft.com/office/drawing/2014/main" id="{09086BDC-EF7A-CDCD-78BB-B7BBC33E23FF}"/>
              </a:ext>
            </a:extLst>
          </p:cNvPr>
          <p:cNvSpPr txBox="1"/>
          <p:nvPr/>
        </p:nvSpPr>
        <p:spPr>
          <a:xfrm>
            <a:off x="6076067" y="5691798"/>
            <a:ext cx="2663629" cy="646331"/>
          </a:xfrm>
          <a:prstGeom prst="rect">
            <a:avLst/>
          </a:prstGeom>
          <a:noFill/>
        </p:spPr>
        <p:txBody>
          <a:bodyPr wrap="square">
            <a:spAutoFit/>
          </a:bodyPr>
          <a:lstStyle/>
          <a:p>
            <a:pPr algn="ctr"/>
            <a:r>
              <a:rPr lang="he-IL" dirty="0"/>
              <a:t>מנהל תחום מחקר</a:t>
            </a:r>
          </a:p>
          <a:p>
            <a:pPr algn="ctr"/>
            <a:r>
              <a:rPr lang="he-IL" dirty="0"/>
              <a:t> ושלטון מקומי</a:t>
            </a:r>
          </a:p>
        </p:txBody>
      </p:sp>
      <p:sp>
        <p:nvSpPr>
          <p:cNvPr id="73" name="תיבת טקסט 72">
            <a:extLst>
              <a:ext uri="{FF2B5EF4-FFF2-40B4-BE49-F238E27FC236}">
                <a16:creationId xmlns:a16="http://schemas.microsoft.com/office/drawing/2014/main" id="{A252CAA3-2247-D07C-B71E-BE3DC69DED3F}"/>
              </a:ext>
            </a:extLst>
          </p:cNvPr>
          <p:cNvSpPr txBox="1"/>
          <p:nvPr/>
        </p:nvSpPr>
        <p:spPr>
          <a:xfrm rot="21023559">
            <a:off x="3312830" y="3645249"/>
            <a:ext cx="1476809" cy="562517"/>
          </a:xfrm>
          <a:prstGeom prst="rect">
            <a:avLst/>
          </a:prstGeom>
          <a:noFill/>
        </p:spPr>
        <p:txBody>
          <a:bodyPr wrap="square">
            <a:prstTxWarp prst="textArchUp">
              <a:avLst/>
            </a:prstTxWarp>
            <a:spAutoFit/>
          </a:bodyPr>
          <a:lstStyle/>
          <a:p>
            <a:r>
              <a:rPr lang="he-IL" sz="2000" b="1" dirty="0">
                <a:solidFill>
                  <a:srgbClr val="002060"/>
                </a:solidFill>
                <a:latin typeface="David" panose="020E0502060401010101" pitchFamily="34" charset="-79"/>
                <a:cs typeface="David" panose="020E0502060401010101" pitchFamily="34" charset="-79"/>
              </a:rPr>
              <a:t>אלינה </a:t>
            </a:r>
            <a:r>
              <a:rPr lang="he-IL" sz="2000" b="1" dirty="0" err="1">
                <a:solidFill>
                  <a:srgbClr val="002060"/>
                </a:solidFill>
                <a:latin typeface="David" panose="020E0502060401010101" pitchFamily="34" charset="-79"/>
                <a:cs typeface="David" panose="020E0502060401010101" pitchFamily="34" charset="-79"/>
              </a:rPr>
              <a:t>רוסין</a:t>
            </a:r>
            <a:endParaRPr lang="he-IL" sz="2000" b="1" dirty="0">
              <a:solidFill>
                <a:srgbClr val="002060"/>
              </a:solidFill>
              <a:latin typeface="David" panose="020E0502060401010101" pitchFamily="34" charset="-79"/>
              <a:cs typeface="David" panose="020E0502060401010101" pitchFamily="34" charset="-79"/>
            </a:endParaRPr>
          </a:p>
        </p:txBody>
      </p:sp>
      <p:sp>
        <p:nvSpPr>
          <p:cNvPr id="76" name="תיבת טקסט 75">
            <a:extLst>
              <a:ext uri="{FF2B5EF4-FFF2-40B4-BE49-F238E27FC236}">
                <a16:creationId xmlns:a16="http://schemas.microsoft.com/office/drawing/2014/main" id="{76B5DFF8-4E69-38EF-7DDA-655F3341C24D}"/>
              </a:ext>
            </a:extLst>
          </p:cNvPr>
          <p:cNvSpPr txBox="1"/>
          <p:nvPr/>
        </p:nvSpPr>
        <p:spPr>
          <a:xfrm>
            <a:off x="3075131" y="5634761"/>
            <a:ext cx="2071473" cy="646331"/>
          </a:xfrm>
          <a:prstGeom prst="rect">
            <a:avLst/>
          </a:prstGeom>
          <a:noFill/>
        </p:spPr>
        <p:txBody>
          <a:bodyPr wrap="square">
            <a:spAutoFit/>
          </a:bodyPr>
          <a:lstStyle/>
          <a:p>
            <a:r>
              <a:rPr lang="he-IL" dirty="0"/>
              <a:t>מנהלת תחום כלכלה,</a:t>
            </a:r>
          </a:p>
          <a:p>
            <a:r>
              <a:rPr lang="he-IL" dirty="0"/>
              <a:t>אסטרטגיה ומכרזים</a:t>
            </a:r>
          </a:p>
        </p:txBody>
      </p:sp>
      <p:sp>
        <p:nvSpPr>
          <p:cNvPr id="81" name="תיבת טקסט 80">
            <a:extLst>
              <a:ext uri="{FF2B5EF4-FFF2-40B4-BE49-F238E27FC236}">
                <a16:creationId xmlns:a16="http://schemas.microsoft.com/office/drawing/2014/main" id="{8B77CDCC-F89B-6CA0-5055-DCD3DBC53DE2}"/>
              </a:ext>
            </a:extLst>
          </p:cNvPr>
          <p:cNvSpPr txBox="1"/>
          <p:nvPr/>
        </p:nvSpPr>
        <p:spPr>
          <a:xfrm rot="20830109">
            <a:off x="530586" y="3614831"/>
            <a:ext cx="1142541" cy="515304"/>
          </a:xfrm>
          <a:prstGeom prst="rect">
            <a:avLst/>
          </a:prstGeom>
          <a:noFill/>
        </p:spPr>
        <p:txBody>
          <a:bodyPr wrap="square">
            <a:prstTxWarp prst="textArchUp">
              <a:avLst/>
            </a:prstTxWarp>
            <a:spAutoFit/>
          </a:bodyPr>
          <a:lstStyle/>
          <a:p>
            <a:r>
              <a:rPr lang="he-IL" sz="2000" b="1" dirty="0">
                <a:solidFill>
                  <a:srgbClr val="002060"/>
                </a:solidFill>
                <a:latin typeface="David" panose="020E0502060401010101" pitchFamily="34" charset="-79"/>
                <a:cs typeface="David" panose="020E0502060401010101" pitchFamily="34" charset="-79"/>
              </a:rPr>
              <a:t>ערן הורן</a:t>
            </a:r>
          </a:p>
        </p:txBody>
      </p:sp>
      <p:sp>
        <p:nvSpPr>
          <p:cNvPr id="86" name="תיבת טקסט 85">
            <a:extLst>
              <a:ext uri="{FF2B5EF4-FFF2-40B4-BE49-F238E27FC236}">
                <a16:creationId xmlns:a16="http://schemas.microsoft.com/office/drawing/2014/main" id="{C8F7F81D-4627-AC94-667E-18D4ABC7908A}"/>
              </a:ext>
            </a:extLst>
          </p:cNvPr>
          <p:cNvSpPr txBox="1"/>
          <p:nvPr/>
        </p:nvSpPr>
        <p:spPr>
          <a:xfrm>
            <a:off x="280379" y="5566381"/>
            <a:ext cx="1952875" cy="646331"/>
          </a:xfrm>
          <a:prstGeom prst="rect">
            <a:avLst/>
          </a:prstGeom>
          <a:noFill/>
        </p:spPr>
        <p:txBody>
          <a:bodyPr wrap="square">
            <a:spAutoFit/>
          </a:bodyPr>
          <a:lstStyle/>
          <a:p>
            <a:pPr algn="ctr"/>
            <a:r>
              <a:rPr lang="he-IL" dirty="0"/>
              <a:t>סמנכ"ל </a:t>
            </a:r>
          </a:p>
          <a:p>
            <a:pPr algn="ctr"/>
            <a:r>
              <a:rPr lang="he-IL" dirty="0"/>
              <a:t>פיתוח עסקי</a:t>
            </a:r>
          </a:p>
        </p:txBody>
      </p:sp>
      <p:sp>
        <p:nvSpPr>
          <p:cNvPr id="90" name="תיבת טקסט 89">
            <a:extLst>
              <a:ext uri="{FF2B5EF4-FFF2-40B4-BE49-F238E27FC236}">
                <a16:creationId xmlns:a16="http://schemas.microsoft.com/office/drawing/2014/main" id="{0BAB848F-4494-885D-7478-67105A11364D}"/>
              </a:ext>
            </a:extLst>
          </p:cNvPr>
          <p:cNvSpPr txBox="1"/>
          <p:nvPr/>
        </p:nvSpPr>
        <p:spPr>
          <a:xfrm>
            <a:off x="4990091" y="3292244"/>
            <a:ext cx="1476810" cy="369332"/>
          </a:xfrm>
          <a:prstGeom prst="rect">
            <a:avLst/>
          </a:prstGeom>
          <a:noFill/>
        </p:spPr>
        <p:txBody>
          <a:bodyPr wrap="square">
            <a:spAutoFit/>
          </a:bodyPr>
          <a:lstStyle/>
          <a:p>
            <a:r>
              <a:rPr lang="he-IL" dirty="0"/>
              <a:t>מנכ"ל ומייסד</a:t>
            </a:r>
          </a:p>
        </p:txBody>
      </p:sp>
      <p:sp>
        <p:nvSpPr>
          <p:cNvPr id="92" name="תיבת טקסט 91">
            <a:extLst>
              <a:ext uri="{FF2B5EF4-FFF2-40B4-BE49-F238E27FC236}">
                <a16:creationId xmlns:a16="http://schemas.microsoft.com/office/drawing/2014/main" id="{940D57B2-A5C3-3844-682F-C48B5F395956}"/>
              </a:ext>
            </a:extLst>
          </p:cNvPr>
          <p:cNvSpPr txBox="1"/>
          <p:nvPr/>
        </p:nvSpPr>
        <p:spPr>
          <a:xfrm>
            <a:off x="5195018" y="1377740"/>
            <a:ext cx="1339064" cy="398965"/>
          </a:xfrm>
          <a:prstGeom prst="rect">
            <a:avLst/>
          </a:prstGeom>
          <a:noFill/>
        </p:spPr>
        <p:txBody>
          <a:bodyPr wrap="square">
            <a:prstTxWarp prst="textArchUp">
              <a:avLst/>
            </a:prstTxWarp>
            <a:spAutoFit/>
          </a:bodyPr>
          <a:lstStyle/>
          <a:p>
            <a:r>
              <a:rPr lang="he-IL" sz="2000" b="1" dirty="0">
                <a:solidFill>
                  <a:srgbClr val="002060"/>
                </a:solidFill>
                <a:latin typeface="David" panose="020E0502060401010101" pitchFamily="34" charset="-79"/>
                <a:cs typeface="David" panose="020E0502060401010101" pitchFamily="34" charset="-79"/>
              </a:rPr>
              <a:t>אמנון </a:t>
            </a:r>
            <a:r>
              <a:rPr lang="he-IL" sz="2000" b="1" dirty="0" err="1">
                <a:solidFill>
                  <a:srgbClr val="002060"/>
                </a:solidFill>
                <a:latin typeface="David" panose="020E0502060401010101" pitchFamily="34" charset="-79"/>
                <a:cs typeface="David" panose="020E0502060401010101" pitchFamily="34" charset="-79"/>
              </a:rPr>
              <a:t>אייכלברג</a:t>
            </a:r>
            <a:endParaRPr lang="he-IL" sz="2000" b="1" dirty="0">
              <a:solidFill>
                <a:srgbClr val="002060"/>
              </a:solidFill>
              <a:latin typeface="David" panose="020E0502060401010101" pitchFamily="34" charset="-79"/>
              <a:cs typeface="David" panose="020E0502060401010101" pitchFamily="34" charset="-79"/>
            </a:endParaRPr>
          </a:p>
        </p:txBody>
      </p:sp>
      <p:sp>
        <p:nvSpPr>
          <p:cNvPr id="114" name="מלבן: פינה מקופלת 113">
            <a:extLst>
              <a:ext uri="{FF2B5EF4-FFF2-40B4-BE49-F238E27FC236}">
                <a16:creationId xmlns:a16="http://schemas.microsoft.com/office/drawing/2014/main" id="{5479D2FA-7E6E-B9B2-1AC5-1F0E365F881A}"/>
              </a:ext>
            </a:extLst>
          </p:cNvPr>
          <p:cNvSpPr/>
          <p:nvPr/>
        </p:nvSpPr>
        <p:spPr>
          <a:xfrm>
            <a:off x="8479555" y="1641914"/>
            <a:ext cx="3382624" cy="1308751"/>
          </a:xfrm>
          <a:prstGeom prst="foldedCorner">
            <a:avLst/>
          </a:prstGeom>
          <a:gradFill>
            <a:gsLst>
              <a:gs pos="900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b="1" dirty="0">
                <a:solidFill>
                  <a:schemeClr val="tx1"/>
                </a:solidFill>
                <a:latin typeface="David" panose="020E0502060401010101" pitchFamily="34" charset="-79"/>
                <a:cs typeface="David" panose="020E0502060401010101" pitchFamily="34" charset="-79"/>
              </a:rPr>
              <a:t>החברה מונה כיום כ- 60 עובדים אקדמאים, בתחומים מגוונים כגון: כלכלה, מנהל עסקים,  תכנון ערים, עו"ד ועוד. </a:t>
            </a:r>
          </a:p>
        </p:txBody>
      </p:sp>
      <p:pic>
        <p:nvPicPr>
          <p:cNvPr id="115" name="תמונה 114">
            <a:extLst>
              <a:ext uri="{FF2B5EF4-FFF2-40B4-BE49-F238E27FC236}">
                <a16:creationId xmlns:a16="http://schemas.microsoft.com/office/drawing/2014/main" id="{EF998D92-D894-4B30-6CCF-ABDCB904CD51}"/>
              </a:ext>
            </a:extLst>
          </p:cNvPr>
          <p:cNvPicPr>
            <a:picLocks noChangeAspect="1"/>
          </p:cNvPicPr>
          <p:nvPr/>
        </p:nvPicPr>
        <p:blipFill>
          <a:blip r:embed="rId10"/>
          <a:stretch>
            <a:fillRect/>
          </a:stretch>
        </p:blipFill>
        <p:spPr>
          <a:xfrm>
            <a:off x="374255" y="1483777"/>
            <a:ext cx="3423973" cy="139839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60375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4"/>
          <a:srcRect l="28966"/>
          <a:stretch/>
        </p:blipFill>
        <p:spPr>
          <a:xfrm>
            <a:off x="9065342" y="190626"/>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6</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825865" y="445952"/>
            <a:ext cx="4389343"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שרותי החברה</a:t>
            </a:r>
          </a:p>
        </p:txBody>
      </p:sp>
      <p:graphicFrame>
        <p:nvGraphicFramePr>
          <p:cNvPr id="4" name="דיאגרמה 3">
            <a:extLst>
              <a:ext uri="{FF2B5EF4-FFF2-40B4-BE49-F238E27FC236}">
                <a16:creationId xmlns:a16="http://schemas.microsoft.com/office/drawing/2014/main" id="{9EBA5EA1-8DE4-B32D-ACDD-29B3E45F0C33}"/>
              </a:ext>
            </a:extLst>
          </p:cNvPr>
          <p:cNvGraphicFramePr/>
          <p:nvPr>
            <p:extLst>
              <p:ext uri="{D42A27DB-BD31-4B8C-83A1-F6EECF244321}">
                <p14:modId xmlns:p14="http://schemas.microsoft.com/office/powerpoint/2010/main" val="3293470276"/>
              </p:ext>
            </p:extLst>
          </p:nvPr>
        </p:nvGraphicFramePr>
        <p:xfrm>
          <a:off x="1438297" y="1461615"/>
          <a:ext cx="9400129" cy="24567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5" name="דיאגרמה 4">
            <a:extLst>
              <a:ext uri="{FF2B5EF4-FFF2-40B4-BE49-F238E27FC236}">
                <a16:creationId xmlns:a16="http://schemas.microsoft.com/office/drawing/2014/main" id="{454D3121-915D-17E1-3C12-9069556800A0}"/>
              </a:ext>
            </a:extLst>
          </p:cNvPr>
          <p:cNvGraphicFramePr/>
          <p:nvPr>
            <p:extLst>
              <p:ext uri="{D42A27DB-BD31-4B8C-83A1-F6EECF244321}">
                <p14:modId xmlns:p14="http://schemas.microsoft.com/office/powerpoint/2010/main" val="3387767541"/>
              </p:ext>
            </p:extLst>
          </p:nvPr>
        </p:nvGraphicFramePr>
        <p:xfrm>
          <a:off x="1438297" y="3966082"/>
          <a:ext cx="9400129" cy="245677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34501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4"/>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7</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4518763" y="719225"/>
            <a:ext cx="2935419"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ההשפעה</a:t>
            </a:r>
          </a:p>
        </p:txBody>
      </p:sp>
      <p:graphicFrame>
        <p:nvGraphicFramePr>
          <p:cNvPr id="5" name="דיאגרמה 4">
            <a:extLst>
              <a:ext uri="{FF2B5EF4-FFF2-40B4-BE49-F238E27FC236}">
                <a16:creationId xmlns:a16="http://schemas.microsoft.com/office/drawing/2014/main" id="{07BFF8E2-B011-6333-F8F4-56955BA7E533}"/>
              </a:ext>
            </a:extLst>
          </p:cNvPr>
          <p:cNvGraphicFramePr/>
          <p:nvPr>
            <p:extLst>
              <p:ext uri="{D42A27DB-BD31-4B8C-83A1-F6EECF244321}">
                <p14:modId xmlns:p14="http://schemas.microsoft.com/office/powerpoint/2010/main" val="3625171528"/>
              </p:ext>
            </p:extLst>
          </p:nvPr>
        </p:nvGraphicFramePr>
        <p:xfrm>
          <a:off x="363794" y="2005781"/>
          <a:ext cx="11655486" cy="40833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296025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8</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235323" y="-6206"/>
            <a:ext cx="5250155" cy="923330"/>
          </a:xfrm>
          <a:prstGeom prst="rect">
            <a:avLst/>
          </a:prstGeom>
          <a:noFill/>
        </p:spPr>
        <p:txBody>
          <a:bodyPr wrap="none" lIns="91440" tIns="45720" rIns="91440" bIns="45720">
            <a:spAutoFit/>
          </a:bodyPr>
          <a:lstStyle/>
          <a:p>
            <a:pPr algn="ctr"/>
            <a:r>
              <a:rPr lang="he-IL" sz="5400" b="0" cap="none" spc="0" dirty="0">
                <a:ln w="0"/>
                <a:solidFill>
                  <a:schemeClr val="accent1"/>
                </a:solidFill>
                <a:effectLst>
                  <a:outerShdw blurRad="38100" dist="25400" dir="5400000" algn="ctr" rotWithShape="0">
                    <a:srgbClr val="6E747A">
                      <a:alpha val="43000"/>
                    </a:srgbClr>
                  </a:outerShdw>
                </a:effectLst>
              </a:rPr>
              <a:t>מודל </a:t>
            </a:r>
            <a:r>
              <a:rPr lang="en-US" sz="5400" b="0" cap="none" spc="0" dirty="0">
                <a:ln w="0"/>
                <a:solidFill>
                  <a:schemeClr val="accent1"/>
                </a:solidFill>
                <a:effectLst>
                  <a:outerShdw blurRad="38100" dist="25400" dir="5400000" algn="ctr" rotWithShape="0">
                    <a:srgbClr val="6E747A">
                      <a:alpha val="43000"/>
                    </a:srgbClr>
                  </a:outerShdw>
                </a:effectLst>
              </a:rPr>
              <a:t>S</a:t>
            </a:r>
            <a:r>
              <a:rPr lang="he-IL" sz="5400" b="0" cap="none" spc="0" dirty="0">
                <a:ln w="0"/>
                <a:solidFill>
                  <a:schemeClr val="accent1"/>
                </a:solidFill>
                <a:effectLst>
                  <a:outerShdw blurRad="38100" dist="25400" dir="5400000" algn="ctr" rotWithShape="0">
                    <a:srgbClr val="6E747A">
                      <a:alpha val="43000"/>
                    </a:srgbClr>
                  </a:outerShdw>
                </a:effectLst>
              </a:rPr>
              <a:t>7 של </a:t>
            </a:r>
            <a:r>
              <a:rPr lang="he-IL" sz="5400" b="0" cap="none" spc="0" dirty="0" err="1">
                <a:ln w="0"/>
                <a:solidFill>
                  <a:schemeClr val="accent1"/>
                </a:solidFill>
                <a:effectLst>
                  <a:outerShdw blurRad="38100" dist="25400" dir="5400000" algn="ctr" rotWithShape="0">
                    <a:srgbClr val="6E747A">
                      <a:alpha val="43000"/>
                    </a:srgbClr>
                  </a:outerShdw>
                </a:effectLst>
              </a:rPr>
              <a:t>מקינזי</a:t>
            </a:r>
            <a:endParaRPr lang="he-IL" sz="5400" b="0" cap="none" spc="0" dirty="0">
              <a:ln w="0"/>
              <a:solidFill>
                <a:schemeClr val="accent1"/>
              </a:solidFill>
              <a:effectLst>
                <a:outerShdw blurRad="38100" dist="25400" dir="5400000" algn="ctr" rotWithShape="0">
                  <a:srgbClr val="6E747A">
                    <a:alpha val="43000"/>
                  </a:srgbClr>
                </a:outerShdw>
              </a:effectLst>
            </a:endParaRPr>
          </a:p>
        </p:txBody>
      </p:sp>
      <p:sp>
        <p:nvSpPr>
          <p:cNvPr id="18" name="אליפסה 17">
            <a:extLst>
              <a:ext uri="{FF2B5EF4-FFF2-40B4-BE49-F238E27FC236}">
                <a16:creationId xmlns:a16="http://schemas.microsoft.com/office/drawing/2014/main" id="{5C7F788F-E0F5-3278-D084-F768AD96A729}"/>
              </a:ext>
            </a:extLst>
          </p:cNvPr>
          <p:cNvSpPr/>
          <p:nvPr/>
        </p:nvSpPr>
        <p:spPr>
          <a:xfrm>
            <a:off x="3181473" y="2198223"/>
            <a:ext cx="1582993" cy="1128252"/>
          </a:xfrm>
          <a:prstGeom prst="ellipse">
            <a:avLst/>
          </a:prstGeom>
          <a:pattFill prst="pct5">
            <a:fgClr>
              <a:srgbClr val="0070C0"/>
            </a:fgClr>
            <a:bgClr>
              <a:schemeClr val="bg1"/>
            </a:bgClr>
          </a:pattFill>
          <a:ln>
            <a:solidFill>
              <a:srgbClr val="0070C0"/>
            </a:solidFill>
          </a:ln>
        </p:spPr>
        <p:style>
          <a:lnRef idx="2">
            <a:schemeClr val="dk1"/>
          </a:lnRef>
          <a:fillRef idx="1">
            <a:schemeClr val="lt1"/>
          </a:fillRef>
          <a:effectRef idx="0">
            <a:schemeClr val="dk1"/>
          </a:effectRef>
          <a:fontRef idx="minor">
            <a:schemeClr val="dk1"/>
          </a:fontRef>
        </p:style>
        <p:txBody>
          <a:bodyPr rtlCol="1" anchor="ctr"/>
          <a:lstStyle/>
          <a:p>
            <a:pPr algn="ctr"/>
            <a:r>
              <a:rPr lang="he-IL" b="1" dirty="0">
                <a:solidFill>
                  <a:srgbClr val="0070C0"/>
                </a:solidFill>
              </a:rPr>
              <a:t>ערכים משותפים</a:t>
            </a:r>
          </a:p>
        </p:txBody>
      </p:sp>
      <p:sp>
        <p:nvSpPr>
          <p:cNvPr id="19" name="אליפסה 18">
            <a:extLst>
              <a:ext uri="{FF2B5EF4-FFF2-40B4-BE49-F238E27FC236}">
                <a16:creationId xmlns:a16="http://schemas.microsoft.com/office/drawing/2014/main" id="{8A308946-CFBA-388F-5CD9-682CD8403EBB}"/>
              </a:ext>
            </a:extLst>
          </p:cNvPr>
          <p:cNvSpPr/>
          <p:nvPr/>
        </p:nvSpPr>
        <p:spPr>
          <a:xfrm>
            <a:off x="7427535" y="3156388"/>
            <a:ext cx="1582993" cy="1128252"/>
          </a:xfrm>
          <a:prstGeom prst="ellipse">
            <a:avLst/>
          </a:prstGeom>
          <a:pattFill prst="pct5">
            <a:fgClr>
              <a:srgbClr val="FFC000"/>
            </a:fgClr>
            <a:bgClr>
              <a:schemeClr val="bg1"/>
            </a:bgClr>
          </a:pattFill>
          <a:ln>
            <a:solidFill>
              <a:srgbClr val="FFC000"/>
            </a:solidFill>
          </a:ln>
        </p:spPr>
        <p:style>
          <a:lnRef idx="2">
            <a:schemeClr val="accent2"/>
          </a:lnRef>
          <a:fillRef idx="1">
            <a:schemeClr val="lt1"/>
          </a:fillRef>
          <a:effectRef idx="0">
            <a:schemeClr val="accent2"/>
          </a:effectRef>
          <a:fontRef idx="minor">
            <a:schemeClr val="dk1"/>
          </a:fontRef>
        </p:style>
        <p:txBody>
          <a:bodyPr rtlCol="1" anchor="ctr"/>
          <a:lstStyle/>
          <a:p>
            <a:pPr algn="ctr"/>
            <a:r>
              <a:rPr lang="he-IL" b="1" dirty="0">
                <a:solidFill>
                  <a:srgbClr val="FFC000"/>
                </a:solidFill>
              </a:rPr>
              <a:t>מבנה</a:t>
            </a:r>
          </a:p>
        </p:txBody>
      </p:sp>
      <p:sp>
        <p:nvSpPr>
          <p:cNvPr id="20" name="אליפסה 19">
            <a:extLst>
              <a:ext uri="{FF2B5EF4-FFF2-40B4-BE49-F238E27FC236}">
                <a16:creationId xmlns:a16="http://schemas.microsoft.com/office/drawing/2014/main" id="{F0AEA66B-7A04-6724-B5A2-114C7B521281}"/>
              </a:ext>
            </a:extLst>
          </p:cNvPr>
          <p:cNvSpPr/>
          <p:nvPr/>
        </p:nvSpPr>
        <p:spPr>
          <a:xfrm>
            <a:off x="3216843" y="3579812"/>
            <a:ext cx="1582993" cy="1128252"/>
          </a:xfrm>
          <a:prstGeom prst="ellipse">
            <a:avLst/>
          </a:prstGeom>
          <a:pattFill prst="pct5">
            <a:fgClr>
              <a:srgbClr val="00B050"/>
            </a:fgClr>
            <a:bgClr>
              <a:schemeClr val="bg1"/>
            </a:bgClr>
          </a:pattFill>
          <a:ln>
            <a:solidFill>
              <a:srgbClr val="00B050"/>
            </a:solidFill>
          </a:ln>
        </p:spPr>
        <p:style>
          <a:lnRef idx="2">
            <a:schemeClr val="accent3"/>
          </a:lnRef>
          <a:fillRef idx="1">
            <a:schemeClr val="lt1"/>
          </a:fillRef>
          <a:effectRef idx="0">
            <a:schemeClr val="accent3"/>
          </a:effectRef>
          <a:fontRef idx="minor">
            <a:schemeClr val="dk1"/>
          </a:fontRef>
        </p:style>
        <p:txBody>
          <a:bodyPr rtlCol="1" anchor="ctr"/>
          <a:lstStyle/>
          <a:p>
            <a:pPr algn="ctr"/>
            <a:r>
              <a:rPr lang="he-IL" b="1" dirty="0">
                <a:solidFill>
                  <a:srgbClr val="00B050"/>
                </a:solidFill>
              </a:rPr>
              <a:t>קישורים</a:t>
            </a:r>
          </a:p>
        </p:txBody>
      </p:sp>
      <p:sp>
        <p:nvSpPr>
          <p:cNvPr id="21" name="אליפסה 20">
            <a:extLst>
              <a:ext uri="{FF2B5EF4-FFF2-40B4-BE49-F238E27FC236}">
                <a16:creationId xmlns:a16="http://schemas.microsoft.com/office/drawing/2014/main" id="{F79F7E2C-EAC6-47DE-744A-E0BBFEDA3825}"/>
              </a:ext>
            </a:extLst>
          </p:cNvPr>
          <p:cNvSpPr/>
          <p:nvPr/>
        </p:nvSpPr>
        <p:spPr>
          <a:xfrm>
            <a:off x="3171639" y="5050769"/>
            <a:ext cx="1582993" cy="1128252"/>
          </a:xfrm>
          <a:prstGeom prst="ellipse">
            <a:avLst/>
          </a:prstGeom>
          <a:pattFill prst="pct5">
            <a:fgClr>
              <a:srgbClr val="0070C0"/>
            </a:fgClr>
            <a:bgClr>
              <a:schemeClr val="bg1"/>
            </a:bgClr>
          </a:pattFill>
        </p:spPr>
        <p:style>
          <a:lnRef idx="2">
            <a:schemeClr val="accent4"/>
          </a:lnRef>
          <a:fillRef idx="1">
            <a:schemeClr val="lt1"/>
          </a:fillRef>
          <a:effectRef idx="0">
            <a:schemeClr val="accent4"/>
          </a:effectRef>
          <a:fontRef idx="minor">
            <a:schemeClr val="dk1"/>
          </a:fontRef>
        </p:style>
        <p:txBody>
          <a:bodyPr rtlCol="1" anchor="ctr"/>
          <a:lstStyle/>
          <a:p>
            <a:pPr algn="ctr"/>
            <a:r>
              <a:rPr lang="he-IL" b="1" dirty="0">
                <a:solidFill>
                  <a:srgbClr val="00B0F0"/>
                </a:solidFill>
              </a:rPr>
              <a:t>כוח אדם</a:t>
            </a:r>
          </a:p>
        </p:txBody>
      </p:sp>
      <p:sp>
        <p:nvSpPr>
          <p:cNvPr id="22" name="אליפסה 21">
            <a:extLst>
              <a:ext uri="{FF2B5EF4-FFF2-40B4-BE49-F238E27FC236}">
                <a16:creationId xmlns:a16="http://schemas.microsoft.com/office/drawing/2014/main" id="{D530F25C-686C-F14C-B805-4E610D418484}"/>
              </a:ext>
            </a:extLst>
          </p:cNvPr>
          <p:cNvSpPr/>
          <p:nvPr/>
        </p:nvSpPr>
        <p:spPr>
          <a:xfrm>
            <a:off x="3192945" y="859990"/>
            <a:ext cx="1582993" cy="1128252"/>
          </a:xfrm>
          <a:prstGeom prst="ellipse">
            <a:avLst/>
          </a:prstGeom>
          <a:pattFill prst="pct5">
            <a:fgClr>
              <a:srgbClr val="C00000"/>
            </a:fgClr>
            <a:bgClr>
              <a:schemeClr val="bg1"/>
            </a:bgClr>
          </a:pattFill>
          <a:ln>
            <a:solidFill>
              <a:srgbClr val="C00000"/>
            </a:solidFill>
          </a:ln>
        </p:spPr>
        <p:style>
          <a:lnRef idx="2">
            <a:schemeClr val="accent6"/>
          </a:lnRef>
          <a:fillRef idx="1">
            <a:schemeClr val="lt1"/>
          </a:fillRef>
          <a:effectRef idx="0">
            <a:schemeClr val="accent6"/>
          </a:effectRef>
          <a:fontRef idx="minor">
            <a:schemeClr val="dk1"/>
          </a:fontRef>
        </p:style>
        <p:txBody>
          <a:bodyPr rtlCol="1" anchor="ctr"/>
          <a:lstStyle/>
          <a:p>
            <a:pPr algn="ctr"/>
            <a:r>
              <a:rPr lang="he-IL" b="1" dirty="0">
                <a:solidFill>
                  <a:srgbClr val="C00000"/>
                </a:solidFill>
              </a:rPr>
              <a:t>סגנון ניהולי</a:t>
            </a:r>
          </a:p>
        </p:txBody>
      </p:sp>
      <p:sp>
        <p:nvSpPr>
          <p:cNvPr id="23" name="אליפסה 22">
            <a:extLst>
              <a:ext uri="{FF2B5EF4-FFF2-40B4-BE49-F238E27FC236}">
                <a16:creationId xmlns:a16="http://schemas.microsoft.com/office/drawing/2014/main" id="{6903ABC4-C3CB-A2C8-5AE0-33E482B357FD}"/>
              </a:ext>
            </a:extLst>
          </p:cNvPr>
          <p:cNvSpPr/>
          <p:nvPr/>
        </p:nvSpPr>
        <p:spPr>
          <a:xfrm>
            <a:off x="7427535" y="5057203"/>
            <a:ext cx="1582993" cy="1128252"/>
          </a:xfrm>
          <a:prstGeom prst="ellipse">
            <a:avLst/>
          </a:prstGeom>
          <a:pattFill prst="pct5">
            <a:fgClr>
              <a:srgbClr val="7030A0"/>
            </a:fgClr>
            <a:bgClr>
              <a:schemeClr val="bg1"/>
            </a:bgClr>
          </a:pattFill>
        </p:spPr>
        <p:style>
          <a:lnRef idx="2">
            <a:schemeClr val="accent5"/>
          </a:lnRef>
          <a:fillRef idx="1">
            <a:schemeClr val="lt1"/>
          </a:fillRef>
          <a:effectRef idx="0">
            <a:schemeClr val="accent5"/>
          </a:effectRef>
          <a:fontRef idx="minor">
            <a:schemeClr val="dk1"/>
          </a:fontRef>
        </p:style>
        <p:txBody>
          <a:bodyPr rtlCol="1" anchor="ctr"/>
          <a:lstStyle/>
          <a:p>
            <a:pPr algn="ctr"/>
            <a:r>
              <a:rPr lang="he-IL" b="1" dirty="0">
                <a:solidFill>
                  <a:srgbClr val="7030A0"/>
                </a:solidFill>
              </a:rPr>
              <a:t>מערכות</a:t>
            </a:r>
          </a:p>
        </p:txBody>
      </p:sp>
      <p:sp>
        <p:nvSpPr>
          <p:cNvPr id="24" name="אליפסה 23">
            <a:extLst>
              <a:ext uri="{FF2B5EF4-FFF2-40B4-BE49-F238E27FC236}">
                <a16:creationId xmlns:a16="http://schemas.microsoft.com/office/drawing/2014/main" id="{911E6A10-C5DA-8A07-D544-D31495B1C26E}"/>
              </a:ext>
            </a:extLst>
          </p:cNvPr>
          <p:cNvSpPr/>
          <p:nvPr/>
        </p:nvSpPr>
        <p:spPr>
          <a:xfrm>
            <a:off x="7482349" y="1370747"/>
            <a:ext cx="1582993" cy="1128252"/>
          </a:xfrm>
          <a:prstGeom prst="ellipse">
            <a:avLst/>
          </a:prstGeom>
          <a:pattFill prst="pct5">
            <a:fgClr>
              <a:srgbClr val="FF0000"/>
            </a:fgClr>
            <a:bgClr>
              <a:schemeClr val="bg1"/>
            </a:bgClr>
          </a:pattFill>
          <a:ln>
            <a:solidFill>
              <a:srgbClr val="FF0000"/>
            </a:solidFill>
          </a:ln>
        </p:spPr>
        <p:style>
          <a:lnRef idx="2">
            <a:schemeClr val="accent4"/>
          </a:lnRef>
          <a:fillRef idx="1">
            <a:schemeClr val="lt1"/>
          </a:fillRef>
          <a:effectRef idx="0">
            <a:schemeClr val="accent4"/>
          </a:effectRef>
          <a:fontRef idx="minor">
            <a:schemeClr val="dk1"/>
          </a:fontRef>
        </p:style>
        <p:txBody>
          <a:bodyPr rtlCol="1" anchor="ctr"/>
          <a:lstStyle/>
          <a:p>
            <a:pPr algn="ctr"/>
            <a:r>
              <a:rPr lang="he-IL" sz="1600" b="1" dirty="0">
                <a:solidFill>
                  <a:srgbClr val="FF0000"/>
                </a:solidFill>
              </a:rPr>
              <a:t>אסטרטגיה</a:t>
            </a:r>
          </a:p>
        </p:txBody>
      </p:sp>
      <p:sp>
        <p:nvSpPr>
          <p:cNvPr id="26" name="אליפסה 25">
            <a:extLst>
              <a:ext uri="{FF2B5EF4-FFF2-40B4-BE49-F238E27FC236}">
                <a16:creationId xmlns:a16="http://schemas.microsoft.com/office/drawing/2014/main" id="{1CF4E882-B7A5-33EB-FA5B-7DEF0A49B12E}"/>
              </a:ext>
            </a:extLst>
          </p:cNvPr>
          <p:cNvSpPr/>
          <p:nvPr/>
        </p:nvSpPr>
        <p:spPr>
          <a:xfrm>
            <a:off x="5223759" y="2886084"/>
            <a:ext cx="1731370" cy="1685512"/>
          </a:xfrm>
          <a:prstGeom prst="ellipse">
            <a:avLst/>
          </a:prstGeom>
          <a:pattFill prst="pct5">
            <a:fgClr>
              <a:schemeClr val="tx1"/>
            </a:fgClr>
            <a:bgClr>
              <a:schemeClr val="bg1"/>
            </a:bgClr>
          </a:pattFill>
        </p:spPr>
        <p:style>
          <a:lnRef idx="2">
            <a:schemeClr val="dk1"/>
          </a:lnRef>
          <a:fillRef idx="1">
            <a:schemeClr val="lt1"/>
          </a:fillRef>
          <a:effectRef idx="0">
            <a:schemeClr val="dk1"/>
          </a:effectRef>
          <a:fontRef idx="minor">
            <a:schemeClr val="dk1"/>
          </a:fontRef>
        </p:style>
        <p:txBody>
          <a:bodyPr rtlCol="1" anchor="ctr"/>
          <a:lstStyle/>
          <a:p>
            <a:pPr algn="ctr"/>
            <a:r>
              <a:rPr lang="en-US" b="1" dirty="0"/>
              <a:t>McKinsey</a:t>
            </a:r>
          </a:p>
          <a:p>
            <a:pPr algn="ctr"/>
            <a:r>
              <a:rPr lang="en-US" sz="2000" b="1" dirty="0"/>
              <a:t>7-S</a:t>
            </a:r>
            <a:endParaRPr lang="he-IL" sz="2000" b="1" dirty="0"/>
          </a:p>
        </p:txBody>
      </p:sp>
      <p:sp>
        <p:nvSpPr>
          <p:cNvPr id="30" name="מלבן: פינה מקופלת 29">
            <a:extLst>
              <a:ext uri="{FF2B5EF4-FFF2-40B4-BE49-F238E27FC236}">
                <a16:creationId xmlns:a16="http://schemas.microsoft.com/office/drawing/2014/main" id="{ADDB8E0B-E42D-F194-296D-59F95FB7E500}"/>
              </a:ext>
            </a:extLst>
          </p:cNvPr>
          <p:cNvSpPr/>
          <p:nvPr/>
        </p:nvSpPr>
        <p:spPr>
          <a:xfrm>
            <a:off x="8752513" y="3006205"/>
            <a:ext cx="3382624" cy="1308751"/>
          </a:xfrm>
          <a:prstGeom prst="foldedCorner">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rtl="1"/>
            <a:r>
              <a:rPr lang="he-IL" sz="1600" i="0" dirty="0">
                <a:solidFill>
                  <a:schemeClr val="tx1"/>
                </a:solidFill>
                <a:effectLst/>
                <a:latin typeface="arial" panose="020B0604020202020204" pitchFamily="34" charset="0"/>
              </a:rPr>
              <a:t>מבנה הנהלת החברה די רזה </a:t>
            </a:r>
            <a:r>
              <a:rPr lang="he-IL" sz="1600" i="0" dirty="0" err="1">
                <a:solidFill>
                  <a:schemeClr val="tx1"/>
                </a:solidFill>
                <a:effectLst/>
                <a:latin typeface="arial" panose="020B0604020202020204" pitchFamily="34" charset="0"/>
              </a:rPr>
              <a:t>ומטריציוני</a:t>
            </a:r>
            <a:r>
              <a:rPr lang="he-IL" sz="1600" i="0" dirty="0">
                <a:solidFill>
                  <a:schemeClr val="tx1"/>
                </a:solidFill>
                <a:effectLst/>
                <a:latin typeface="arial" panose="020B0604020202020204" pitchFamily="34" charset="0"/>
              </a:rPr>
              <a:t> והוא כולל את מנכ"ל החברה, סמנכ"ל פיתוח עסקי וראשי צוותים. </a:t>
            </a:r>
            <a:r>
              <a:rPr lang="he-IL" sz="1600" dirty="0">
                <a:solidFill>
                  <a:schemeClr val="tx1"/>
                </a:solidFill>
                <a:latin typeface="arial" panose="020B0604020202020204" pitchFamily="34" charset="0"/>
              </a:rPr>
              <a:t>הדבר מקצר באופן ניכר תהליכי ניהול ובירוקרטיה </a:t>
            </a:r>
            <a:endParaRPr lang="he-IL" sz="1600" i="0" dirty="0">
              <a:solidFill>
                <a:schemeClr val="tx1"/>
              </a:solidFill>
              <a:effectLst/>
              <a:latin typeface="Roboto" panose="02000000000000000000" pitchFamily="2" charset="0"/>
            </a:endParaRPr>
          </a:p>
        </p:txBody>
      </p:sp>
      <p:sp>
        <p:nvSpPr>
          <p:cNvPr id="31" name="מלבן: פינה מקופלת 30">
            <a:extLst>
              <a:ext uri="{FF2B5EF4-FFF2-40B4-BE49-F238E27FC236}">
                <a16:creationId xmlns:a16="http://schemas.microsoft.com/office/drawing/2014/main" id="{0F3D875E-7BFD-7CD3-7D71-CF9DAC5BCAE1}"/>
              </a:ext>
            </a:extLst>
          </p:cNvPr>
          <p:cNvSpPr/>
          <p:nvPr/>
        </p:nvSpPr>
        <p:spPr>
          <a:xfrm>
            <a:off x="8752512" y="4902523"/>
            <a:ext cx="3382624" cy="1308751"/>
          </a:xfrm>
          <a:prstGeom prst="foldedCorner">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600" dirty="0">
                <a:solidFill>
                  <a:schemeClr val="tx1"/>
                </a:solidFill>
                <a:effectLst/>
                <a:latin typeface="arial" panose="020B0604020202020204" pitchFamily="34" charset="0"/>
              </a:rPr>
              <a:t>לחברה מערכות מידע מתקדמות בתחום ניהול, אנאליזת נתונים, ניהול מסמכים וניהול פרויקטים. החברה בעלת תקן </a:t>
            </a:r>
            <a:r>
              <a:rPr lang="en-US" sz="1600" dirty="0">
                <a:solidFill>
                  <a:schemeClr val="tx1"/>
                </a:solidFill>
                <a:effectLst/>
                <a:latin typeface="arial" panose="020B0604020202020204" pitchFamily="34" charset="0"/>
              </a:rPr>
              <a:t>ISO</a:t>
            </a:r>
            <a:r>
              <a:rPr lang="he-IL" sz="1600" dirty="0">
                <a:solidFill>
                  <a:schemeClr val="tx1"/>
                </a:solidFill>
                <a:effectLst/>
                <a:latin typeface="arial" panose="020B0604020202020204" pitchFamily="34" charset="0"/>
              </a:rPr>
              <a:t> המחייב אותה להיות בחזית מערכות להבטחת סייבר</a:t>
            </a:r>
            <a:endParaRPr lang="he-IL" sz="1600" dirty="0">
              <a:solidFill>
                <a:schemeClr val="tx1"/>
              </a:solidFill>
              <a:latin typeface="David" panose="020E0502060401010101" pitchFamily="34" charset="-79"/>
              <a:cs typeface="David" panose="020E0502060401010101" pitchFamily="34" charset="-79"/>
            </a:endParaRPr>
          </a:p>
        </p:txBody>
      </p:sp>
      <p:sp>
        <p:nvSpPr>
          <p:cNvPr id="32" name="מלבן: פינה מקופלת 31">
            <a:extLst>
              <a:ext uri="{FF2B5EF4-FFF2-40B4-BE49-F238E27FC236}">
                <a16:creationId xmlns:a16="http://schemas.microsoft.com/office/drawing/2014/main" id="{7A8F9EDC-73D9-C778-EC0A-8AB1101EF5FD}"/>
              </a:ext>
            </a:extLst>
          </p:cNvPr>
          <p:cNvSpPr/>
          <p:nvPr/>
        </p:nvSpPr>
        <p:spPr>
          <a:xfrm>
            <a:off x="8752512" y="1279443"/>
            <a:ext cx="3382624" cy="1308751"/>
          </a:xfrm>
          <a:prstGeom prst="foldedCorne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600" i="0" dirty="0">
                <a:solidFill>
                  <a:schemeClr val="tx1"/>
                </a:solidFill>
                <a:effectLst/>
                <a:latin typeface="arial" panose="020B0604020202020204" pitchFamily="34" charset="0"/>
              </a:rPr>
              <a:t>שיפור מתמיד ברמת השירות ללקוחות החברה תוך מתן דגש ליצירת ערך מהותי בכל פרויקט, במיוחד בפרויקטים מורכבים כגון רפורמות ממשלתיות.</a:t>
            </a:r>
            <a:endParaRPr lang="he-IL" sz="1600" dirty="0">
              <a:solidFill>
                <a:schemeClr val="tx1"/>
              </a:solidFill>
              <a:latin typeface="David" panose="020E0502060401010101" pitchFamily="34" charset="-79"/>
              <a:cs typeface="David" panose="020E0502060401010101" pitchFamily="34" charset="-79"/>
            </a:endParaRPr>
          </a:p>
        </p:txBody>
      </p:sp>
      <p:sp>
        <p:nvSpPr>
          <p:cNvPr id="33" name="מלבן: פינה מקופלת 32">
            <a:extLst>
              <a:ext uri="{FF2B5EF4-FFF2-40B4-BE49-F238E27FC236}">
                <a16:creationId xmlns:a16="http://schemas.microsoft.com/office/drawing/2014/main" id="{A20B97C0-0D73-4E51-B974-24FA61D13FD1}"/>
              </a:ext>
            </a:extLst>
          </p:cNvPr>
          <p:cNvSpPr/>
          <p:nvPr/>
        </p:nvSpPr>
        <p:spPr>
          <a:xfrm>
            <a:off x="47031" y="3572414"/>
            <a:ext cx="3382624" cy="1308751"/>
          </a:xfrm>
          <a:prstGeom prst="foldedCorner">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600" dirty="0">
                <a:solidFill>
                  <a:schemeClr val="tx1"/>
                </a:solidFill>
                <a:latin typeface="arial" panose="020B0604020202020204" pitchFamily="34" charset="0"/>
              </a:rPr>
              <a:t>עובדי החברה בעלי תארים בכלכלה, משפטים, ראיית חשבון ותכנון ערים. במהלך העבודה חברה שולחת את העובדים להכשרות מקצועיות וימי עיון</a:t>
            </a:r>
            <a:endParaRPr lang="he-IL" sz="1600" dirty="0">
              <a:solidFill>
                <a:schemeClr val="tx1"/>
              </a:solidFill>
              <a:latin typeface="David" panose="020E0502060401010101" pitchFamily="34" charset="-79"/>
            </a:endParaRPr>
          </a:p>
        </p:txBody>
      </p:sp>
      <p:sp>
        <p:nvSpPr>
          <p:cNvPr id="34" name="מלבן: פינה מקופלת 33">
            <a:extLst>
              <a:ext uri="{FF2B5EF4-FFF2-40B4-BE49-F238E27FC236}">
                <a16:creationId xmlns:a16="http://schemas.microsoft.com/office/drawing/2014/main" id="{19CD893F-401F-6816-1AC1-D9703D049E93}"/>
              </a:ext>
            </a:extLst>
          </p:cNvPr>
          <p:cNvSpPr/>
          <p:nvPr/>
        </p:nvSpPr>
        <p:spPr>
          <a:xfrm>
            <a:off x="47031" y="807392"/>
            <a:ext cx="3382624" cy="1308751"/>
          </a:xfrm>
          <a:prstGeom prst="foldedCorne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solidFill>
                  <a:schemeClr val="tx1"/>
                </a:solidFill>
                <a:latin typeface="arial" panose="020B0604020202020204" pitchFamily="34" charset="0"/>
              </a:rPr>
              <a:t>העובדים הם שותפים ויש לשמור על קשר איתם. ניתן לגשת ולדבר עם המנכ"ל ("דלת פתוחה")</a:t>
            </a:r>
            <a:endParaRPr lang="he-IL" dirty="0">
              <a:solidFill>
                <a:schemeClr val="tx1"/>
              </a:solidFill>
              <a:latin typeface="David" panose="020E0502060401010101" pitchFamily="34" charset="-79"/>
              <a:cs typeface="David" panose="020E0502060401010101" pitchFamily="34" charset="-79"/>
            </a:endParaRPr>
          </a:p>
        </p:txBody>
      </p:sp>
      <p:sp>
        <p:nvSpPr>
          <p:cNvPr id="35" name="מלבן: פינה מקופלת 34">
            <a:extLst>
              <a:ext uri="{FF2B5EF4-FFF2-40B4-BE49-F238E27FC236}">
                <a16:creationId xmlns:a16="http://schemas.microsoft.com/office/drawing/2014/main" id="{233478EB-5301-714C-EA03-7340C5A45C13}"/>
              </a:ext>
            </a:extLst>
          </p:cNvPr>
          <p:cNvSpPr/>
          <p:nvPr/>
        </p:nvSpPr>
        <p:spPr>
          <a:xfrm>
            <a:off x="47031" y="4972187"/>
            <a:ext cx="3382624" cy="1308751"/>
          </a:xfrm>
          <a:prstGeom prst="foldedCorner">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rtl="1"/>
            <a:r>
              <a:rPr lang="he-IL" sz="1600" dirty="0">
                <a:solidFill>
                  <a:schemeClr val="tx1"/>
                </a:solidFill>
                <a:latin typeface="arial" panose="020B0604020202020204" pitchFamily="34" charset="0"/>
              </a:rPr>
              <a:t>כל עובדי החברה אקדמאים בעלי ניסון בעבודה בתחום הייעוץ. העובדים החדשים נקלטים באמצעות מחלקת </a:t>
            </a:r>
            <a:r>
              <a:rPr lang="en-US" sz="1600" dirty="0">
                <a:solidFill>
                  <a:schemeClr val="tx1"/>
                </a:solidFill>
                <a:latin typeface="arial" panose="020B0604020202020204" pitchFamily="34" charset="0"/>
              </a:rPr>
              <a:t>HR</a:t>
            </a:r>
            <a:r>
              <a:rPr lang="he-IL" sz="1600" dirty="0">
                <a:solidFill>
                  <a:schemeClr val="tx1"/>
                </a:solidFill>
                <a:latin typeface="arial" panose="020B0604020202020204" pitchFamily="34" charset="0"/>
              </a:rPr>
              <a:t> לאחר בחינות התאמה מקצועית וחברתית </a:t>
            </a:r>
            <a:endParaRPr lang="he-IL" sz="1600" dirty="0">
              <a:solidFill>
                <a:schemeClr val="tx1"/>
              </a:solidFill>
              <a:latin typeface="David" panose="020E0502060401010101" pitchFamily="34" charset="-79"/>
            </a:endParaRPr>
          </a:p>
        </p:txBody>
      </p:sp>
      <p:sp>
        <p:nvSpPr>
          <p:cNvPr id="36" name="מלבן: פינה מקופלת 35">
            <a:extLst>
              <a:ext uri="{FF2B5EF4-FFF2-40B4-BE49-F238E27FC236}">
                <a16:creationId xmlns:a16="http://schemas.microsoft.com/office/drawing/2014/main" id="{A5756619-46B8-0725-183D-9B2E2CE15ECA}"/>
              </a:ext>
            </a:extLst>
          </p:cNvPr>
          <p:cNvSpPr/>
          <p:nvPr/>
        </p:nvSpPr>
        <p:spPr>
          <a:xfrm>
            <a:off x="66697" y="2181416"/>
            <a:ext cx="3382624" cy="1308751"/>
          </a:xfrm>
          <a:prstGeom prst="foldedCorner">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400" i="0" dirty="0">
                <a:solidFill>
                  <a:schemeClr val="tx1"/>
                </a:solidFill>
                <a:effectLst/>
                <a:latin typeface="arial" panose="020B0604020202020204" pitchFamily="34" charset="0"/>
              </a:rPr>
              <a:t>שקיפות, מצוינות מקצועית, ותרומה להשפעה חיובית על החברה והמדינה. החברה שואפת לשמור על ערכים אלו תוך שיתוף פעולה עם מגזר ציבורי ופרטי, ושאיפה לחדשנות ויצירתיות.</a:t>
            </a:r>
            <a:endParaRPr lang="he-IL" sz="1400" dirty="0">
              <a:solidFill>
                <a:schemeClr val="tx1"/>
              </a:solidFill>
              <a:latin typeface="David" panose="020E0502060401010101" pitchFamily="34" charset="-79"/>
              <a:cs typeface="David" panose="020E0502060401010101" pitchFamily="34" charset="-79"/>
            </a:endParaRPr>
          </a:p>
        </p:txBody>
      </p:sp>
      <p:cxnSp>
        <p:nvCxnSpPr>
          <p:cNvPr id="42" name="מחבר חץ ישר 41">
            <a:extLst>
              <a:ext uri="{FF2B5EF4-FFF2-40B4-BE49-F238E27FC236}">
                <a16:creationId xmlns:a16="http://schemas.microsoft.com/office/drawing/2014/main" id="{C0AF0A3A-C229-ADBA-FEBC-6900031BE11A}"/>
              </a:ext>
            </a:extLst>
          </p:cNvPr>
          <p:cNvCxnSpPr>
            <a:cxnSpLocks/>
            <a:stCxn id="24" idx="3"/>
            <a:endCxn id="26" idx="7"/>
          </p:cNvCxnSpPr>
          <p:nvPr/>
        </p:nvCxnSpPr>
        <p:spPr>
          <a:xfrm flipH="1">
            <a:off x="6701576" y="2333770"/>
            <a:ext cx="1012597" cy="799152"/>
          </a:xfrm>
          <a:prstGeom prst="straightConnector1">
            <a:avLst/>
          </a:prstGeom>
          <a:ln>
            <a:solidFill>
              <a:srgbClr val="FF0000"/>
            </a:solidFill>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4" name="מחבר חץ ישר 43">
            <a:extLst>
              <a:ext uri="{FF2B5EF4-FFF2-40B4-BE49-F238E27FC236}">
                <a16:creationId xmlns:a16="http://schemas.microsoft.com/office/drawing/2014/main" id="{81ABF2D5-380E-7A2A-D2CB-6AD4C5D8C6A6}"/>
              </a:ext>
            </a:extLst>
          </p:cNvPr>
          <p:cNvCxnSpPr>
            <a:cxnSpLocks/>
            <a:stCxn id="19" idx="2"/>
            <a:endCxn id="26" idx="6"/>
          </p:cNvCxnSpPr>
          <p:nvPr/>
        </p:nvCxnSpPr>
        <p:spPr>
          <a:xfrm flipH="1">
            <a:off x="6955129" y="3720514"/>
            <a:ext cx="472406" cy="8326"/>
          </a:xfrm>
          <a:prstGeom prst="straightConnector1">
            <a:avLst/>
          </a:prstGeom>
          <a:ln>
            <a:headEnd type="triangle"/>
            <a:tailEnd type="triangle"/>
          </a:ln>
        </p:spPr>
        <p:style>
          <a:lnRef idx="3">
            <a:schemeClr val="accent2"/>
          </a:lnRef>
          <a:fillRef idx="0">
            <a:schemeClr val="accent2"/>
          </a:fillRef>
          <a:effectRef idx="2">
            <a:schemeClr val="accent2"/>
          </a:effectRef>
          <a:fontRef idx="minor">
            <a:schemeClr val="tx1"/>
          </a:fontRef>
        </p:style>
      </p:cxnSp>
      <p:cxnSp>
        <p:nvCxnSpPr>
          <p:cNvPr id="46" name="מחבר חץ ישר 45">
            <a:extLst>
              <a:ext uri="{FF2B5EF4-FFF2-40B4-BE49-F238E27FC236}">
                <a16:creationId xmlns:a16="http://schemas.microsoft.com/office/drawing/2014/main" id="{38BDE831-5965-E47E-DA8E-A272FFD9D631}"/>
              </a:ext>
            </a:extLst>
          </p:cNvPr>
          <p:cNvCxnSpPr>
            <a:cxnSpLocks/>
            <a:stCxn id="23" idx="1"/>
            <a:endCxn id="26" idx="5"/>
          </p:cNvCxnSpPr>
          <p:nvPr/>
        </p:nvCxnSpPr>
        <p:spPr>
          <a:xfrm flipH="1" flipV="1">
            <a:off x="6701576" y="4324758"/>
            <a:ext cx="957783" cy="897674"/>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48" name="מחבר חץ ישר 47">
            <a:extLst>
              <a:ext uri="{FF2B5EF4-FFF2-40B4-BE49-F238E27FC236}">
                <a16:creationId xmlns:a16="http://schemas.microsoft.com/office/drawing/2014/main" id="{1C08911A-4CE8-A210-75CE-A10248E768AC}"/>
              </a:ext>
            </a:extLst>
          </p:cNvPr>
          <p:cNvCxnSpPr>
            <a:cxnSpLocks/>
            <a:stCxn id="22" idx="6"/>
            <a:endCxn id="26" idx="0"/>
          </p:cNvCxnSpPr>
          <p:nvPr/>
        </p:nvCxnSpPr>
        <p:spPr>
          <a:xfrm>
            <a:off x="4775938" y="1424116"/>
            <a:ext cx="1313506" cy="1461968"/>
          </a:xfrm>
          <a:prstGeom prst="straightConnector1">
            <a:avLst/>
          </a:prstGeom>
          <a:ln>
            <a:solidFill>
              <a:srgbClr val="C00000"/>
            </a:solidFill>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0" name="מחבר חץ ישר 49">
            <a:extLst>
              <a:ext uri="{FF2B5EF4-FFF2-40B4-BE49-F238E27FC236}">
                <a16:creationId xmlns:a16="http://schemas.microsoft.com/office/drawing/2014/main" id="{A120FF88-F570-F0E4-5F48-5120B12EA2CB}"/>
              </a:ext>
            </a:extLst>
          </p:cNvPr>
          <p:cNvCxnSpPr>
            <a:cxnSpLocks/>
            <a:stCxn id="18" idx="6"/>
            <a:endCxn id="26" idx="1"/>
          </p:cNvCxnSpPr>
          <p:nvPr/>
        </p:nvCxnSpPr>
        <p:spPr>
          <a:xfrm>
            <a:off x="4764466" y="2762349"/>
            <a:ext cx="712846" cy="370573"/>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2" name="מחבר חץ ישר 51">
            <a:extLst>
              <a:ext uri="{FF2B5EF4-FFF2-40B4-BE49-F238E27FC236}">
                <a16:creationId xmlns:a16="http://schemas.microsoft.com/office/drawing/2014/main" id="{A94C0843-1814-9F41-C9CD-68EFC6061CF7}"/>
              </a:ext>
            </a:extLst>
          </p:cNvPr>
          <p:cNvCxnSpPr>
            <a:cxnSpLocks/>
            <a:stCxn id="20" idx="7"/>
            <a:endCxn id="26" idx="2"/>
          </p:cNvCxnSpPr>
          <p:nvPr/>
        </p:nvCxnSpPr>
        <p:spPr>
          <a:xfrm flipV="1">
            <a:off x="4568012" y="3728840"/>
            <a:ext cx="655747" cy="16201"/>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55" name="מחבר חץ ישר 54">
            <a:extLst>
              <a:ext uri="{FF2B5EF4-FFF2-40B4-BE49-F238E27FC236}">
                <a16:creationId xmlns:a16="http://schemas.microsoft.com/office/drawing/2014/main" id="{B25ED9BC-BB18-AEC8-743C-E3C396B51906}"/>
              </a:ext>
            </a:extLst>
          </p:cNvPr>
          <p:cNvCxnSpPr>
            <a:cxnSpLocks/>
            <a:stCxn id="21" idx="7"/>
            <a:endCxn id="26" idx="3"/>
          </p:cNvCxnSpPr>
          <p:nvPr/>
        </p:nvCxnSpPr>
        <p:spPr>
          <a:xfrm flipV="1">
            <a:off x="4522808" y="4324758"/>
            <a:ext cx="954504" cy="891240"/>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20248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תמונה 13">
            <a:extLst>
              <a:ext uri="{FF2B5EF4-FFF2-40B4-BE49-F238E27FC236}">
                <a16:creationId xmlns:a16="http://schemas.microsoft.com/office/drawing/2014/main" id="{F6D510D3-8D73-10C4-D065-290F0F97E550}"/>
              </a:ext>
            </a:extLst>
          </p:cNvPr>
          <p:cNvPicPr>
            <a:picLocks noChangeAspect="1"/>
          </p:cNvPicPr>
          <p:nvPr/>
        </p:nvPicPr>
        <p:blipFill>
          <a:blip r:embed="rId3"/>
          <a:stretch>
            <a:fillRect/>
          </a:stretch>
        </p:blipFill>
        <p:spPr>
          <a:xfrm>
            <a:off x="63288" y="2770909"/>
            <a:ext cx="7141812" cy="3639338"/>
          </a:xfrm>
          <a:prstGeom prst="rect">
            <a:avLst/>
          </a:prstGeom>
        </p:spPr>
      </p:pic>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4">
            <a:extLst>
              <a:ext uri="{BEBA8EAE-BF5A-486C-A8C5-ECC9F3942E4B}">
                <a14:imgProps xmlns:a14="http://schemas.microsoft.com/office/drawing/2010/main">
                  <a14:imgLayer r:embed="rId5">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6"/>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9</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914952" y="87780"/>
            <a:ext cx="4362093"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מחזור חיי ענף</a:t>
            </a:r>
          </a:p>
        </p:txBody>
      </p:sp>
      <p:sp>
        <p:nvSpPr>
          <p:cNvPr id="13" name="הסבר: קו 12">
            <a:extLst>
              <a:ext uri="{FF2B5EF4-FFF2-40B4-BE49-F238E27FC236}">
                <a16:creationId xmlns:a16="http://schemas.microsoft.com/office/drawing/2014/main" id="{D1D9633D-2C13-AF91-FB15-5B0925413435}"/>
              </a:ext>
            </a:extLst>
          </p:cNvPr>
          <p:cNvSpPr/>
          <p:nvPr/>
        </p:nvSpPr>
        <p:spPr>
          <a:xfrm>
            <a:off x="7205100" y="1193618"/>
            <a:ext cx="4859233" cy="2148705"/>
          </a:xfrm>
          <a:prstGeom prst="borderCallout1">
            <a:avLst>
              <a:gd name="adj1" fmla="val 934"/>
              <a:gd name="adj2" fmla="val -118"/>
              <a:gd name="adj3" fmla="val 79765"/>
              <a:gd name="adj4" fmla="val -69666"/>
            </a:avLst>
          </a:prstGeom>
          <a:solidFill>
            <a:schemeClr val="accent1">
              <a:lumMod val="20000"/>
              <a:lumOff val="80000"/>
            </a:schemeClr>
          </a:solidFill>
          <a:ln>
            <a:gradFill>
              <a:gsLst>
                <a:gs pos="0">
                  <a:schemeClr val="accent1">
                    <a:lumMod val="5000"/>
                    <a:lumOff val="95000"/>
                  </a:schemeClr>
                </a:gs>
                <a:gs pos="0">
                  <a:schemeClr val="accent1">
                    <a:lumMod val="45000"/>
                    <a:lumOff val="55000"/>
                  </a:schemeClr>
                </a:gs>
                <a:gs pos="0">
                  <a:schemeClr val="accent1">
                    <a:lumMod val="45000"/>
                    <a:lumOff val="5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endParaRPr lang="he-IL" sz="1400" b="1" dirty="0">
              <a:solidFill>
                <a:schemeClr val="tx1"/>
              </a:solidFill>
            </a:endParaRPr>
          </a:p>
          <a:p>
            <a:r>
              <a:rPr lang="he-IL" sz="1400" b="1" dirty="0">
                <a:solidFill>
                  <a:schemeClr val="tx1"/>
                </a:solidFill>
              </a:rPr>
              <a:t>שם הענף: ענף הייעוץ הכלכלי</a:t>
            </a:r>
            <a:endParaRPr lang="en-US" sz="1400" b="1" dirty="0">
              <a:solidFill>
                <a:schemeClr val="tx1"/>
              </a:solidFill>
            </a:endParaRPr>
          </a:p>
          <a:p>
            <a:r>
              <a:rPr lang="he-IL" sz="1400" b="1" dirty="0">
                <a:solidFill>
                  <a:schemeClr val="tx1"/>
                </a:solidFill>
              </a:rPr>
              <a:t>ענף הייעוץ הכלכלי נמצא בשלב ה-</a:t>
            </a:r>
            <a:r>
              <a:rPr lang="en-US" sz="1400" b="1" dirty="0">
                <a:solidFill>
                  <a:schemeClr val="accent6"/>
                </a:solidFill>
              </a:rPr>
              <a:t>SHAKEOUT</a:t>
            </a:r>
            <a:r>
              <a:rPr lang="en-US" sz="1400" b="1" dirty="0">
                <a:solidFill>
                  <a:schemeClr val="tx1"/>
                </a:solidFill>
              </a:rPr>
              <a:t> </a:t>
            </a:r>
            <a:r>
              <a:rPr lang="he-IL" sz="1400" b="1" dirty="0">
                <a:solidFill>
                  <a:schemeClr val="tx1"/>
                </a:solidFill>
              </a:rPr>
              <a:t> מכיוון שהתחרות בענף גוברת משמעותית. בשלב זה, חברות רבות מתמודדות על נתח שוק מוגבל, מה שמוביל להתכנסות של השחקנים הגדולים והחזקת השוק בידיהם. חברות קטנות יותר מתקשות לשרוד ונאלצות להתמזג, להירכש או להיסגר. כמו כן, במצב של הצפה בשוק, חלה ירידה ברווחיות, מה שמגביר את הלחץ הכלכלי על חברות לא יעילות</a:t>
            </a:r>
          </a:p>
          <a:p>
            <a:endParaRPr lang="he-IL" sz="1400" b="1" dirty="0">
              <a:solidFill>
                <a:schemeClr val="tx1"/>
              </a:solidFill>
            </a:endParaRPr>
          </a:p>
        </p:txBody>
      </p:sp>
      <p:sp>
        <p:nvSpPr>
          <p:cNvPr id="20" name="אליפסה 19">
            <a:extLst>
              <a:ext uri="{FF2B5EF4-FFF2-40B4-BE49-F238E27FC236}">
                <a16:creationId xmlns:a16="http://schemas.microsoft.com/office/drawing/2014/main" id="{4D212076-85A5-4FBB-BBAE-715DB8C07879}"/>
              </a:ext>
            </a:extLst>
          </p:cNvPr>
          <p:cNvSpPr/>
          <p:nvPr/>
        </p:nvSpPr>
        <p:spPr>
          <a:xfrm>
            <a:off x="2825495" y="2816759"/>
            <a:ext cx="1271017" cy="525564"/>
          </a:xfrm>
          <a:prstGeom prst="ellipse">
            <a:avLst/>
          </a:prstGeom>
          <a:noFill/>
          <a:ln w="18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dirty="0">
              <a:solidFill>
                <a:srgbClr val="E71224"/>
              </a:solidFill>
            </a:endParaRPr>
          </a:p>
        </p:txBody>
      </p:sp>
      <p:cxnSp>
        <p:nvCxnSpPr>
          <p:cNvPr id="21" name="מחבר חץ ישר 20">
            <a:extLst>
              <a:ext uri="{FF2B5EF4-FFF2-40B4-BE49-F238E27FC236}">
                <a16:creationId xmlns:a16="http://schemas.microsoft.com/office/drawing/2014/main" id="{8768D584-035C-35F9-63A0-1F4DA9D95995}"/>
              </a:ext>
            </a:extLst>
          </p:cNvPr>
          <p:cNvCxnSpPr>
            <a:cxnSpLocks/>
          </p:cNvCxnSpPr>
          <p:nvPr/>
        </p:nvCxnSpPr>
        <p:spPr>
          <a:xfrm flipV="1">
            <a:off x="548640" y="5550408"/>
            <a:ext cx="975358" cy="37490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מחבר חץ ישר 22">
            <a:extLst>
              <a:ext uri="{FF2B5EF4-FFF2-40B4-BE49-F238E27FC236}">
                <a16:creationId xmlns:a16="http://schemas.microsoft.com/office/drawing/2014/main" id="{5F5F2426-384D-924A-3048-ED56AFAF1B8A}"/>
              </a:ext>
            </a:extLst>
          </p:cNvPr>
          <p:cNvCxnSpPr>
            <a:cxnSpLocks/>
          </p:cNvCxnSpPr>
          <p:nvPr/>
        </p:nvCxnSpPr>
        <p:spPr>
          <a:xfrm flipV="1">
            <a:off x="1664208" y="4910328"/>
            <a:ext cx="1145689" cy="55778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7" name="מחבר חץ ישר 26">
            <a:extLst>
              <a:ext uri="{FF2B5EF4-FFF2-40B4-BE49-F238E27FC236}">
                <a16:creationId xmlns:a16="http://schemas.microsoft.com/office/drawing/2014/main" id="{1B96EFA3-8806-0C3C-D18A-0B389FED1936}"/>
              </a:ext>
            </a:extLst>
          </p:cNvPr>
          <p:cNvCxnSpPr>
            <a:cxnSpLocks/>
          </p:cNvCxnSpPr>
          <p:nvPr/>
        </p:nvCxnSpPr>
        <p:spPr>
          <a:xfrm flipV="1">
            <a:off x="2907604" y="3648456"/>
            <a:ext cx="1188908" cy="122927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4" name="תמונה 3">
            <a:extLst>
              <a:ext uri="{FF2B5EF4-FFF2-40B4-BE49-F238E27FC236}">
                <a16:creationId xmlns:a16="http://schemas.microsoft.com/office/drawing/2014/main" id="{96568F4E-5520-E227-C6CE-28A8B2B9D648}"/>
              </a:ext>
            </a:extLst>
          </p:cNvPr>
          <p:cNvPicPr>
            <a:picLocks noChangeAspect="1"/>
          </p:cNvPicPr>
          <p:nvPr/>
        </p:nvPicPr>
        <p:blipFill>
          <a:blip r:embed="rId7"/>
          <a:stretch>
            <a:fillRect/>
          </a:stretch>
        </p:blipFill>
        <p:spPr>
          <a:xfrm>
            <a:off x="7239513" y="3596407"/>
            <a:ext cx="4889199" cy="2562645"/>
          </a:xfrm>
          <a:prstGeom prst="rect">
            <a:avLst/>
          </a:prstGeom>
          <a:ln>
            <a:noFill/>
          </a:ln>
          <a:effectLst>
            <a:softEdge rad="112500"/>
          </a:effectLst>
        </p:spPr>
      </p:pic>
    </p:spTree>
    <p:extLst>
      <p:ext uri="{BB962C8B-B14F-4D97-AF65-F5344CB8AC3E}">
        <p14:creationId xmlns:p14="http://schemas.microsoft.com/office/powerpoint/2010/main" val="2365458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10</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4073064" y="239463"/>
            <a:ext cx="3826818"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מודל </a:t>
            </a:r>
            <a:r>
              <a:rPr lang="en-US" sz="6000" b="0" cap="none" spc="0" dirty="0">
                <a:ln w="0"/>
                <a:solidFill>
                  <a:schemeClr val="accent1"/>
                </a:solidFill>
                <a:effectLst>
                  <a:outerShdw blurRad="38100" dist="25400" dir="5400000" algn="ctr" rotWithShape="0">
                    <a:srgbClr val="6E747A">
                      <a:alpha val="43000"/>
                    </a:srgbClr>
                  </a:outerShdw>
                </a:effectLst>
              </a:rPr>
              <a:t>SWOT</a:t>
            </a:r>
            <a:endParaRPr lang="he-IL" sz="6000" b="0" cap="none" spc="0" dirty="0">
              <a:ln w="0"/>
              <a:solidFill>
                <a:schemeClr val="accent1"/>
              </a:solidFill>
              <a:effectLst>
                <a:outerShdw blurRad="38100" dist="25400" dir="5400000" algn="ctr" rotWithShape="0">
                  <a:srgbClr val="6E747A">
                    <a:alpha val="43000"/>
                  </a:srgbClr>
                </a:outerShdw>
              </a:effectLst>
            </a:endParaRPr>
          </a:p>
        </p:txBody>
      </p:sp>
      <p:graphicFrame>
        <p:nvGraphicFramePr>
          <p:cNvPr id="2" name="דיאגרמה 1">
            <a:extLst>
              <a:ext uri="{FF2B5EF4-FFF2-40B4-BE49-F238E27FC236}">
                <a16:creationId xmlns:a16="http://schemas.microsoft.com/office/drawing/2014/main" id="{99003C1F-FE59-C6AB-A1A9-4DCC0D87FF43}"/>
              </a:ext>
            </a:extLst>
          </p:cNvPr>
          <p:cNvGraphicFramePr/>
          <p:nvPr>
            <p:extLst>
              <p:ext uri="{D42A27DB-BD31-4B8C-83A1-F6EECF244321}">
                <p14:modId xmlns:p14="http://schemas.microsoft.com/office/powerpoint/2010/main" val="1807485564"/>
              </p:ext>
            </p:extLst>
          </p:nvPr>
        </p:nvGraphicFramePr>
        <p:xfrm>
          <a:off x="448066" y="1353452"/>
          <a:ext cx="10783200" cy="49972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5" name="מלבן 4">
            <a:extLst>
              <a:ext uri="{FF2B5EF4-FFF2-40B4-BE49-F238E27FC236}">
                <a16:creationId xmlns:a16="http://schemas.microsoft.com/office/drawing/2014/main" id="{A20540F7-6888-8780-8D1F-CF100F1AEDDC}"/>
              </a:ext>
            </a:extLst>
          </p:cNvPr>
          <p:cNvSpPr/>
          <p:nvPr/>
        </p:nvSpPr>
        <p:spPr>
          <a:xfrm>
            <a:off x="1801727" y="1158635"/>
            <a:ext cx="3559341" cy="38020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מזיק</a:t>
            </a:r>
          </a:p>
        </p:txBody>
      </p:sp>
      <p:sp>
        <p:nvSpPr>
          <p:cNvPr id="14" name="מלבן 13">
            <a:extLst>
              <a:ext uri="{FF2B5EF4-FFF2-40B4-BE49-F238E27FC236}">
                <a16:creationId xmlns:a16="http://schemas.microsoft.com/office/drawing/2014/main" id="{9BD19A45-618D-A44B-F256-C17745FF5D0D}"/>
              </a:ext>
            </a:extLst>
          </p:cNvPr>
          <p:cNvSpPr/>
          <p:nvPr/>
        </p:nvSpPr>
        <p:spPr>
          <a:xfrm rot="5400000">
            <a:off x="10063202" y="2354598"/>
            <a:ext cx="2171617" cy="493152"/>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פנימי</a:t>
            </a:r>
          </a:p>
        </p:txBody>
      </p:sp>
      <p:sp>
        <p:nvSpPr>
          <p:cNvPr id="18" name="מלבן 17">
            <a:extLst>
              <a:ext uri="{FF2B5EF4-FFF2-40B4-BE49-F238E27FC236}">
                <a16:creationId xmlns:a16="http://schemas.microsoft.com/office/drawing/2014/main" id="{03FD771C-0AF5-DC82-E61F-637AE37DC173}"/>
              </a:ext>
            </a:extLst>
          </p:cNvPr>
          <p:cNvSpPr/>
          <p:nvPr/>
        </p:nvSpPr>
        <p:spPr>
          <a:xfrm>
            <a:off x="6597645" y="1182096"/>
            <a:ext cx="3397044" cy="3802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מועיל</a:t>
            </a:r>
          </a:p>
        </p:txBody>
      </p:sp>
      <p:sp>
        <p:nvSpPr>
          <p:cNvPr id="19" name="מלבן 18">
            <a:extLst>
              <a:ext uri="{FF2B5EF4-FFF2-40B4-BE49-F238E27FC236}">
                <a16:creationId xmlns:a16="http://schemas.microsoft.com/office/drawing/2014/main" id="{3E842CFD-4739-A637-4267-ED2413B8D793}"/>
              </a:ext>
            </a:extLst>
          </p:cNvPr>
          <p:cNvSpPr/>
          <p:nvPr/>
        </p:nvSpPr>
        <p:spPr>
          <a:xfrm rot="5400000">
            <a:off x="10063202" y="4879342"/>
            <a:ext cx="2171617" cy="49315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חיצוני</a:t>
            </a:r>
          </a:p>
        </p:txBody>
      </p:sp>
      <p:sp>
        <p:nvSpPr>
          <p:cNvPr id="21" name="מלבן 20">
            <a:extLst>
              <a:ext uri="{FF2B5EF4-FFF2-40B4-BE49-F238E27FC236}">
                <a16:creationId xmlns:a16="http://schemas.microsoft.com/office/drawing/2014/main" id="{E2C9F857-BDB3-4242-51E9-5B1E2F1F8752}"/>
              </a:ext>
            </a:extLst>
          </p:cNvPr>
          <p:cNvSpPr/>
          <p:nvPr/>
        </p:nvSpPr>
        <p:spPr>
          <a:xfrm>
            <a:off x="5876901" y="3328839"/>
            <a:ext cx="405880"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S</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2" name="מלבן 21">
            <a:extLst>
              <a:ext uri="{FF2B5EF4-FFF2-40B4-BE49-F238E27FC236}">
                <a16:creationId xmlns:a16="http://schemas.microsoft.com/office/drawing/2014/main" id="{4D24C73A-216D-44FA-3BA4-76A4F872FC8D}"/>
              </a:ext>
            </a:extLst>
          </p:cNvPr>
          <p:cNvSpPr/>
          <p:nvPr/>
        </p:nvSpPr>
        <p:spPr>
          <a:xfrm>
            <a:off x="5286855" y="3328839"/>
            <a:ext cx="529312"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W</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3" name="מלבן 22">
            <a:extLst>
              <a:ext uri="{FF2B5EF4-FFF2-40B4-BE49-F238E27FC236}">
                <a16:creationId xmlns:a16="http://schemas.microsoft.com/office/drawing/2014/main" id="{3410AF4B-1F3B-9D20-F81B-C370CB3E0C3B}"/>
              </a:ext>
            </a:extLst>
          </p:cNvPr>
          <p:cNvSpPr/>
          <p:nvPr/>
        </p:nvSpPr>
        <p:spPr>
          <a:xfrm>
            <a:off x="5792750" y="3785266"/>
            <a:ext cx="455573"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O</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4" name="מלבן 23">
            <a:extLst>
              <a:ext uri="{FF2B5EF4-FFF2-40B4-BE49-F238E27FC236}">
                <a16:creationId xmlns:a16="http://schemas.microsoft.com/office/drawing/2014/main" id="{FD345489-3567-CEF5-AD4D-C8C35B064430}"/>
              </a:ext>
            </a:extLst>
          </p:cNvPr>
          <p:cNvSpPr/>
          <p:nvPr/>
        </p:nvSpPr>
        <p:spPr>
          <a:xfrm>
            <a:off x="5445687" y="3822480"/>
            <a:ext cx="372218"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T</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015636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11</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2906752" y="239463"/>
            <a:ext cx="6159443" cy="830997"/>
          </a:xfrm>
          <a:prstGeom prst="rect">
            <a:avLst/>
          </a:prstGeom>
          <a:noFill/>
        </p:spPr>
        <p:txBody>
          <a:bodyPr wrap="none" lIns="91440" tIns="45720" rIns="91440" bIns="45720">
            <a:spAutoFit/>
          </a:bodyPr>
          <a:lstStyle/>
          <a:p>
            <a:pPr algn="ctr"/>
            <a:r>
              <a:rPr lang="he-IL" sz="4800" b="0" cap="none" spc="0" dirty="0">
                <a:ln w="0"/>
                <a:solidFill>
                  <a:schemeClr val="accent1"/>
                </a:solidFill>
                <a:effectLst>
                  <a:outerShdw blurRad="38100" dist="25400" dir="5400000" algn="ctr" rotWithShape="0">
                    <a:srgbClr val="6E747A">
                      <a:alpha val="43000"/>
                    </a:srgbClr>
                  </a:outerShdw>
                </a:effectLst>
              </a:rPr>
              <a:t>הצלבות של מודל </a:t>
            </a:r>
            <a:r>
              <a:rPr lang="en-US" sz="4800" b="0" cap="none" spc="0" dirty="0">
                <a:ln w="0"/>
                <a:solidFill>
                  <a:schemeClr val="accent1"/>
                </a:solidFill>
                <a:effectLst>
                  <a:outerShdw blurRad="38100" dist="25400" dir="5400000" algn="ctr" rotWithShape="0">
                    <a:srgbClr val="6E747A">
                      <a:alpha val="43000"/>
                    </a:srgbClr>
                  </a:outerShdw>
                </a:effectLst>
              </a:rPr>
              <a:t>SWOT</a:t>
            </a:r>
            <a:r>
              <a:rPr lang="he-IL" sz="4800" b="0" cap="none" spc="0" dirty="0">
                <a:ln w="0"/>
                <a:solidFill>
                  <a:schemeClr val="accent1"/>
                </a:solidFill>
                <a:effectLst>
                  <a:outerShdw blurRad="38100" dist="25400" dir="5400000" algn="ctr" rotWithShape="0">
                    <a:srgbClr val="6E747A">
                      <a:alpha val="43000"/>
                    </a:srgbClr>
                  </a:outerShdw>
                </a:effectLst>
              </a:rPr>
              <a:t> </a:t>
            </a:r>
          </a:p>
        </p:txBody>
      </p:sp>
      <p:sp>
        <p:nvSpPr>
          <p:cNvPr id="5" name="מלבן 4">
            <a:extLst>
              <a:ext uri="{FF2B5EF4-FFF2-40B4-BE49-F238E27FC236}">
                <a16:creationId xmlns:a16="http://schemas.microsoft.com/office/drawing/2014/main" id="{A20540F7-6888-8780-8D1F-CF100F1AEDDC}"/>
              </a:ext>
            </a:extLst>
          </p:cNvPr>
          <p:cNvSpPr/>
          <p:nvPr/>
        </p:nvSpPr>
        <p:spPr>
          <a:xfrm>
            <a:off x="1801727" y="1158635"/>
            <a:ext cx="3559341" cy="38020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איומים</a:t>
            </a:r>
          </a:p>
        </p:txBody>
      </p:sp>
      <p:sp>
        <p:nvSpPr>
          <p:cNvPr id="14" name="מלבן 13">
            <a:extLst>
              <a:ext uri="{FF2B5EF4-FFF2-40B4-BE49-F238E27FC236}">
                <a16:creationId xmlns:a16="http://schemas.microsoft.com/office/drawing/2014/main" id="{9BD19A45-618D-A44B-F256-C17745FF5D0D}"/>
              </a:ext>
            </a:extLst>
          </p:cNvPr>
          <p:cNvSpPr/>
          <p:nvPr/>
        </p:nvSpPr>
        <p:spPr>
          <a:xfrm rot="5400000">
            <a:off x="10063202" y="2354598"/>
            <a:ext cx="2171617" cy="493152"/>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חוזקות</a:t>
            </a:r>
          </a:p>
        </p:txBody>
      </p:sp>
      <p:sp>
        <p:nvSpPr>
          <p:cNvPr id="18" name="מלבן 17">
            <a:extLst>
              <a:ext uri="{FF2B5EF4-FFF2-40B4-BE49-F238E27FC236}">
                <a16:creationId xmlns:a16="http://schemas.microsoft.com/office/drawing/2014/main" id="{03FD771C-0AF5-DC82-E61F-637AE37DC173}"/>
              </a:ext>
            </a:extLst>
          </p:cNvPr>
          <p:cNvSpPr/>
          <p:nvPr/>
        </p:nvSpPr>
        <p:spPr>
          <a:xfrm>
            <a:off x="6597645" y="1182096"/>
            <a:ext cx="3397044" cy="3802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הזדמנויות</a:t>
            </a:r>
          </a:p>
        </p:txBody>
      </p:sp>
      <p:sp>
        <p:nvSpPr>
          <p:cNvPr id="19" name="מלבן 18">
            <a:extLst>
              <a:ext uri="{FF2B5EF4-FFF2-40B4-BE49-F238E27FC236}">
                <a16:creationId xmlns:a16="http://schemas.microsoft.com/office/drawing/2014/main" id="{3E842CFD-4739-A637-4267-ED2413B8D793}"/>
              </a:ext>
            </a:extLst>
          </p:cNvPr>
          <p:cNvSpPr/>
          <p:nvPr/>
        </p:nvSpPr>
        <p:spPr>
          <a:xfrm rot="5400000">
            <a:off x="10063202" y="4879342"/>
            <a:ext cx="2171617" cy="49315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חולשות</a:t>
            </a:r>
          </a:p>
        </p:txBody>
      </p:sp>
      <p:graphicFrame>
        <p:nvGraphicFramePr>
          <p:cNvPr id="3" name="דיאגרמה 2">
            <a:extLst>
              <a:ext uri="{FF2B5EF4-FFF2-40B4-BE49-F238E27FC236}">
                <a16:creationId xmlns:a16="http://schemas.microsoft.com/office/drawing/2014/main" id="{E559D25E-946D-F078-C9D1-87CB5EB07F2B}"/>
              </a:ext>
            </a:extLst>
          </p:cNvPr>
          <p:cNvGraphicFramePr/>
          <p:nvPr>
            <p:extLst>
              <p:ext uri="{D42A27DB-BD31-4B8C-83A1-F6EECF244321}">
                <p14:modId xmlns:p14="http://schemas.microsoft.com/office/powerpoint/2010/main" val="3417251291"/>
              </p:ext>
            </p:extLst>
          </p:nvPr>
        </p:nvGraphicFramePr>
        <p:xfrm>
          <a:off x="594873" y="1380907"/>
          <a:ext cx="10783200" cy="49972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מלבן 3">
            <a:extLst>
              <a:ext uri="{FF2B5EF4-FFF2-40B4-BE49-F238E27FC236}">
                <a16:creationId xmlns:a16="http://schemas.microsoft.com/office/drawing/2014/main" id="{44117252-5EE4-2DA5-8603-0DDF25FE9C25}"/>
              </a:ext>
            </a:extLst>
          </p:cNvPr>
          <p:cNvSpPr/>
          <p:nvPr/>
        </p:nvSpPr>
        <p:spPr>
          <a:xfrm>
            <a:off x="5986473" y="3388159"/>
            <a:ext cx="676788"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S</a:t>
            </a: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rPr>
              <a:t>O</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3" name="מלבן 12">
            <a:extLst>
              <a:ext uri="{FF2B5EF4-FFF2-40B4-BE49-F238E27FC236}">
                <a16:creationId xmlns:a16="http://schemas.microsoft.com/office/drawing/2014/main" id="{646D2F47-70E5-24A6-1445-8D9C3EC717BD}"/>
              </a:ext>
            </a:extLst>
          </p:cNvPr>
          <p:cNvSpPr/>
          <p:nvPr/>
        </p:nvSpPr>
        <p:spPr>
          <a:xfrm>
            <a:off x="5416791" y="3399889"/>
            <a:ext cx="587469"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ST</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7" name="מלבן 16">
            <a:extLst>
              <a:ext uri="{FF2B5EF4-FFF2-40B4-BE49-F238E27FC236}">
                <a16:creationId xmlns:a16="http://schemas.microsoft.com/office/drawing/2014/main" id="{BF501EEF-F955-0F7F-D7B9-C59E8AC3FF44}"/>
              </a:ext>
            </a:extLst>
          </p:cNvPr>
          <p:cNvSpPr/>
          <p:nvPr/>
        </p:nvSpPr>
        <p:spPr>
          <a:xfrm>
            <a:off x="6019602" y="3854902"/>
            <a:ext cx="796372"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WO</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0" name="מלבן 19">
            <a:extLst>
              <a:ext uri="{FF2B5EF4-FFF2-40B4-BE49-F238E27FC236}">
                <a16:creationId xmlns:a16="http://schemas.microsoft.com/office/drawing/2014/main" id="{CB2D1786-4756-91F8-79C1-8BA60D056FEF}"/>
              </a:ext>
            </a:extLst>
          </p:cNvPr>
          <p:cNvSpPr/>
          <p:nvPr/>
        </p:nvSpPr>
        <p:spPr>
          <a:xfrm>
            <a:off x="5301750" y="3888072"/>
            <a:ext cx="718787" cy="523220"/>
          </a:xfrm>
          <a:prstGeom prst="rect">
            <a:avLst/>
          </a:prstGeom>
          <a:noFill/>
        </p:spPr>
        <p:txBody>
          <a:bodyPr wrap="none" lIns="91440" tIns="45720" rIns="91440" bIns="45720">
            <a:spAutoFit/>
          </a:bodyPr>
          <a:lstStyle/>
          <a:p>
            <a:pPr algn="ctr"/>
            <a:r>
              <a:rPr lang="en-US" sz="2800" b="1" cap="none" spc="50" dirty="0">
                <a:ln w="9525" cmpd="sng">
                  <a:solidFill>
                    <a:schemeClr val="accent1"/>
                  </a:solidFill>
                  <a:prstDash val="solid"/>
                </a:ln>
                <a:solidFill>
                  <a:srgbClr val="70AD47">
                    <a:tint val="1000"/>
                  </a:srgbClr>
                </a:solidFill>
                <a:effectLst>
                  <a:glow rad="38100">
                    <a:schemeClr val="accent1">
                      <a:alpha val="40000"/>
                    </a:schemeClr>
                  </a:glow>
                </a:effectLst>
              </a:rPr>
              <a:t>WT</a:t>
            </a:r>
            <a:endParaRPr lang="he-IL" sz="28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4198282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5" name="תמונה 64">
            <a:extLst>
              <a:ext uri="{FF2B5EF4-FFF2-40B4-BE49-F238E27FC236}">
                <a16:creationId xmlns:a16="http://schemas.microsoft.com/office/drawing/2014/main" id="{8043DC3C-EBFD-7EDA-B2A3-A6DEA61FF17B}"/>
              </a:ext>
            </a:extLst>
          </p:cNvPr>
          <p:cNvPicPr>
            <a:picLocks noChangeAspect="1"/>
          </p:cNvPicPr>
          <p:nvPr/>
        </p:nvPicPr>
        <p:blipFill>
          <a:blip r:embed="rId3">
            <a:alphaModFix amt="35000"/>
          </a:blip>
          <a:srcRect l="7897"/>
          <a:stretch/>
        </p:blipFill>
        <p:spPr>
          <a:xfrm>
            <a:off x="172720" y="1143438"/>
            <a:ext cx="12019280" cy="4930066"/>
          </a:xfrm>
          <a:prstGeom prst="rect">
            <a:avLst/>
          </a:prstGeom>
        </p:spPr>
      </p:pic>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4">
            <a:extLst>
              <a:ext uri="{BEBA8EAE-BF5A-486C-A8C5-ECC9F3942E4B}">
                <a14:imgProps xmlns:a14="http://schemas.microsoft.com/office/drawing/2010/main">
                  <a14:imgLayer r:embed="rId5">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6"/>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12</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4336207" y="225519"/>
            <a:ext cx="3741730" cy="646331"/>
          </a:xfrm>
          <a:prstGeom prst="rect">
            <a:avLst/>
          </a:prstGeom>
          <a:noFill/>
        </p:spPr>
        <p:txBody>
          <a:bodyPr wrap="none" lIns="91440" tIns="45720" rIns="91440" bIns="45720">
            <a:spAutoFit/>
          </a:bodyPr>
          <a:lstStyle/>
          <a:p>
            <a:pPr algn="ctr"/>
            <a:r>
              <a:rPr lang="he-IL" sz="3600" b="0" cap="none" spc="0" dirty="0">
                <a:ln w="0"/>
                <a:solidFill>
                  <a:schemeClr val="accent1"/>
                </a:solidFill>
                <a:effectLst>
                  <a:outerShdw blurRad="38100" dist="25400" dir="5400000" algn="ctr" rotWithShape="0">
                    <a:srgbClr val="6E747A">
                      <a:alpha val="43000"/>
                    </a:srgbClr>
                  </a:outerShdw>
                </a:effectLst>
              </a:rPr>
              <a:t>האסטרטגיה הגנרית</a:t>
            </a:r>
          </a:p>
        </p:txBody>
      </p:sp>
      <p:sp>
        <p:nvSpPr>
          <p:cNvPr id="5" name="AutoShape 4" descr="יתרונות וחסרונות של הליך הגישור » נעמה זהר עו''ד - עורכי דין דיני משפחה">
            <a:extLst>
              <a:ext uri="{FF2B5EF4-FFF2-40B4-BE49-F238E27FC236}">
                <a16:creationId xmlns:a16="http://schemas.microsoft.com/office/drawing/2014/main" id="{3BDF92C0-490E-DC4F-679E-562F4F7D03C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20" name="אליפסה 19">
            <a:extLst>
              <a:ext uri="{FF2B5EF4-FFF2-40B4-BE49-F238E27FC236}">
                <a16:creationId xmlns:a16="http://schemas.microsoft.com/office/drawing/2014/main" id="{0450E30A-8F78-D397-796C-A3D9C5A4F45D}"/>
              </a:ext>
            </a:extLst>
          </p:cNvPr>
          <p:cNvSpPr/>
          <p:nvPr/>
        </p:nvSpPr>
        <p:spPr>
          <a:xfrm>
            <a:off x="4410948" y="2733287"/>
            <a:ext cx="2590998" cy="1632619"/>
          </a:xfrm>
          <a:prstGeom prst="ellipse">
            <a:avLst/>
          </a:prstGeom>
          <a:gradFill>
            <a:gsLst>
              <a:gs pos="0">
                <a:schemeClr val="accent1">
                  <a:lumMod val="5000"/>
                  <a:lumOff val="95000"/>
                </a:schemeClr>
              </a:gs>
              <a:gs pos="0">
                <a:schemeClr val="accent1">
                  <a:lumMod val="45000"/>
                  <a:lumOff val="55000"/>
                </a:schemeClr>
              </a:gs>
              <a:gs pos="0">
                <a:schemeClr val="accent1">
                  <a:lumMod val="45000"/>
                  <a:lumOff val="55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800" b="0" cap="none" spc="0" dirty="0">
                <a:ln w="0"/>
                <a:solidFill>
                  <a:schemeClr val="tx1"/>
                </a:solidFill>
                <a:effectLst>
                  <a:outerShdw blurRad="38100" dist="25400" dir="5400000" algn="ctr" rotWithShape="0">
                    <a:srgbClr val="6E747A">
                      <a:alpha val="43000"/>
                    </a:srgbClr>
                  </a:outerShdw>
                </a:effectLst>
              </a:rPr>
              <a:t>Differentiation </a:t>
            </a:r>
            <a:r>
              <a:rPr lang="he-IL" sz="1800" b="0" cap="none" spc="0" dirty="0">
                <a:ln w="0"/>
                <a:solidFill>
                  <a:schemeClr val="tx1"/>
                </a:solidFill>
                <a:effectLst>
                  <a:outerShdw blurRad="38100" dist="25400" dir="5400000" algn="ctr" rotWithShape="0">
                    <a:srgbClr val="6E747A">
                      <a:alpha val="43000"/>
                    </a:srgbClr>
                  </a:outerShdw>
                </a:effectLst>
              </a:rPr>
              <a:t> - בידול וגם שוק רחב</a:t>
            </a:r>
            <a:endParaRPr lang="he-IL" dirty="0">
              <a:solidFill>
                <a:schemeClr val="tx1"/>
              </a:solidFill>
            </a:endParaRPr>
          </a:p>
        </p:txBody>
      </p:sp>
      <p:sp>
        <p:nvSpPr>
          <p:cNvPr id="22" name="אליפסה 21">
            <a:extLst>
              <a:ext uri="{FF2B5EF4-FFF2-40B4-BE49-F238E27FC236}">
                <a16:creationId xmlns:a16="http://schemas.microsoft.com/office/drawing/2014/main" id="{3BC835C0-DAB5-A446-B37B-2F9833C55CA6}"/>
              </a:ext>
            </a:extLst>
          </p:cNvPr>
          <p:cNvSpPr/>
          <p:nvPr/>
        </p:nvSpPr>
        <p:spPr>
          <a:xfrm>
            <a:off x="7001946" y="4314703"/>
            <a:ext cx="2139705" cy="1449883"/>
          </a:xfrm>
          <a:prstGeom prst="ellipse">
            <a:avLst/>
          </a:prstGeom>
          <a:gradFill>
            <a:gsLst>
              <a:gs pos="56000">
                <a:schemeClr val="accent1">
                  <a:lumMod val="5000"/>
                  <a:lumOff val="95000"/>
                </a:schemeClr>
              </a:gs>
              <a:gs pos="100000">
                <a:schemeClr val="accent1">
                  <a:lumMod val="45000"/>
                  <a:lumOff val="55000"/>
                </a:schemeClr>
              </a:gs>
              <a:gs pos="100000">
                <a:srgbClr val="74C4E9"/>
              </a:gs>
              <a:gs pos="100000">
                <a:schemeClr val="accent1">
                  <a:lumMod val="45000"/>
                  <a:lumOff val="55000"/>
                </a:schemeClr>
              </a:gs>
              <a:gs pos="100000">
                <a:schemeClr val="accent1">
                  <a:lumMod val="30000"/>
                  <a:lumOff val="70000"/>
                </a:schemeClr>
              </a:gs>
            </a:gsLst>
            <a:lin ang="5400000" scaled="1"/>
          </a:gradFill>
        </p:spPr>
        <p:style>
          <a:lnRef idx="2">
            <a:schemeClr val="accent1"/>
          </a:lnRef>
          <a:fillRef idx="1">
            <a:schemeClr val="lt1"/>
          </a:fillRef>
          <a:effectRef idx="0">
            <a:schemeClr val="accent1"/>
          </a:effectRef>
          <a:fontRef idx="minor">
            <a:schemeClr val="dk1"/>
          </a:fontRef>
        </p:style>
        <p:txBody>
          <a:bodyPr rtlCol="1" anchor="ctr"/>
          <a:lstStyle/>
          <a:p>
            <a:pPr algn="ctr"/>
            <a:r>
              <a:rPr lang="he-IL" sz="2000" dirty="0"/>
              <a:t>שילוב כלים מתקדמים</a:t>
            </a:r>
          </a:p>
        </p:txBody>
      </p:sp>
      <p:sp>
        <p:nvSpPr>
          <p:cNvPr id="23" name="אליפסה 22">
            <a:extLst>
              <a:ext uri="{FF2B5EF4-FFF2-40B4-BE49-F238E27FC236}">
                <a16:creationId xmlns:a16="http://schemas.microsoft.com/office/drawing/2014/main" id="{C69290DA-7E97-B375-F773-425E800A6845}"/>
              </a:ext>
            </a:extLst>
          </p:cNvPr>
          <p:cNvSpPr/>
          <p:nvPr/>
        </p:nvSpPr>
        <p:spPr>
          <a:xfrm>
            <a:off x="3951597" y="5009297"/>
            <a:ext cx="1989212" cy="1274619"/>
          </a:xfrm>
          <a:prstGeom prst="ellipse">
            <a:avLst/>
          </a:prstGeom>
          <a:gradFill>
            <a:gsLst>
              <a:gs pos="56000">
                <a:schemeClr val="accent1">
                  <a:lumMod val="5000"/>
                  <a:lumOff val="95000"/>
                </a:schemeClr>
              </a:gs>
              <a:gs pos="100000">
                <a:schemeClr val="accent1">
                  <a:lumMod val="45000"/>
                  <a:lumOff val="55000"/>
                </a:schemeClr>
              </a:gs>
              <a:gs pos="100000">
                <a:srgbClr val="74C4E9"/>
              </a:gs>
              <a:gs pos="100000">
                <a:schemeClr val="accent1">
                  <a:lumMod val="45000"/>
                  <a:lumOff val="55000"/>
                </a:schemeClr>
              </a:gs>
              <a:gs pos="100000">
                <a:schemeClr val="accent1">
                  <a:lumMod val="30000"/>
                  <a:lumOff val="70000"/>
                </a:schemeClr>
              </a:gs>
            </a:gsLst>
            <a:lin ang="5400000" scaled="1"/>
          </a:gradFill>
        </p:spPr>
        <p:style>
          <a:lnRef idx="2">
            <a:schemeClr val="accent1"/>
          </a:lnRef>
          <a:fillRef idx="1">
            <a:schemeClr val="lt1"/>
          </a:fillRef>
          <a:effectRef idx="0">
            <a:schemeClr val="accent1"/>
          </a:effectRef>
          <a:fontRef idx="minor">
            <a:schemeClr val="dk1"/>
          </a:fontRef>
        </p:style>
        <p:txBody>
          <a:bodyPr rtlCol="1" anchor="ctr"/>
          <a:lstStyle/>
          <a:p>
            <a:pPr algn="ctr"/>
            <a:r>
              <a:rPr lang="he-IL" sz="2000" dirty="0"/>
              <a:t>קהל לקוחות רחב</a:t>
            </a:r>
          </a:p>
        </p:txBody>
      </p:sp>
      <p:sp>
        <p:nvSpPr>
          <p:cNvPr id="24" name="אליפסה 23">
            <a:extLst>
              <a:ext uri="{FF2B5EF4-FFF2-40B4-BE49-F238E27FC236}">
                <a16:creationId xmlns:a16="http://schemas.microsoft.com/office/drawing/2014/main" id="{D63B8A7B-385E-60ED-C11E-988DD0DB9144}"/>
              </a:ext>
            </a:extLst>
          </p:cNvPr>
          <p:cNvSpPr/>
          <p:nvPr/>
        </p:nvSpPr>
        <p:spPr>
          <a:xfrm>
            <a:off x="2438598" y="1396747"/>
            <a:ext cx="2063396" cy="1354651"/>
          </a:xfrm>
          <a:prstGeom prst="ellipse">
            <a:avLst/>
          </a:prstGeom>
          <a:gradFill>
            <a:gsLst>
              <a:gs pos="56000">
                <a:schemeClr val="accent1">
                  <a:lumMod val="5000"/>
                  <a:lumOff val="95000"/>
                </a:schemeClr>
              </a:gs>
              <a:gs pos="100000">
                <a:schemeClr val="accent1">
                  <a:lumMod val="45000"/>
                  <a:lumOff val="55000"/>
                </a:schemeClr>
              </a:gs>
              <a:gs pos="100000">
                <a:srgbClr val="74C4E9"/>
              </a:gs>
              <a:gs pos="100000">
                <a:schemeClr val="accent1">
                  <a:lumMod val="45000"/>
                  <a:lumOff val="55000"/>
                </a:schemeClr>
              </a:gs>
              <a:gs pos="100000">
                <a:schemeClr val="accent1">
                  <a:lumMod val="30000"/>
                  <a:lumOff val="70000"/>
                </a:schemeClr>
              </a:gs>
            </a:gsLst>
            <a:lin ang="5400000" scaled="1"/>
          </a:gradFill>
        </p:spPr>
        <p:style>
          <a:lnRef idx="2">
            <a:schemeClr val="accent1"/>
          </a:lnRef>
          <a:fillRef idx="1">
            <a:schemeClr val="lt1"/>
          </a:fillRef>
          <a:effectRef idx="0">
            <a:schemeClr val="accent1"/>
          </a:effectRef>
          <a:fontRef idx="minor">
            <a:schemeClr val="dk1"/>
          </a:fontRef>
        </p:style>
        <p:txBody>
          <a:bodyPr rtlCol="1" anchor="ctr"/>
          <a:lstStyle/>
          <a:p>
            <a:pPr algn="ctr"/>
            <a:r>
              <a:rPr lang="he-IL" dirty="0"/>
              <a:t>רמת שירות גבוהה וייחודיות במתן פתרונות</a:t>
            </a:r>
            <a:endParaRPr lang="he-IL" sz="2800" dirty="0"/>
          </a:p>
        </p:txBody>
      </p:sp>
      <p:sp>
        <p:nvSpPr>
          <p:cNvPr id="26" name="אליפסה 25">
            <a:extLst>
              <a:ext uri="{FF2B5EF4-FFF2-40B4-BE49-F238E27FC236}">
                <a16:creationId xmlns:a16="http://schemas.microsoft.com/office/drawing/2014/main" id="{9D318D27-63DD-A6FF-6681-467E88F9DD66}"/>
              </a:ext>
            </a:extLst>
          </p:cNvPr>
          <p:cNvSpPr/>
          <p:nvPr/>
        </p:nvSpPr>
        <p:spPr>
          <a:xfrm>
            <a:off x="1523998" y="3489504"/>
            <a:ext cx="1773382" cy="1274619"/>
          </a:xfrm>
          <a:prstGeom prst="ellipse">
            <a:avLst/>
          </a:prstGeom>
          <a:gradFill>
            <a:gsLst>
              <a:gs pos="56000">
                <a:schemeClr val="accent1">
                  <a:lumMod val="5000"/>
                  <a:lumOff val="95000"/>
                </a:schemeClr>
              </a:gs>
              <a:gs pos="100000">
                <a:schemeClr val="accent1">
                  <a:lumMod val="45000"/>
                  <a:lumOff val="55000"/>
                </a:schemeClr>
              </a:gs>
              <a:gs pos="100000">
                <a:srgbClr val="74C4E9"/>
              </a:gs>
              <a:gs pos="100000">
                <a:schemeClr val="accent1">
                  <a:lumMod val="45000"/>
                  <a:lumOff val="55000"/>
                </a:schemeClr>
              </a:gs>
              <a:gs pos="100000">
                <a:schemeClr val="accent1">
                  <a:lumMod val="30000"/>
                  <a:lumOff val="70000"/>
                </a:schemeClr>
              </a:gs>
            </a:gsLst>
            <a:lin ang="5400000" scaled="1"/>
          </a:gradFill>
        </p:spPr>
        <p:style>
          <a:lnRef idx="2">
            <a:schemeClr val="accent1"/>
          </a:lnRef>
          <a:fillRef idx="1">
            <a:schemeClr val="lt1"/>
          </a:fillRef>
          <a:effectRef idx="0">
            <a:schemeClr val="accent1"/>
          </a:effectRef>
          <a:fontRef idx="minor">
            <a:schemeClr val="dk1"/>
          </a:fontRef>
        </p:style>
        <p:txBody>
          <a:bodyPr rtlCol="1" anchor="ctr"/>
          <a:lstStyle/>
          <a:p>
            <a:pPr algn="ctr"/>
            <a:r>
              <a:rPr lang="he-IL" sz="2000" dirty="0"/>
              <a:t>מיתוג חזק וייחודי</a:t>
            </a:r>
          </a:p>
        </p:txBody>
      </p:sp>
      <p:sp>
        <p:nvSpPr>
          <p:cNvPr id="27" name="אליפסה 26">
            <a:extLst>
              <a:ext uri="{FF2B5EF4-FFF2-40B4-BE49-F238E27FC236}">
                <a16:creationId xmlns:a16="http://schemas.microsoft.com/office/drawing/2014/main" id="{14DEB1C5-A2EB-CDD0-532E-9B05DE121C07}"/>
              </a:ext>
            </a:extLst>
          </p:cNvPr>
          <p:cNvSpPr/>
          <p:nvPr/>
        </p:nvSpPr>
        <p:spPr>
          <a:xfrm>
            <a:off x="7315299" y="1627779"/>
            <a:ext cx="2063396" cy="1620594"/>
          </a:xfrm>
          <a:prstGeom prst="ellipse">
            <a:avLst/>
          </a:prstGeom>
          <a:gradFill>
            <a:gsLst>
              <a:gs pos="36000">
                <a:schemeClr val="accent1">
                  <a:lumMod val="5000"/>
                  <a:lumOff val="95000"/>
                </a:schemeClr>
              </a:gs>
              <a:gs pos="100000">
                <a:schemeClr val="accent1">
                  <a:lumMod val="45000"/>
                  <a:lumOff val="55000"/>
                </a:schemeClr>
              </a:gs>
              <a:gs pos="100000">
                <a:srgbClr val="74C4E9"/>
              </a:gs>
              <a:gs pos="100000">
                <a:schemeClr val="accent1">
                  <a:lumMod val="45000"/>
                  <a:lumOff val="55000"/>
                </a:schemeClr>
              </a:gs>
              <a:gs pos="100000">
                <a:schemeClr val="accent1">
                  <a:lumMod val="30000"/>
                  <a:lumOff val="70000"/>
                </a:schemeClr>
              </a:gs>
            </a:gsLst>
            <a:lin ang="5400000" scaled="1"/>
          </a:gradFill>
        </p:spPr>
        <p:style>
          <a:lnRef idx="2">
            <a:schemeClr val="accent1"/>
          </a:lnRef>
          <a:fillRef idx="1">
            <a:schemeClr val="lt1"/>
          </a:fillRef>
          <a:effectRef idx="0">
            <a:schemeClr val="accent1"/>
          </a:effectRef>
          <a:fontRef idx="minor">
            <a:schemeClr val="dk1"/>
          </a:fontRef>
        </p:style>
        <p:txBody>
          <a:bodyPr rtlCol="1" anchor="ctr"/>
          <a:lstStyle/>
          <a:p>
            <a:pPr algn="ctr"/>
            <a:r>
              <a:rPr lang="he-IL" dirty="0"/>
              <a:t>התמחות ייחודית ותחומי פעילות מורכבים</a:t>
            </a:r>
          </a:p>
        </p:txBody>
      </p:sp>
      <p:cxnSp>
        <p:nvCxnSpPr>
          <p:cNvPr id="31" name="מחבר חץ ישר 30">
            <a:extLst>
              <a:ext uri="{FF2B5EF4-FFF2-40B4-BE49-F238E27FC236}">
                <a16:creationId xmlns:a16="http://schemas.microsoft.com/office/drawing/2014/main" id="{965A7E4C-3FE6-65AB-9AE8-114BBFCCC098}"/>
              </a:ext>
            </a:extLst>
          </p:cNvPr>
          <p:cNvCxnSpPr>
            <a:cxnSpLocks/>
            <a:stCxn id="20" idx="7"/>
            <a:endCxn id="27" idx="2"/>
          </p:cNvCxnSpPr>
          <p:nvPr/>
        </p:nvCxnSpPr>
        <p:spPr>
          <a:xfrm flipV="1">
            <a:off x="6622503" y="2438076"/>
            <a:ext cx="692796" cy="5343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מחבר חץ ישר 32">
            <a:extLst>
              <a:ext uri="{FF2B5EF4-FFF2-40B4-BE49-F238E27FC236}">
                <a16:creationId xmlns:a16="http://schemas.microsoft.com/office/drawing/2014/main" id="{B73E94AF-5069-084F-F661-B88FF9FB902B}"/>
              </a:ext>
            </a:extLst>
          </p:cNvPr>
          <p:cNvCxnSpPr>
            <a:cxnSpLocks/>
            <a:stCxn id="20" idx="1"/>
            <a:endCxn id="24" idx="5"/>
          </p:cNvCxnSpPr>
          <p:nvPr/>
        </p:nvCxnSpPr>
        <p:spPr>
          <a:xfrm flipH="1" flipV="1">
            <a:off x="4199817" y="2553014"/>
            <a:ext cx="590574" cy="41936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מחבר חץ ישר 34">
            <a:extLst>
              <a:ext uri="{FF2B5EF4-FFF2-40B4-BE49-F238E27FC236}">
                <a16:creationId xmlns:a16="http://schemas.microsoft.com/office/drawing/2014/main" id="{5524DD93-16BB-B213-5CEE-8C9FC92BDD73}"/>
              </a:ext>
            </a:extLst>
          </p:cNvPr>
          <p:cNvCxnSpPr>
            <a:cxnSpLocks/>
            <a:stCxn id="20" idx="2"/>
          </p:cNvCxnSpPr>
          <p:nvPr/>
        </p:nvCxnSpPr>
        <p:spPr>
          <a:xfrm flipH="1">
            <a:off x="3297380" y="3549597"/>
            <a:ext cx="1113568" cy="5724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7" name="מחבר חץ ישר 36">
            <a:extLst>
              <a:ext uri="{FF2B5EF4-FFF2-40B4-BE49-F238E27FC236}">
                <a16:creationId xmlns:a16="http://schemas.microsoft.com/office/drawing/2014/main" id="{4DDEFDFB-7CEA-58FF-6C85-647306CF53D4}"/>
              </a:ext>
            </a:extLst>
          </p:cNvPr>
          <p:cNvCxnSpPr>
            <a:cxnSpLocks/>
            <a:stCxn id="20" idx="4"/>
            <a:endCxn id="23" idx="0"/>
          </p:cNvCxnSpPr>
          <p:nvPr/>
        </p:nvCxnSpPr>
        <p:spPr>
          <a:xfrm flipH="1">
            <a:off x="4946203" y="4365906"/>
            <a:ext cx="760244" cy="6433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0" name="מחבר חץ ישר 39">
            <a:extLst>
              <a:ext uri="{FF2B5EF4-FFF2-40B4-BE49-F238E27FC236}">
                <a16:creationId xmlns:a16="http://schemas.microsoft.com/office/drawing/2014/main" id="{69D3F329-FCCB-F005-3D82-F3485CCCCA90}"/>
              </a:ext>
            </a:extLst>
          </p:cNvPr>
          <p:cNvCxnSpPr>
            <a:cxnSpLocks/>
            <a:stCxn id="20" idx="5"/>
            <a:endCxn id="22" idx="1"/>
          </p:cNvCxnSpPr>
          <p:nvPr/>
        </p:nvCxnSpPr>
        <p:spPr>
          <a:xfrm>
            <a:off x="6622503" y="4126814"/>
            <a:ext cx="692796" cy="40021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2713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680C81-EAAC-3D3B-92F8-D3806CE2B01D}"/>
            </a:ext>
          </a:extLst>
        </p:cNvPr>
        <p:cNvGrpSpPr/>
        <p:nvPr/>
      </p:nvGrpSpPr>
      <p:grpSpPr>
        <a:xfrm>
          <a:off x="0" y="0"/>
          <a:ext cx="0" cy="0"/>
          <a:chOff x="0" y="0"/>
          <a:chExt cx="0" cy="0"/>
        </a:xfrm>
      </p:grpSpPr>
      <p:pic>
        <p:nvPicPr>
          <p:cNvPr id="6" name="תמונה 5">
            <a:extLst>
              <a:ext uri="{FF2B5EF4-FFF2-40B4-BE49-F238E27FC236}">
                <a16:creationId xmlns:a16="http://schemas.microsoft.com/office/drawing/2014/main" id="{DA674050-7263-8635-3125-FD2DC59C1193}"/>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A0AAA22E-3CFD-6015-F4E1-DFD113740463}"/>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BCCE44D8-610F-3699-EAE4-3C1931864229}"/>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C0838935-5DC3-4BFC-6251-26B97E930B7F}"/>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A5EDFCDF-AEBC-A1A7-473E-598BA4F25756}"/>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DC31EC36-9AA3-542F-FA2B-B6C172C0C403}"/>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8BC32B63-B46F-3FF8-1CD9-E1B53EF9344E}"/>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D2E2F27D-9D0D-C535-B563-58747846BFC5}"/>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13</a:t>
            </a:fld>
            <a:endParaRPr lang="he-IL" sz="1800" b="1" dirty="0">
              <a:solidFill>
                <a:srgbClr val="002060"/>
              </a:solidFill>
            </a:endParaRPr>
          </a:p>
        </p:txBody>
      </p:sp>
      <p:sp>
        <p:nvSpPr>
          <p:cNvPr id="16" name="מלבן 15">
            <a:extLst>
              <a:ext uri="{FF2B5EF4-FFF2-40B4-BE49-F238E27FC236}">
                <a16:creationId xmlns:a16="http://schemas.microsoft.com/office/drawing/2014/main" id="{EB48FCC3-5902-D3C2-592A-D028546F61AA}"/>
              </a:ext>
            </a:extLst>
          </p:cNvPr>
          <p:cNvSpPr/>
          <p:nvPr/>
        </p:nvSpPr>
        <p:spPr>
          <a:xfrm>
            <a:off x="4849973" y="225519"/>
            <a:ext cx="2714205" cy="646331"/>
          </a:xfrm>
          <a:prstGeom prst="rect">
            <a:avLst/>
          </a:prstGeom>
          <a:noFill/>
        </p:spPr>
        <p:txBody>
          <a:bodyPr wrap="none" lIns="91440" tIns="45720" rIns="91440" bIns="45720">
            <a:spAutoFit/>
          </a:bodyPr>
          <a:lstStyle/>
          <a:p>
            <a:pPr algn="ctr"/>
            <a:r>
              <a:rPr lang="he-IL" sz="3600" b="0" cap="none" spc="0" dirty="0">
                <a:ln w="0"/>
                <a:solidFill>
                  <a:schemeClr val="accent1"/>
                </a:solidFill>
                <a:effectLst>
                  <a:outerShdw blurRad="38100" dist="25400" dir="5400000" algn="ctr" rotWithShape="0">
                    <a:srgbClr val="6E747A">
                      <a:alpha val="43000"/>
                    </a:srgbClr>
                  </a:outerShdw>
                </a:effectLst>
              </a:rPr>
              <a:t>שרשרת הערך</a:t>
            </a:r>
          </a:p>
        </p:txBody>
      </p:sp>
      <p:sp>
        <p:nvSpPr>
          <p:cNvPr id="5" name="AutoShape 4" descr="יתרונות וחסרונות של הליך הגישור » נעמה זהר עו''ד - עורכי דין דיני משפחה">
            <a:extLst>
              <a:ext uri="{FF2B5EF4-FFF2-40B4-BE49-F238E27FC236}">
                <a16:creationId xmlns:a16="http://schemas.microsoft.com/office/drawing/2014/main" id="{7D8B5C6E-E69B-6D57-87D8-E6CFCBC582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3" name="תמונה 2">
            <a:extLst>
              <a:ext uri="{FF2B5EF4-FFF2-40B4-BE49-F238E27FC236}">
                <a16:creationId xmlns:a16="http://schemas.microsoft.com/office/drawing/2014/main" id="{64875BB0-B12D-95F4-CB2F-2AA6C0CC61D7}"/>
              </a:ext>
            </a:extLst>
          </p:cNvPr>
          <p:cNvPicPr>
            <a:picLocks noChangeAspect="1"/>
          </p:cNvPicPr>
          <p:nvPr/>
        </p:nvPicPr>
        <p:blipFill>
          <a:blip r:embed="rId6"/>
          <a:stretch>
            <a:fillRect/>
          </a:stretch>
        </p:blipFill>
        <p:spPr>
          <a:xfrm>
            <a:off x="443845" y="1572250"/>
            <a:ext cx="4031906" cy="4463605"/>
          </a:xfrm>
          <a:prstGeom prst="rect">
            <a:avLst/>
          </a:prstGeom>
          <a:ln>
            <a:noFill/>
          </a:ln>
          <a:effectLst>
            <a:outerShdw blurRad="190500" algn="tl" rotWithShape="0">
              <a:srgbClr val="000000">
                <a:alpha val="70000"/>
              </a:srgbClr>
            </a:outerShdw>
          </a:effectLst>
        </p:spPr>
      </p:pic>
      <p:sp>
        <p:nvSpPr>
          <p:cNvPr id="14" name="מלבן: פינה מקופלת 13">
            <a:extLst>
              <a:ext uri="{FF2B5EF4-FFF2-40B4-BE49-F238E27FC236}">
                <a16:creationId xmlns:a16="http://schemas.microsoft.com/office/drawing/2014/main" id="{84475675-FF20-225D-04B7-9C965692091F}"/>
              </a:ext>
            </a:extLst>
          </p:cNvPr>
          <p:cNvSpPr/>
          <p:nvPr/>
        </p:nvSpPr>
        <p:spPr>
          <a:xfrm>
            <a:off x="4669459" y="2124456"/>
            <a:ext cx="7349822" cy="2609088"/>
          </a:xfrm>
          <a:prstGeom prst="foldedCorner">
            <a:avLst/>
          </a:prstGeom>
          <a:gradFill>
            <a:gsLst>
              <a:gs pos="9000">
                <a:schemeClr val="accent1">
                  <a:lumMod val="5000"/>
                  <a:lumOff val="95000"/>
                </a:schemeClr>
              </a:gs>
              <a:gs pos="100000">
                <a:schemeClr val="accent1">
                  <a:lumMod val="45000"/>
                  <a:lumOff val="55000"/>
                </a:schemeClr>
              </a:gs>
              <a:gs pos="75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he-IL" sz="1800" dirty="0" err="1">
                <a:solidFill>
                  <a:schemeClr val="tx1"/>
                </a:solidFill>
              </a:rPr>
              <a:t>עדליא</a:t>
            </a:r>
            <a:r>
              <a:rPr lang="he-IL" sz="1800" dirty="0">
                <a:solidFill>
                  <a:schemeClr val="tx1"/>
                </a:solidFill>
              </a:rPr>
              <a:t> מבדלת את עצמה בשוק רחב באמצעות איסוף וניתוח מידע מורכב ממקורות מגוונים, ניהול מכרזים ורפורמות ממשלתיות, והצעת דוחות מותאמים אישית המבוססים על מודלים כלכליים ייחודיים. היא מחזקת את מיצובה באמצעות שימוש בטכנולוגיות מתקדמות כמו </a:t>
            </a:r>
            <a:r>
              <a:rPr lang="en-US" sz="1800" dirty="0">
                <a:solidFill>
                  <a:schemeClr val="tx1"/>
                </a:solidFill>
              </a:rPr>
              <a:t>GIS </a:t>
            </a:r>
            <a:r>
              <a:rPr lang="he-IL" sz="1800" dirty="0">
                <a:solidFill>
                  <a:schemeClr val="tx1"/>
                </a:solidFill>
              </a:rPr>
              <a:t>ומערכות תחזיות כלכליות, תוך הסתמכות על הון אנושי איכותי עם השכלה אקדמית גבוהה. בנוסף, </a:t>
            </a:r>
            <a:r>
              <a:rPr lang="he-IL" sz="1800" dirty="0" err="1">
                <a:solidFill>
                  <a:schemeClr val="tx1"/>
                </a:solidFill>
              </a:rPr>
              <a:t>עדליא</a:t>
            </a:r>
            <a:r>
              <a:rPr lang="he-IL" sz="1800" dirty="0">
                <a:solidFill>
                  <a:schemeClr val="tx1"/>
                </a:solidFill>
              </a:rPr>
              <a:t> שמה דגש על שירות רציף ומקצועי, תומכת בתחושת שייכות בין עובדיה, ומנצלת כוח מיקוח בזכות המוניטין הרב שלה.</a:t>
            </a:r>
          </a:p>
        </p:txBody>
      </p:sp>
    </p:spTree>
    <p:extLst>
      <p:ext uri="{BB962C8B-B14F-4D97-AF65-F5344CB8AC3E}">
        <p14:creationId xmlns:p14="http://schemas.microsoft.com/office/powerpoint/2010/main" val="497844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תמונה 12">
            <a:extLst>
              <a:ext uri="{FF2B5EF4-FFF2-40B4-BE49-F238E27FC236}">
                <a16:creationId xmlns:a16="http://schemas.microsoft.com/office/drawing/2014/main" id="{4CBCCA49-9807-829E-5968-443F798C73F8}"/>
              </a:ext>
            </a:extLst>
          </p:cNvPr>
          <p:cNvPicPr>
            <a:picLocks noChangeAspect="1"/>
          </p:cNvPicPr>
          <p:nvPr/>
        </p:nvPicPr>
        <p:blipFill>
          <a:blip r:embed="rId3"/>
          <a:srcRect r="50000"/>
          <a:stretch/>
        </p:blipFill>
        <p:spPr>
          <a:xfrm>
            <a:off x="1679446" y="1273972"/>
            <a:ext cx="1557475" cy="1123092"/>
          </a:xfrm>
          <a:prstGeom prst="rect">
            <a:avLst/>
          </a:prstGeom>
        </p:spPr>
      </p:pic>
      <p:pic>
        <p:nvPicPr>
          <p:cNvPr id="4" name="תמונה 3">
            <a:extLst>
              <a:ext uri="{FF2B5EF4-FFF2-40B4-BE49-F238E27FC236}">
                <a16:creationId xmlns:a16="http://schemas.microsoft.com/office/drawing/2014/main" id="{FF3A3B5A-718E-25D6-30B4-5077B758795C}"/>
              </a:ext>
            </a:extLst>
          </p:cNvPr>
          <p:cNvPicPr>
            <a:picLocks noChangeAspect="1"/>
          </p:cNvPicPr>
          <p:nvPr/>
        </p:nvPicPr>
        <p:blipFill>
          <a:blip r:embed="rId3"/>
          <a:srcRect l="51563"/>
          <a:stretch/>
        </p:blipFill>
        <p:spPr>
          <a:xfrm>
            <a:off x="8830068" y="1279984"/>
            <a:ext cx="1557475" cy="1050143"/>
          </a:xfrm>
          <a:prstGeom prst="rect">
            <a:avLst/>
          </a:prstGeom>
        </p:spPr>
      </p:pic>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4">
            <a:extLst>
              <a:ext uri="{BEBA8EAE-BF5A-486C-A8C5-ECC9F3942E4B}">
                <a14:imgProps xmlns:a14="http://schemas.microsoft.com/office/drawing/2010/main">
                  <a14:imgLayer r:embed="rId5">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6"/>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14</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2654255" y="455769"/>
            <a:ext cx="6883487" cy="1200329"/>
          </a:xfrm>
          <a:prstGeom prst="rect">
            <a:avLst/>
          </a:prstGeom>
          <a:noFill/>
        </p:spPr>
        <p:txBody>
          <a:bodyPr wrap="none" lIns="91440" tIns="45720" rIns="91440" bIns="45720">
            <a:spAutoFit/>
          </a:bodyPr>
          <a:lstStyle/>
          <a:p>
            <a:pPr algn="ctr"/>
            <a:r>
              <a:rPr lang="he-IL" sz="3600" b="0" cap="none" spc="0" dirty="0">
                <a:ln w="0"/>
                <a:solidFill>
                  <a:schemeClr val="accent1"/>
                </a:solidFill>
                <a:effectLst>
                  <a:outerShdw blurRad="38100" dist="25400" dir="5400000" algn="ctr" rotWithShape="0">
                    <a:srgbClr val="6E747A">
                      <a:alpha val="43000"/>
                    </a:srgbClr>
                  </a:outerShdw>
                </a:effectLst>
              </a:rPr>
              <a:t>האסטרטגיה הגנרית</a:t>
            </a:r>
            <a:br>
              <a:rPr lang="en-US" sz="3600" b="0" cap="none" spc="0" dirty="0">
                <a:ln w="0"/>
                <a:solidFill>
                  <a:schemeClr val="accent1"/>
                </a:solidFill>
                <a:effectLst>
                  <a:outerShdw blurRad="38100" dist="25400" dir="5400000" algn="ctr" rotWithShape="0">
                    <a:srgbClr val="6E747A">
                      <a:alpha val="43000"/>
                    </a:srgbClr>
                  </a:outerShdw>
                </a:effectLst>
              </a:rPr>
            </a:br>
            <a:r>
              <a:rPr lang="en-US" sz="3600" b="0" cap="none" spc="0" dirty="0">
                <a:ln w="0"/>
                <a:solidFill>
                  <a:schemeClr val="accent1"/>
                </a:solidFill>
                <a:effectLst>
                  <a:outerShdw blurRad="38100" dist="25400" dir="5400000" algn="ctr" rotWithShape="0">
                    <a:srgbClr val="6E747A">
                      <a:alpha val="43000"/>
                    </a:srgbClr>
                  </a:outerShdw>
                </a:effectLst>
              </a:rPr>
              <a:t>Differentiation </a:t>
            </a:r>
            <a:r>
              <a:rPr lang="he-IL" sz="3600" b="0" cap="none" spc="0" dirty="0">
                <a:ln w="0"/>
                <a:solidFill>
                  <a:schemeClr val="accent1"/>
                </a:solidFill>
                <a:effectLst>
                  <a:outerShdw blurRad="38100" dist="25400" dir="5400000" algn="ctr" rotWithShape="0">
                    <a:srgbClr val="6E747A">
                      <a:alpha val="43000"/>
                    </a:srgbClr>
                  </a:outerShdw>
                </a:effectLst>
              </a:rPr>
              <a:t> - בידול וגם שוק רחב</a:t>
            </a:r>
          </a:p>
        </p:txBody>
      </p:sp>
      <p:sp>
        <p:nvSpPr>
          <p:cNvPr id="5" name="AutoShape 4" descr="יתרונות וחסרונות של הליך הגישור » נעמה זהר עו''ד - עורכי דין דיני משפחה">
            <a:extLst>
              <a:ext uri="{FF2B5EF4-FFF2-40B4-BE49-F238E27FC236}">
                <a16:creationId xmlns:a16="http://schemas.microsoft.com/office/drawing/2014/main" id="{3BDF92C0-490E-DC4F-679E-562F4F7D03C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4" name="תיבת טקסט 13">
            <a:extLst>
              <a:ext uri="{FF2B5EF4-FFF2-40B4-BE49-F238E27FC236}">
                <a16:creationId xmlns:a16="http://schemas.microsoft.com/office/drawing/2014/main" id="{4E8ABC43-CCAD-CD53-229E-03A3BA6C7722}"/>
              </a:ext>
            </a:extLst>
          </p:cNvPr>
          <p:cNvSpPr txBox="1"/>
          <p:nvPr/>
        </p:nvSpPr>
        <p:spPr>
          <a:xfrm>
            <a:off x="5960831" y="2291085"/>
            <a:ext cx="6176264" cy="4031873"/>
          </a:xfrm>
          <a:prstGeom prst="rect">
            <a:avLst/>
          </a:prstGeom>
          <a:noFill/>
        </p:spPr>
        <p:txBody>
          <a:bodyPr wrap="square" rtlCol="1">
            <a:spAutoFit/>
          </a:bodyPr>
          <a:lstStyle/>
          <a:p>
            <a:r>
              <a:rPr lang="he-IL" sz="1600" b="1" dirty="0">
                <a:solidFill>
                  <a:srgbClr val="00B050"/>
                </a:solidFill>
              </a:rPr>
              <a:t>יתרון תחרותי:</a:t>
            </a:r>
            <a:r>
              <a:rPr lang="he-IL" sz="1600" dirty="0">
                <a:solidFill>
                  <a:srgbClr val="00B050"/>
                </a:solidFill>
              </a:rPr>
              <a:t> </a:t>
            </a:r>
            <a:r>
              <a:rPr lang="he-IL" sz="1600" dirty="0"/>
              <a:t>החברה נהנית מהמוניטין הטוב שלה בשוק, דבר המאפשר לה לבלוט ולהבדיל את עצמה ממתחרים על ידי הצעת שירותים איכותיים וחדשניים.</a:t>
            </a:r>
            <a:br>
              <a:rPr lang="en-US" sz="1600" dirty="0"/>
            </a:br>
            <a:br>
              <a:rPr lang="en-US" sz="1600" dirty="0"/>
            </a:br>
            <a:r>
              <a:rPr lang="he-IL" sz="1600" b="1" dirty="0">
                <a:solidFill>
                  <a:srgbClr val="00B050"/>
                </a:solidFill>
              </a:rPr>
              <a:t>שירות לקוחות מעולה: </a:t>
            </a:r>
            <a:r>
              <a:rPr lang="he-IL" sz="1600" dirty="0"/>
              <a:t>השקעה בהכשרות מקצועיות ובמערכות מחשוב מתקדמות מגבירה את יכולת החברה להציע שירותים מקצועיים ברמה גבוהה.</a:t>
            </a:r>
            <a:br>
              <a:rPr lang="en-US" sz="1600" dirty="0"/>
            </a:br>
            <a:br>
              <a:rPr lang="en-US" sz="1600" b="1" dirty="0"/>
            </a:br>
            <a:r>
              <a:rPr lang="he-IL" sz="1600" b="1" dirty="0">
                <a:solidFill>
                  <a:srgbClr val="00B050"/>
                </a:solidFill>
              </a:rPr>
              <a:t>תפיסה רחבה וחדשנית של שוק היעד</a:t>
            </a:r>
            <a:r>
              <a:rPr lang="en-US" sz="1600" b="1" dirty="0">
                <a:solidFill>
                  <a:srgbClr val="00B050"/>
                </a:solidFill>
              </a:rPr>
              <a:t> </a:t>
            </a:r>
            <a:r>
              <a:rPr lang="en-US" sz="1600" dirty="0" err="1"/>
              <a:t>Adalya</a:t>
            </a:r>
            <a:r>
              <a:rPr lang="en-US" sz="1600" dirty="0"/>
              <a:t> </a:t>
            </a:r>
            <a:r>
              <a:rPr lang="en-US" sz="1600" b="1" dirty="0">
                <a:solidFill>
                  <a:srgbClr val="00B050"/>
                </a:solidFill>
              </a:rPr>
              <a:t>:</a:t>
            </a:r>
            <a:r>
              <a:rPr lang="en-US" sz="1600" dirty="0"/>
              <a:t> </a:t>
            </a:r>
            <a:r>
              <a:rPr lang="he-IL" sz="1600" dirty="0"/>
              <a:t>מזהה את הצרכים המשתנים של השוק ומגיבה להם עם פתרונות חדשים וחדשניים. החברה פועלת בשוק רחב ומבינה את החשיבות של התמקדות בבידול כדי לספק ערך ללקוחות המגוונים שלה. היכולת להתעדכן ולהגיב לצרכים המשתנים בשוק תומכת באסטרטגיה של בידול.</a:t>
            </a:r>
            <a:br>
              <a:rPr lang="en-US" sz="1600" dirty="0"/>
            </a:br>
            <a:br>
              <a:rPr lang="en-US" sz="1600" dirty="0"/>
            </a:br>
            <a:r>
              <a:rPr lang="he-IL" sz="1600" b="1" dirty="0">
                <a:solidFill>
                  <a:srgbClr val="00B050"/>
                </a:solidFill>
              </a:rPr>
              <a:t>מובילות בשוק: </a:t>
            </a:r>
            <a:r>
              <a:rPr lang="he-IL" sz="1600" dirty="0"/>
              <a:t>הניסיון הרב בניהול פרויקטים מורכבים ובהובלת שינויים ברמה הלאומית עוזר לחברה לשמור על יתרון תחרותי גם כאשר מתמודדת עם תחרות גוברת, כולל שחקנים בינלאומיים.</a:t>
            </a:r>
          </a:p>
        </p:txBody>
      </p:sp>
      <p:sp>
        <p:nvSpPr>
          <p:cNvPr id="18" name="תיבת טקסט 17">
            <a:extLst>
              <a:ext uri="{FF2B5EF4-FFF2-40B4-BE49-F238E27FC236}">
                <a16:creationId xmlns:a16="http://schemas.microsoft.com/office/drawing/2014/main" id="{2722F43E-ED0D-A5E5-B29A-9F5215FED095}"/>
              </a:ext>
            </a:extLst>
          </p:cNvPr>
          <p:cNvSpPr txBox="1"/>
          <p:nvPr/>
        </p:nvSpPr>
        <p:spPr>
          <a:xfrm>
            <a:off x="140393" y="2291085"/>
            <a:ext cx="5638798" cy="3785652"/>
          </a:xfrm>
          <a:prstGeom prst="rect">
            <a:avLst/>
          </a:prstGeom>
          <a:noFill/>
        </p:spPr>
        <p:txBody>
          <a:bodyPr wrap="square" rtlCol="1">
            <a:spAutoFit/>
          </a:bodyPr>
          <a:lstStyle/>
          <a:p>
            <a:r>
              <a:rPr lang="he-IL" sz="1600" b="1" dirty="0">
                <a:solidFill>
                  <a:srgbClr val="FF0000"/>
                </a:solidFill>
              </a:rPr>
              <a:t>השקעה ניכרת: </a:t>
            </a:r>
            <a:r>
              <a:rPr lang="he-IL" sz="1600" dirty="0"/>
              <a:t>עלויות ההשקעה בטכנולוגיות מתקדמות ובהכשרות מקצועיות גבוהות, מה שעשוי להשפיע על הרווחיות הכללית של החברה ולדרוש ניהול כספי זהיר</a:t>
            </a:r>
            <a:br>
              <a:rPr lang="en-US" sz="1600" dirty="0"/>
            </a:br>
            <a:br>
              <a:rPr lang="en-US" sz="1600" dirty="0"/>
            </a:br>
            <a:r>
              <a:rPr lang="he-IL" sz="1600" b="1" dirty="0">
                <a:solidFill>
                  <a:srgbClr val="FF0000"/>
                </a:solidFill>
              </a:rPr>
              <a:t>תחרות גוברת: </a:t>
            </a:r>
            <a:r>
              <a:rPr lang="he-IL" sz="1600" dirty="0"/>
              <a:t>יתרונות ההבדלה של החברה יכולים להיות מועתקים על ידי מתחרים, דבר שעשוי להקטין את היתרון התחרותי לאורך זמן ולדרוש מהחברה השקעה מתמשכת בחדשנות ובטכנולוגיה</a:t>
            </a:r>
            <a:br>
              <a:rPr lang="en-US" sz="1600" dirty="0"/>
            </a:br>
            <a:br>
              <a:rPr lang="en-US" sz="1600" dirty="0"/>
            </a:br>
            <a:r>
              <a:rPr lang="he-IL" sz="1600" b="1" dirty="0">
                <a:solidFill>
                  <a:srgbClr val="FF0000"/>
                </a:solidFill>
              </a:rPr>
              <a:t>שינויים טכנולוגיים: </a:t>
            </a:r>
            <a:r>
              <a:rPr lang="he-IL" sz="1600" dirty="0"/>
              <a:t>תחום הייעוץ טכנולוגי משתנה במהירות, והחברה צריכה להשקיע באופן מתמשך כדי לשמור על רמת חדשנות גבוהה ולמנוע ירידת יתרון הבידול.</a:t>
            </a:r>
            <a:br>
              <a:rPr lang="en-US" sz="1600" dirty="0"/>
            </a:br>
            <a:br>
              <a:rPr lang="en-US" sz="1600" dirty="0"/>
            </a:br>
            <a:r>
              <a:rPr lang="he-IL" sz="1600" b="1" dirty="0">
                <a:solidFill>
                  <a:srgbClr val="FF0000"/>
                </a:solidFill>
              </a:rPr>
              <a:t>פוטנציאל צמיחה מוגבל: </a:t>
            </a:r>
            <a:r>
              <a:rPr lang="he-IL" sz="1600" dirty="0"/>
              <a:t>התמקדות בעיקר בתחום מסוים בשוק המקומי עלולה להגביל את פוטנציאל הצמיחה של החברה. ייתכן והחברה תתקשה להתרחב לשווקים חדשים או תחומים נוספים.</a:t>
            </a:r>
          </a:p>
        </p:txBody>
      </p:sp>
    </p:spTree>
    <p:extLst>
      <p:ext uri="{BB962C8B-B14F-4D97-AF65-F5344CB8AC3E}">
        <p14:creationId xmlns:p14="http://schemas.microsoft.com/office/powerpoint/2010/main" val="4001854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15</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2809897" y="520263"/>
            <a:ext cx="6244017" cy="646331"/>
          </a:xfrm>
          <a:prstGeom prst="rect">
            <a:avLst/>
          </a:prstGeom>
          <a:noFill/>
        </p:spPr>
        <p:txBody>
          <a:bodyPr wrap="none" lIns="91440" tIns="45720" rIns="91440" bIns="45720">
            <a:spAutoFit/>
          </a:bodyPr>
          <a:lstStyle/>
          <a:p>
            <a:pPr algn="ctr"/>
            <a:r>
              <a:rPr lang="he-IL" sz="3600" b="0" cap="none" spc="0" dirty="0">
                <a:ln w="0"/>
                <a:solidFill>
                  <a:schemeClr val="accent1"/>
                </a:solidFill>
                <a:effectLst>
                  <a:outerShdw blurRad="38100" dist="25400" dir="5400000" algn="ctr" rotWithShape="0">
                    <a:srgbClr val="6E747A">
                      <a:alpha val="43000"/>
                    </a:srgbClr>
                  </a:outerShdw>
                </a:effectLst>
              </a:rPr>
              <a:t>ההשלכות של האסטרטגיה הגנרית</a:t>
            </a:r>
          </a:p>
        </p:txBody>
      </p:sp>
      <p:sp>
        <p:nvSpPr>
          <p:cNvPr id="5" name="AutoShape 4" descr="יתרונות וחסרונות של הליך הגישור » נעמה זהר עו''ד - עורכי דין דיני משפחה">
            <a:extLst>
              <a:ext uri="{FF2B5EF4-FFF2-40B4-BE49-F238E27FC236}">
                <a16:creationId xmlns:a16="http://schemas.microsoft.com/office/drawing/2014/main" id="{3BDF92C0-490E-DC4F-679E-562F4F7D03C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מלבן: פינה מקופלת 16">
            <a:extLst>
              <a:ext uri="{FF2B5EF4-FFF2-40B4-BE49-F238E27FC236}">
                <a16:creationId xmlns:a16="http://schemas.microsoft.com/office/drawing/2014/main" id="{BF902F96-34F8-79B7-0AC5-514B62556A7E}"/>
              </a:ext>
            </a:extLst>
          </p:cNvPr>
          <p:cNvSpPr/>
          <p:nvPr/>
        </p:nvSpPr>
        <p:spPr>
          <a:xfrm>
            <a:off x="1541101" y="1789371"/>
            <a:ext cx="9772819" cy="2351416"/>
          </a:xfrm>
          <a:prstGeom prst="foldedCorner">
            <a:avLst/>
          </a:prstGeom>
          <a:gradFill>
            <a:gsLst>
              <a:gs pos="9000">
                <a:schemeClr val="accent1">
                  <a:lumMod val="5000"/>
                  <a:lumOff val="95000"/>
                </a:schemeClr>
              </a:gs>
              <a:gs pos="100000">
                <a:schemeClr val="accent1">
                  <a:lumMod val="45000"/>
                  <a:lumOff val="55000"/>
                </a:schemeClr>
              </a:gs>
              <a:gs pos="75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he-IL" sz="1800" dirty="0">
                <a:solidFill>
                  <a:schemeClr val="tx1"/>
                </a:solidFill>
              </a:rPr>
              <a:t>אסטרטגיית ההבדלה ושוק הרחב מאפשרת לחברת </a:t>
            </a:r>
            <a:r>
              <a:rPr lang="he-IL" sz="1800" dirty="0" err="1">
                <a:solidFill>
                  <a:schemeClr val="tx1"/>
                </a:solidFill>
              </a:rPr>
              <a:t>עדליא</a:t>
            </a:r>
            <a:r>
              <a:rPr lang="he-IL" sz="1800" dirty="0">
                <a:solidFill>
                  <a:schemeClr val="tx1"/>
                </a:solidFill>
              </a:rPr>
              <a:t>  לייצר בידול משמעותי ולהשיג יתרון תחרותי בשוק. היא תומכת בניית תדמית מותג חזקה, אך דורשת השקעה מתמשכת בחדשנות ושימור איכות השירותים. החברה צריכה להתמודד עם עלויות גבוהות ולנהל את הסיכונים הכרוכים בחיקוי תחרותי ובהגבלת מיקוד תחום הפעילות. הצלחה באסטרטגיה זו תלויה ביכולת לשמור על רמה גבוהה של איכות ושירות, ולבחון אפשרויות להתרחבות לשווקים חדשים ותחומים נוספים</a:t>
            </a:r>
          </a:p>
        </p:txBody>
      </p:sp>
      <p:pic>
        <p:nvPicPr>
          <p:cNvPr id="20" name="תמונה 19">
            <a:extLst>
              <a:ext uri="{FF2B5EF4-FFF2-40B4-BE49-F238E27FC236}">
                <a16:creationId xmlns:a16="http://schemas.microsoft.com/office/drawing/2014/main" id="{790F6626-42D1-F14E-B035-4573FF0E554C}"/>
              </a:ext>
            </a:extLst>
          </p:cNvPr>
          <p:cNvPicPr>
            <a:picLocks noChangeAspect="1"/>
          </p:cNvPicPr>
          <p:nvPr/>
        </p:nvPicPr>
        <p:blipFill>
          <a:blip r:embed="rId6"/>
          <a:stretch>
            <a:fillRect/>
          </a:stretch>
        </p:blipFill>
        <p:spPr>
          <a:xfrm>
            <a:off x="6834409" y="4270917"/>
            <a:ext cx="4141183" cy="1882868"/>
          </a:xfrm>
          <a:prstGeom prst="rect">
            <a:avLst/>
          </a:prstGeom>
          <a:ln>
            <a:noFill/>
          </a:ln>
          <a:effectLst>
            <a:outerShdw blurRad="190500" algn="tl" rotWithShape="0">
              <a:srgbClr val="000000">
                <a:alpha val="70000"/>
              </a:srgbClr>
            </a:outerShdw>
          </a:effectLst>
        </p:spPr>
      </p:pic>
      <p:pic>
        <p:nvPicPr>
          <p:cNvPr id="21" name="תמונה 20">
            <a:extLst>
              <a:ext uri="{FF2B5EF4-FFF2-40B4-BE49-F238E27FC236}">
                <a16:creationId xmlns:a16="http://schemas.microsoft.com/office/drawing/2014/main" id="{C81B966F-68AC-9DEA-2773-E9E1B3DB25FA}"/>
              </a:ext>
            </a:extLst>
          </p:cNvPr>
          <p:cNvPicPr>
            <a:picLocks noChangeAspect="1"/>
          </p:cNvPicPr>
          <p:nvPr/>
        </p:nvPicPr>
        <p:blipFill>
          <a:blip r:embed="rId7"/>
          <a:stretch>
            <a:fillRect/>
          </a:stretch>
        </p:blipFill>
        <p:spPr>
          <a:xfrm>
            <a:off x="2023872" y="4261614"/>
            <a:ext cx="3919728" cy="195986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1875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16</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4048217" y="47439"/>
            <a:ext cx="4241866" cy="1446550"/>
          </a:xfrm>
          <a:prstGeom prst="rect">
            <a:avLst/>
          </a:prstGeom>
          <a:noFill/>
        </p:spPr>
        <p:txBody>
          <a:bodyPr wrap="none" lIns="91440" tIns="45720" rIns="91440" bIns="45720">
            <a:spAutoFit/>
          </a:bodyPr>
          <a:lstStyle/>
          <a:p>
            <a:pPr algn="ctr"/>
            <a:r>
              <a:rPr lang="he-IL" sz="4400" b="0" cap="none" spc="0" dirty="0">
                <a:ln w="0"/>
                <a:solidFill>
                  <a:schemeClr val="accent1"/>
                </a:solidFill>
                <a:effectLst>
                  <a:outerShdw blurRad="38100" dist="25400" dir="5400000" algn="ctr" rotWithShape="0">
                    <a:srgbClr val="6E747A">
                      <a:alpha val="43000"/>
                    </a:srgbClr>
                  </a:outerShdw>
                </a:effectLst>
              </a:rPr>
              <a:t>מודל חמשת</a:t>
            </a:r>
          </a:p>
          <a:p>
            <a:pPr algn="ctr"/>
            <a:r>
              <a:rPr lang="he-IL" sz="4400" b="0" cap="none" spc="0" dirty="0">
                <a:ln w="0"/>
                <a:solidFill>
                  <a:schemeClr val="accent1"/>
                </a:solidFill>
                <a:effectLst>
                  <a:outerShdw blurRad="38100" dist="25400" dir="5400000" algn="ctr" rotWithShape="0">
                    <a:srgbClr val="6E747A">
                      <a:alpha val="43000"/>
                    </a:srgbClr>
                  </a:outerShdw>
                </a:effectLst>
              </a:rPr>
              <a:t> הכוחות של פורטר</a:t>
            </a:r>
          </a:p>
        </p:txBody>
      </p:sp>
      <p:graphicFrame>
        <p:nvGraphicFramePr>
          <p:cNvPr id="3" name="דיאגרמה 2">
            <a:extLst>
              <a:ext uri="{FF2B5EF4-FFF2-40B4-BE49-F238E27FC236}">
                <a16:creationId xmlns:a16="http://schemas.microsoft.com/office/drawing/2014/main" id="{328DD5A3-2B59-DAD6-6C9C-50D311CA160C}"/>
              </a:ext>
            </a:extLst>
          </p:cNvPr>
          <p:cNvGraphicFramePr/>
          <p:nvPr>
            <p:extLst>
              <p:ext uri="{D42A27DB-BD31-4B8C-83A1-F6EECF244321}">
                <p14:modId xmlns:p14="http://schemas.microsoft.com/office/powerpoint/2010/main" val="3296366985"/>
              </p:ext>
            </p:extLst>
          </p:nvPr>
        </p:nvGraphicFramePr>
        <p:xfrm>
          <a:off x="3544896" y="1608584"/>
          <a:ext cx="5102205" cy="391969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2" name="מלבן: פינה מקופלת 21">
            <a:extLst>
              <a:ext uri="{FF2B5EF4-FFF2-40B4-BE49-F238E27FC236}">
                <a16:creationId xmlns:a16="http://schemas.microsoft.com/office/drawing/2014/main" id="{07CF176E-DF4B-C9F9-B4ED-096473025B3C}"/>
              </a:ext>
            </a:extLst>
          </p:cNvPr>
          <p:cNvSpPr/>
          <p:nvPr/>
        </p:nvSpPr>
        <p:spPr>
          <a:xfrm>
            <a:off x="66697" y="1494687"/>
            <a:ext cx="3206261" cy="1570176"/>
          </a:xfrm>
          <a:prstGeom prst="foldedCorner">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100" b="0" i="0" dirty="0">
                <a:solidFill>
                  <a:srgbClr val="1F1F1F"/>
                </a:solidFill>
                <a:effectLst/>
                <a:highlight>
                  <a:srgbClr val="FFFFFF"/>
                </a:highlight>
                <a:latin typeface="Google Sans"/>
              </a:rPr>
              <a:t>כניסת מתחרים חדשים לשוק הייעוץ האסטרטגי קשה יחסית בשל הצורך במוניטין, ידע וניסיון מקיף. </a:t>
            </a:r>
          </a:p>
          <a:p>
            <a:pPr algn="ctr"/>
            <a:r>
              <a:rPr lang="he-IL" sz="1100" b="1" i="0" dirty="0">
                <a:solidFill>
                  <a:srgbClr val="1F1F1F"/>
                </a:solidFill>
                <a:effectLst/>
                <a:highlight>
                  <a:srgbClr val="FFFFFF"/>
                </a:highlight>
                <a:latin typeface="Google Sans"/>
              </a:rPr>
              <a:t>חסמי כניסה</a:t>
            </a:r>
            <a:r>
              <a:rPr lang="he-IL" sz="1100" b="0" i="0" dirty="0">
                <a:solidFill>
                  <a:srgbClr val="1F1F1F"/>
                </a:solidFill>
                <a:effectLst/>
                <a:highlight>
                  <a:srgbClr val="FFFFFF"/>
                </a:highlight>
                <a:latin typeface="Google Sans"/>
              </a:rPr>
              <a:t>: השוק דורש ידע רב, ניסיון ומומחיות, מה שמקשה על חברות חדשות להיכנס לתחרות מיידית עם החברות הוותיקות. </a:t>
            </a:r>
          </a:p>
          <a:p>
            <a:pPr algn="ctr"/>
            <a:r>
              <a:rPr lang="he-IL" sz="1100" b="1" i="0" dirty="0">
                <a:solidFill>
                  <a:srgbClr val="1F1F1F"/>
                </a:solidFill>
                <a:effectLst/>
                <a:highlight>
                  <a:srgbClr val="FFFFFF"/>
                </a:highlight>
                <a:latin typeface="Google Sans"/>
              </a:rPr>
              <a:t>יתרון למגוון</a:t>
            </a:r>
            <a:r>
              <a:rPr lang="he-IL" sz="1100" b="0" i="0" dirty="0">
                <a:solidFill>
                  <a:srgbClr val="1F1F1F"/>
                </a:solidFill>
                <a:effectLst/>
                <a:highlight>
                  <a:srgbClr val="FFFFFF"/>
                </a:highlight>
                <a:latin typeface="Google Sans"/>
              </a:rPr>
              <a:t>: חברות שמספקות מגוון רחב של שירותים – למשל, שילוב של ייעוץ כלכלי עם ייעוץ ניהולי וטכנולוגי – יקשו על מתחרים חדשים להיכנס לשוק</a:t>
            </a:r>
          </a:p>
        </p:txBody>
      </p:sp>
      <p:sp>
        <p:nvSpPr>
          <p:cNvPr id="23" name="מלבן: פינה מקופלת 22">
            <a:extLst>
              <a:ext uri="{FF2B5EF4-FFF2-40B4-BE49-F238E27FC236}">
                <a16:creationId xmlns:a16="http://schemas.microsoft.com/office/drawing/2014/main" id="{944A6776-890C-66E2-1866-17F3C6F23ED1}"/>
              </a:ext>
            </a:extLst>
          </p:cNvPr>
          <p:cNvSpPr/>
          <p:nvPr/>
        </p:nvSpPr>
        <p:spPr>
          <a:xfrm>
            <a:off x="66697" y="3122007"/>
            <a:ext cx="3206261" cy="1570176"/>
          </a:xfrm>
          <a:prstGeom prst="foldedCorner">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המתחרים הקיימים בענף הייעוץ הכלכלי מהווים את אחד האתגרים הגדולים ביותר לחברות בתחום. התחרות יכולה להיות עזה, עם מגוון רחב של חברות שמציעות שירותים דומים, מה שמוביל ללחץ על המחירים ולצורך מתמיד לשפר את השירותים</a:t>
            </a:r>
          </a:p>
        </p:txBody>
      </p:sp>
      <p:sp>
        <p:nvSpPr>
          <p:cNvPr id="24" name="מלבן: פינה מקופלת 23">
            <a:extLst>
              <a:ext uri="{FF2B5EF4-FFF2-40B4-BE49-F238E27FC236}">
                <a16:creationId xmlns:a16="http://schemas.microsoft.com/office/drawing/2014/main" id="{4FC72728-60E6-8806-02DF-3A8196F273FB}"/>
              </a:ext>
            </a:extLst>
          </p:cNvPr>
          <p:cNvSpPr/>
          <p:nvPr/>
        </p:nvSpPr>
        <p:spPr>
          <a:xfrm>
            <a:off x="66697" y="4713740"/>
            <a:ext cx="3206261" cy="1570176"/>
          </a:xfrm>
          <a:prstGeom prst="foldedCorner">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כלים טכנולוגיים שמציעים פתרונות דומים לבעיות כלכליות עשויים להיות יעילים יותר וחסכוניים יותר. לקוחות עשויים לבחור בטכנולוגיות אלו במקום להיעזר בשירותי ייעוץ אנושיים, דבר שמפחית את הביקוש לייעוץ מקצועי.</a:t>
            </a:r>
          </a:p>
        </p:txBody>
      </p:sp>
      <p:sp>
        <p:nvSpPr>
          <p:cNvPr id="25" name="מלבן: פינה מקופלת 24">
            <a:extLst>
              <a:ext uri="{FF2B5EF4-FFF2-40B4-BE49-F238E27FC236}">
                <a16:creationId xmlns:a16="http://schemas.microsoft.com/office/drawing/2014/main" id="{4E4EF24C-5FC1-228C-95DA-E6C93B42A274}"/>
              </a:ext>
            </a:extLst>
          </p:cNvPr>
          <p:cNvSpPr/>
          <p:nvPr/>
        </p:nvSpPr>
        <p:spPr>
          <a:xfrm>
            <a:off x="8856167" y="2245681"/>
            <a:ext cx="3206261" cy="1570176"/>
          </a:xfrm>
          <a:prstGeom prst="foldedCorner">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200" dirty="0"/>
              <a:t>הספקים הם בעיקר ספקי נתונים, תוכנה, ידע מקצועי, וכוח אדם מומחה. חברות יכולת  להפחית את התלות בספקים על ידי ביצוע </a:t>
            </a:r>
            <a:r>
              <a:rPr lang="he-IL" sz="1200" b="1" dirty="0"/>
              <a:t>אינטגרציה אחורית</a:t>
            </a:r>
            <a:r>
              <a:rPr lang="he-IL" sz="1200" dirty="0"/>
              <a:t>, כלומר, פיתוח כלים פנימיים לניהול ואיסוף נתונים. כך הם משמרים יתרון תחרותי תוך שמירה על כוח מיקוח מול ספקים.</a:t>
            </a:r>
          </a:p>
        </p:txBody>
      </p:sp>
      <p:sp>
        <p:nvSpPr>
          <p:cNvPr id="26" name="מלבן: פינה מקופלת 25">
            <a:extLst>
              <a:ext uri="{FF2B5EF4-FFF2-40B4-BE49-F238E27FC236}">
                <a16:creationId xmlns:a16="http://schemas.microsoft.com/office/drawing/2014/main" id="{2C5376AE-B19F-5C8D-154A-BDAA7360F579}"/>
              </a:ext>
            </a:extLst>
          </p:cNvPr>
          <p:cNvSpPr/>
          <p:nvPr/>
        </p:nvSpPr>
        <p:spPr>
          <a:xfrm>
            <a:off x="8856167" y="4264798"/>
            <a:ext cx="3206261" cy="1570176"/>
          </a:xfrm>
          <a:prstGeom prst="foldedCorner">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200" dirty="0"/>
              <a:t>כוח הלקוחות הוא גורם מרכזי בענף הייעוץ הכלכלי, שכן הלקוחות כוללים משרדי ממשלה, חברות פרטיות וציבוריות, וגופים אקדמיים. לקוחות אלה יכולים להשפיע משמעותית על רווחיות החברות, במיוחד כאשר יש להם מגוון רחב של אפשרויות לבחור מהן. </a:t>
            </a:r>
          </a:p>
        </p:txBody>
      </p:sp>
      <p:cxnSp>
        <p:nvCxnSpPr>
          <p:cNvPr id="28" name="מחבר ישר 27">
            <a:extLst>
              <a:ext uri="{FF2B5EF4-FFF2-40B4-BE49-F238E27FC236}">
                <a16:creationId xmlns:a16="http://schemas.microsoft.com/office/drawing/2014/main" id="{AE3879D5-3DD5-BFEF-4314-F3F953E092D6}"/>
              </a:ext>
            </a:extLst>
          </p:cNvPr>
          <p:cNvCxnSpPr>
            <a:cxnSpLocks/>
            <a:endCxn id="25" idx="1"/>
          </p:cNvCxnSpPr>
          <p:nvPr/>
        </p:nvCxnSpPr>
        <p:spPr>
          <a:xfrm>
            <a:off x="8290083" y="3030769"/>
            <a:ext cx="566084"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מחבר ישר 29">
            <a:extLst>
              <a:ext uri="{FF2B5EF4-FFF2-40B4-BE49-F238E27FC236}">
                <a16:creationId xmlns:a16="http://schemas.microsoft.com/office/drawing/2014/main" id="{B6AFFA44-7AAF-93BB-957D-602F30F2A64F}"/>
              </a:ext>
            </a:extLst>
          </p:cNvPr>
          <p:cNvCxnSpPr>
            <a:cxnSpLocks/>
            <a:endCxn id="26" idx="1"/>
          </p:cNvCxnSpPr>
          <p:nvPr/>
        </p:nvCxnSpPr>
        <p:spPr>
          <a:xfrm>
            <a:off x="7672949" y="5049886"/>
            <a:ext cx="1183218"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מחבר ישר 31">
            <a:extLst>
              <a:ext uri="{FF2B5EF4-FFF2-40B4-BE49-F238E27FC236}">
                <a16:creationId xmlns:a16="http://schemas.microsoft.com/office/drawing/2014/main" id="{7F7895A4-0CA3-C229-AE05-BD2B255D83D3}"/>
              </a:ext>
            </a:extLst>
          </p:cNvPr>
          <p:cNvCxnSpPr/>
          <p:nvPr/>
        </p:nvCxnSpPr>
        <p:spPr>
          <a:xfrm flipH="1">
            <a:off x="3272958" y="1901952"/>
            <a:ext cx="214029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מחבר ישר 35">
            <a:extLst>
              <a:ext uri="{FF2B5EF4-FFF2-40B4-BE49-F238E27FC236}">
                <a16:creationId xmlns:a16="http://schemas.microsoft.com/office/drawing/2014/main" id="{4D962ADD-4E05-D9B5-F2FC-D4E060FB7443}"/>
              </a:ext>
            </a:extLst>
          </p:cNvPr>
          <p:cNvCxnSpPr>
            <a:cxnSpLocks/>
          </p:cNvCxnSpPr>
          <p:nvPr/>
        </p:nvCxnSpPr>
        <p:spPr>
          <a:xfrm flipH="1">
            <a:off x="3335830" y="3201552"/>
            <a:ext cx="552189"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מחבר ישר 37">
            <a:extLst>
              <a:ext uri="{FF2B5EF4-FFF2-40B4-BE49-F238E27FC236}">
                <a16:creationId xmlns:a16="http://schemas.microsoft.com/office/drawing/2014/main" id="{E75B8CA3-EA35-E39E-8678-65F7D9CEB384}"/>
              </a:ext>
            </a:extLst>
          </p:cNvPr>
          <p:cNvCxnSpPr>
            <a:cxnSpLocks/>
          </p:cNvCxnSpPr>
          <p:nvPr/>
        </p:nvCxnSpPr>
        <p:spPr>
          <a:xfrm flipV="1">
            <a:off x="3272958" y="5083980"/>
            <a:ext cx="1216746" cy="2716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מלבן 42">
            <a:extLst>
              <a:ext uri="{FF2B5EF4-FFF2-40B4-BE49-F238E27FC236}">
                <a16:creationId xmlns:a16="http://schemas.microsoft.com/office/drawing/2014/main" id="{BA4F462C-F0D3-0D9C-D022-40BDABFAA7A1}"/>
              </a:ext>
            </a:extLst>
          </p:cNvPr>
          <p:cNvSpPr/>
          <p:nvPr/>
        </p:nvSpPr>
        <p:spPr>
          <a:xfrm>
            <a:off x="8899315" y="1114437"/>
            <a:ext cx="3163113" cy="3795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800" dirty="0"/>
              <a:t>כוח פנימי</a:t>
            </a:r>
            <a:endParaRPr lang="he-IL" dirty="0"/>
          </a:p>
        </p:txBody>
      </p:sp>
      <p:sp>
        <p:nvSpPr>
          <p:cNvPr id="44" name="מלבן 43">
            <a:extLst>
              <a:ext uri="{FF2B5EF4-FFF2-40B4-BE49-F238E27FC236}">
                <a16:creationId xmlns:a16="http://schemas.microsoft.com/office/drawing/2014/main" id="{961F02A3-40FC-DC86-5D3F-B791E84EA331}"/>
              </a:ext>
            </a:extLst>
          </p:cNvPr>
          <p:cNvSpPr/>
          <p:nvPr/>
        </p:nvSpPr>
        <p:spPr>
          <a:xfrm>
            <a:off x="66697" y="1064280"/>
            <a:ext cx="3163113" cy="3795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800" dirty="0"/>
              <a:t>כוח חיצוני</a:t>
            </a:r>
            <a:endParaRPr lang="he-IL" dirty="0"/>
          </a:p>
        </p:txBody>
      </p:sp>
      <p:sp>
        <p:nvSpPr>
          <p:cNvPr id="13" name="תיבת טקסט 12">
            <a:extLst>
              <a:ext uri="{FF2B5EF4-FFF2-40B4-BE49-F238E27FC236}">
                <a16:creationId xmlns:a16="http://schemas.microsoft.com/office/drawing/2014/main" id="{F3B4EC66-AA5F-B6C8-AE65-EBED8463074A}"/>
              </a:ext>
            </a:extLst>
          </p:cNvPr>
          <p:cNvSpPr txBox="1"/>
          <p:nvPr/>
        </p:nvSpPr>
        <p:spPr>
          <a:xfrm>
            <a:off x="8099610" y="2736735"/>
            <a:ext cx="770602" cy="369332"/>
          </a:xfrm>
          <a:prstGeom prst="rect">
            <a:avLst/>
          </a:prstGeom>
          <a:noFill/>
        </p:spPr>
        <p:txBody>
          <a:bodyPr wrap="square" rtlCol="1">
            <a:spAutoFit/>
          </a:bodyPr>
          <a:lstStyle/>
          <a:p>
            <a:r>
              <a:rPr lang="he-IL" dirty="0">
                <a:solidFill>
                  <a:srgbClr val="FF0000"/>
                </a:solidFill>
              </a:rPr>
              <a:t>גבוה</a:t>
            </a:r>
          </a:p>
        </p:txBody>
      </p:sp>
      <p:sp>
        <p:nvSpPr>
          <p:cNvPr id="14" name="תיבת טקסט 13">
            <a:extLst>
              <a:ext uri="{FF2B5EF4-FFF2-40B4-BE49-F238E27FC236}">
                <a16:creationId xmlns:a16="http://schemas.microsoft.com/office/drawing/2014/main" id="{81E7C100-D54C-A6CD-D965-B7F837EF4097}"/>
              </a:ext>
            </a:extLst>
          </p:cNvPr>
          <p:cNvSpPr txBox="1"/>
          <p:nvPr/>
        </p:nvSpPr>
        <p:spPr>
          <a:xfrm>
            <a:off x="7802523" y="4736170"/>
            <a:ext cx="770602" cy="369332"/>
          </a:xfrm>
          <a:prstGeom prst="rect">
            <a:avLst/>
          </a:prstGeom>
          <a:noFill/>
        </p:spPr>
        <p:txBody>
          <a:bodyPr wrap="square" rtlCol="1">
            <a:spAutoFit/>
          </a:bodyPr>
          <a:lstStyle/>
          <a:p>
            <a:r>
              <a:rPr lang="he-IL" dirty="0">
                <a:solidFill>
                  <a:srgbClr val="FF0000"/>
                </a:solidFill>
              </a:rPr>
              <a:t>גבוה</a:t>
            </a:r>
          </a:p>
        </p:txBody>
      </p:sp>
      <p:sp>
        <p:nvSpPr>
          <p:cNvPr id="17" name="תיבת טקסט 16">
            <a:extLst>
              <a:ext uri="{FF2B5EF4-FFF2-40B4-BE49-F238E27FC236}">
                <a16:creationId xmlns:a16="http://schemas.microsoft.com/office/drawing/2014/main" id="{5FF95712-5966-8A94-7045-35891F40688E}"/>
              </a:ext>
            </a:extLst>
          </p:cNvPr>
          <p:cNvSpPr txBox="1"/>
          <p:nvPr/>
        </p:nvSpPr>
        <p:spPr>
          <a:xfrm>
            <a:off x="3957802" y="1608584"/>
            <a:ext cx="770602" cy="369332"/>
          </a:xfrm>
          <a:prstGeom prst="rect">
            <a:avLst/>
          </a:prstGeom>
          <a:noFill/>
        </p:spPr>
        <p:txBody>
          <a:bodyPr wrap="square" rtlCol="1">
            <a:spAutoFit/>
          </a:bodyPr>
          <a:lstStyle/>
          <a:p>
            <a:r>
              <a:rPr lang="he-IL" dirty="0">
                <a:solidFill>
                  <a:srgbClr val="FFC000"/>
                </a:solidFill>
              </a:rPr>
              <a:t>בינוני</a:t>
            </a:r>
          </a:p>
        </p:txBody>
      </p:sp>
      <p:sp>
        <p:nvSpPr>
          <p:cNvPr id="18" name="תיבת טקסט 17">
            <a:extLst>
              <a:ext uri="{FF2B5EF4-FFF2-40B4-BE49-F238E27FC236}">
                <a16:creationId xmlns:a16="http://schemas.microsoft.com/office/drawing/2014/main" id="{BB6E9F4A-1307-4680-454E-40A60FC461A8}"/>
              </a:ext>
            </a:extLst>
          </p:cNvPr>
          <p:cNvSpPr txBox="1"/>
          <p:nvPr/>
        </p:nvSpPr>
        <p:spPr>
          <a:xfrm>
            <a:off x="3117417" y="2889098"/>
            <a:ext cx="770602" cy="369332"/>
          </a:xfrm>
          <a:prstGeom prst="rect">
            <a:avLst/>
          </a:prstGeom>
          <a:noFill/>
        </p:spPr>
        <p:txBody>
          <a:bodyPr wrap="square" rtlCol="1">
            <a:spAutoFit/>
          </a:bodyPr>
          <a:lstStyle/>
          <a:p>
            <a:r>
              <a:rPr lang="he-IL" dirty="0">
                <a:solidFill>
                  <a:srgbClr val="FF0000"/>
                </a:solidFill>
              </a:rPr>
              <a:t>גבוה</a:t>
            </a:r>
          </a:p>
        </p:txBody>
      </p:sp>
      <p:sp>
        <p:nvSpPr>
          <p:cNvPr id="19" name="תיבת טקסט 18">
            <a:extLst>
              <a:ext uri="{FF2B5EF4-FFF2-40B4-BE49-F238E27FC236}">
                <a16:creationId xmlns:a16="http://schemas.microsoft.com/office/drawing/2014/main" id="{41B5DB15-95F7-108A-761B-297EDD6D4D24}"/>
              </a:ext>
            </a:extLst>
          </p:cNvPr>
          <p:cNvSpPr txBox="1"/>
          <p:nvPr/>
        </p:nvSpPr>
        <p:spPr>
          <a:xfrm>
            <a:off x="3335830" y="4751674"/>
            <a:ext cx="770602" cy="369332"/>
          </a:xfrm>
          <a:prstGeom prst="rect">
            <a:avLst/>
          </a:prstGeom>
          <a:noFill/>
        </p:spPr>
        <p:txBody>
          <a:bodyPr wrap="square" rtlCol="1">
            <a:spAutoFit/>
          </a:bodyPr>
          <a:lstStyle/>
          <a:p>
            <a:r>
              <a:rPr lang="he-IL" dirty="0">
                <a:solidFill>
                  <a:srgbClr val="FFC000"/>
                </a:solidFill>
              </a:rPr>
              <a:t>בינוני</a:t>
            </a:r>
          </a:p>
        </p:txBody>
      </p:sp>
    </p:spTree>
    <p:extLst>
      <p:ext uri="{BB962C8B-B14F-4D97-AF65-F5344CB8AC3E}">
        <p14:creationId xmlns:p14="http://schemas.microsoft.com/office/powerpoint/2010/main" val="2775620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17</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4564906" y="85874"/>
            <a:ext cx="3159135" cy="1015663"/>
          </a:xfrm>
          <a:prstGeom prst="rect">
            <a:avLst/>
          </a:prstGeom>
          <a:noFill/>
        </p:spPr>
        <p:txBody>
          <a:bodyPr wrap="none" lIns="91440" tIns="45720" rIns="91440" bIns="45720">
            <a:spAutoFit/>
          </a:bodyPr>
          <a:lstStyle/>
          <a:p>
            <a:pPr algn="ctr"/>
            <a:r>
              <a:rPr lang="he-IL" sz="6000" dirty="0">
                <a:ln w="0"/>
                <a:solidFill>
                  <a:schemeClr val="accent1"/>
                </a:solidFill>
                <a:effectLst>
                  <a:outerShdw blurRad="38100" dist="25400" dir="5400000" algn="ctr" rotWithShape="0">
                    <a:srgbClr val="6E747A">
                      <a:alpha val="43000"/>
                    </a:srgbClr>
                  </a:outerShdw>
                </a:effectLst>
              </a:rPr>
              <a:t>מודל </a:t>
            </a:r>
            <a:r>
              <a:rPr lang="en-US" sz="6000" dirty="0">
                <a:ln w="0"/>
                <a:solidFill>
                  <a:schemeClr val="accent1"/>
                </a:solidFill>
                <a:effectLst>
                  <a:outerShdw blurRad="38100" dist="25400" dir="5400000" algn="ctr" rotWithShape="0">
                    <a:srgbClr val="6E747A">
                      <a:alpha val="43000"/>
                    </a:srgbClr>
                  </a:outerShdw>
                </a:effectLst>
              </a:rPr>
              <a:t>RBV</a:t>
            </a:r>
            <a:endParaRPr lang="he-IL" sz="6000" b="0" cap="none" spc="0" dirty="0">
              <a:ln w="0"/>
              <a:solidFill>
                <a:schemeClr val="accent1"/>
              </a:solidFill>
              <a:effectLst>
                <a:outerShdw blurRad="38100" dist="25400" dir="5400000" algn="ctr" rotWithShape="0">
                  <a:srgbClr val="6E747A">
                    <a:alpha val="43000"/>
                  </a:srgbClr>
                </a:outerShdw>
              </a:effectLst>
            </a:endParaRPr>
          </a:p>
        </p:txBody>
      </p:sp>
      <p:graphicFrame>
        <p:nvGraphicFramePr>
          <p:cNvPr id="3" name="דיאגרמה 2">
            <a:extLst>
              <a:ext uri="{FF2B5EF4-FFF2-40B4-BE49-F238E27FC236}">
                <a16:creationId xmlns:a16="http://schemas.microsoft.com/office/drawing/2014/main" id="{25FC47A4-3CD2-6038-ECD5-80B847AD0C59}"/>
              </a:ext>
            </a:extLst>
          </p:cNvPr>
          <p:cNvGraphicFramePr/>
          <p:nvPr>
            <p:extLst>
              <p:ext uri="{D42A27DB-BD31-4B8C-83A1-F6EECF244321}">
                <p14:modId xmlns:p14="http://schemas.microsoft.com/office/powerpoint/2010/main" val="3208164134"/>
              </p:ext>
            </p:extLst>
          </p:nvPr>
        </p:nvGraphicFramePr>
        <p:xfrm>
          <a:off x="505674" y="2424651"/>
          <a:ext cx="11277600" cy="383404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מלבן 3">
            <a:extLst>
              <a:ext uri="{FF2B5EF4-FFF2-40B4-BE49-F238E27FC236}">
                <a16:creationId xmlns:a16="http://schemas.microsoft.com/office/drawing/2014/main" id="{E732FDA6-8A2B-8E28-2604-9C924F9E6F7F}"/>
              </a:ext>
            </a:extLst>
          </p:cNvPr>
          <p:cNvSpPr/>
          <p:nvPr/>
        </p:nvSpPr>
        <p:spPr>
          <a:xfrm>
            <a:off x="3061354" y="1536483"/>
            <a:ext cx="6069290" cy="1015663"/>
          </a:xfrm>
          <a:prstGeom prst="rect">
            <a:avLst/>
          </a:prstGeom>
          <a:noFill/>
        </p:spPr>
        <p:txBody>
          <a:bodyPr wrap="none" lIns="91440" tIns="45720" rIns="91440" bIns="45720">
            <a:spAutoFit/>
          </a:bodyPr>
          <a:lstStyle/>
          <a:p>
            <a:pPr algn="ctr"/>
            <a:r>
              <a:rPr lang="he-IL" sz="6000" dirty="0">
                <a:ln w="0"/>
                <a:solidFill>
                  <a:schemeClr val="accent4"/>
                </a:solidFill>
                <a:effectLst>
                  <a:outerShdw blurRad="38100" dist="25400" dir="5400000" algn="ctr" rotWithShape="0">
                    <a:srgbClr val="6E747A">
                      <a:alpha val="43000"/>
                    </a:srgbClr>
                  </a:outerShdw>
                </a:effectLst>
              </a:rPr>
              <a:t>המשאבים העיקריים</a:t>
            </a:r>
            <a:endParaRPr lang="he-IL" sz="6000" b="0" cap="none" spc="0" dirty="0">
              <a:ln w="0"/>
              <a:solidFill>
                <a:schemeClr val="accent4"/>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786889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16FDCE-2DE9-7317-FFC4-39825023F234}"/>
            </a:ext>
          </a:extLst>
        </p:cNvPr>
        <p:cNvGrpSpPr/>
        <p:nvPr/>
      </p:nvGrpSpPr>
      <p:grpSpPr>
        <a:xfrm>
          <a:off x="0" y="0"/>
          <a:ext cx="0" cy="0"/>
          <a:chOff x="0" y="0"/>
          <a:chExt cx="0" cy="0"/>
        </a:xfrm>
      </p:grpSpPr>
      <p:pic>
        <p:nvPicPr>
          <p:cNvPr id="6" name="תמונה 5">
            <a:extLst>
              <a:ext uri="{FF2B5EF4-FFF2-40B4-BE49-F238E27FC236}">
                <a16:creationId xmlns:a16="http://schemas.microsoft.com/office/drawing/2014/main" id="{8877DD3E-2A53-218B-D2A1-3BA9A0CFCAB6}"/>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04D399D8-38FE-E55B-BAFA-008DDA88791B}"/>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9A117521-40D0-A8A0-6205-858047576000}"/>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1865F60E-41FC-398F-153E-E165B557CB6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1A77086A-EBB0-0E2A-C32E-EBE961EA9798}"/>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D5FD13A0-956D-A4DD-F384-CBFB482449B7}"/>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0A91685F-262C-61FA-14B7-6C675F2C66A4}"/>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51E0EFC0-A26B-42B7-B543-808F32D534E5}"/>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18</a:t>
            </a:fld>
            <a:endParaRPr lang="he-IL" sz="1800" b="1" dirty="0">
              <a:solidFill>
                <a:srgbClr val="002060"/>
              </a:solidFill>
            </a:endParaRPr>
          </a:p>
        </p:txBody>
      </p:sp>
      <p:sp>
        <p:nvSpPr>
          <p:cNvPr id="16" name="מלבן 15">
            <a:extLst>
              <a:ext uri="{FF2B5EF4-FFF2-40B4-BE49-F238E27FC236}">
                <a16:creationId xmlns:a16="http://schemas.microsoft.com/office/drawing/2014/main" id="{5C6B96E9-72C6-252E-AD60-651DABA8ACD0}"/>
              </a:ext>
            </a:extLst>
          </p:cNvPr>
          <p:cNvSpPr/>
          <p:nvPr/>
        </p:nvSpPr>
        <p:spPr>
          <a:xfrm>
            <a:off x="4005526" y="85874"/>
            <a:ext cx="4277902"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מודל </a:t>
            </a:r>
            <a:r>
              <a:rPr lang="en-US" sz="6000" b="0" cap="none" spc="0" dirty="0">
                <a:ln w="0"/>
                <a:solidFill>
                  <a:schemeClr val="accent1"/>
                </a:solidFill>
                <a:effectLst>
                  <a:outerShdw blurRad="38100" dist="25400" dir="5400000" algn="ctr" rotWithShape="0">
                    <a:srgbClr val="6E747A">
                      <a:alpha val="43000"/>
                    </a:srgbClr>
                  </a:outerShdw>
                </a:effectLst>
              </a:rPr>
              <a:t>VRIN/O</a:t>
            </a:r>
            <a:endParaRPr lang="he-IL" sz="6000" b="0" cap="none" spc="0" dirty="0">
              <a:ln w="0"/>
              <a:solidFill>
                <a:schemeClr val="accent1"/>
              </a:solidFill>
              <a:effectLst>
                <a:outerShdw blurRad="38100" dist="25400" dir="5400000" algn="ctr" rotWithShape="0">
                  <a:srgbClr val="6E747A">
                    <a:alpha val="43000"/>
                  </a:srgbClr>
                </a:outerShdw>
              </a:effectLst>
            </a:endParaRPr>
          </a:p>
        </p:txBody>
      </p:sp>
      <p:graphicFrame>
        <p:nvGraphicFramePr>
          <p:cNvPr id="13" name="דיאגרמה 12">
            <a:extLst>
              <a:ext uri="{FF2B5EF4-FFF2-40B4-BE49-F238E27FC236}">
                <a16:creationId xmlns:a16="http://schemas.microsoft.com/office/drawing/2014/main" id="{26ABEBA5-435A-6D97-F94F-8BB3998DC06E}"/>
              </a:ext>
            </a:extLst>
          </p:cNvPr>
          <p:cNvGraphicFramePr/>
          <p:nvPr>
            <p:extLst>
              <p:ext uri="{D42A27DB-BD31-4B8C-83A1-F6EECF244321}">
                <p14:modId xmlns:p14="http://schemas.microsoft.com/office/powerpoint/2010/main" val="2106794736"/>
              </p:ext>
            </p:extLst>
          </p:nvPr>
        </p:nvGraphicFramePr>
        <p:xfrm>
          <a:off x="723966" y="1692103"/>
          <a:ext cx="9818345" cy="44795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18" name="גרפיקה 17" descr="סימן ביקורת עם מילוי מלא">
            <a:extLst>
              <a:ext uri="{FF2B5EF4-FFF2-40B4-BE49-F238E27FC236}">
                <a16:creationId xmlns:a16="http://schemas.microsoft.com/office/drawing/2014/main" id="{A185150A-A371-3DDC-6114-8BD9E4E59C3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26928" y="1551432"/>
            <a:ext cx="914400" cy="914400"/>
          </a:xfrm>
          <a:prstGeom prst="rect">
            <a:avLst/>
          </a:prstGeom>
        </p:spPr>
      </p:pic>
      <p:pic>
        <p:nvPicPr>
          <p:cNvPr id="19" name="גרפיקה 18" descr="סימן ביקורת עם מילוי מלא">
            <a:extLst>
              <a:ext uri="{FF2B5EF4-FFF2-40B4-BE49-F238E27FC236}">
                <a16:creationId xmlns:a16="http://schemas.microsoft.com/office/drawing/2014/main" id="{407F7329-85A0-F61B-E9C3-9A955C25D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26928" y="3668765"/>
            <a:ext cx="914400" cy="914400"/>
          </a:xfrm>
          <a:prstGeom prst="rect">
            <a:avLst/>
          </a:prstGeom>
        </p:spPr>
      </p:pic>
      <p:pic>
        <p:nvPicPr>
          <p:cNvPr id="20" name="גרפיקה 19" descr="סימן ביקורת עם מילוי מלא">
            <a:extLst>
              <a:ext uri="{FF2B5EF4-FFF2-40B4-BE49-F238E27FC236}">
                <a16:creationId xmlns:a16="http://schemas.microsoft.com/office/drawing/2014/main" id="{7FE07D9E-367E-A495-8CD4-06A37387A7C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26928" y="4926562"/>
            <a:ext cx="914400" cy="914400"/>
          </a:xfrm>
          <a:prstGeom prst="rect">
            <a:avLst/>
          </a:prstGeom>
        </p:spPr>
      </p:pic>
      <p:pic>
        <p:nvPicPr>
          <p:cNvPr id="22" name="גרפיקה 21" descr="סגור עם מילוי מלא">
            <a:extLst>
              <a:ext uri="{FF2B5EF4-FFF2-40B4-BE49-F238E27FC236}">
                <a16:creationId xmlns:a16="http://schemas.microsoft.com/office/drawing/2014/main" id="{6DFCAF23-ABA2-B262-6647-EAD2514B3FB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82224" y="2700528"/>
            <a:ext cx="914400" cy="914400"/>
          </a:xfrm>
          <a:prstGeom prst="rect">
            <a:avLst/>
          </a:prstGeom>
        </p:spPr>
      </p:pic>
    </p:spTree>
    <p:extLst>
      <p:ext uri="{BB962C8B-B14F-4D97-AF65-F5344CB8AC3E}">
        <p14:creationId xmlns:p14="http://schemas.microsoft.com/office/powerpoint/2010/main" val="2265533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53030A-1C07-FEC6-1272-5D579F384453}"/>
            </a:ext>
          </a:extLst>
        </p:cNvPr>
        <p:cNvGrpSpPr/>
        <p:nvPr/>
      </p:nvGrpSpPr>
      <p:grpSpPr>
        <a:xfrm>
          <a:off x="0" y="0"/>
          <a:ext cx="0" cy="0"/>
          <a:chOff x="0" y="0"/>
          <a:chExt cx="0" cy="0"/>
        </a:xfrm>
      </p:grpSpPr>
      <p:pic>
        <p:nvPicPr>
          <p:cNvPr id="6" name="תמונה 5">
            <a:extLst>
              <a:ext uri="{FF2B5EF4-FFF2-40B4-BE49-F238E27FC236}">
                <a16:creationId xmlns:a16="http://schemas.microsoft.com/office/drawing/2014/main" id="{DF95139E-319C-2FE0-6C3E-DC10A14D7BE7}"/>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04A59DB6-B3BD-FEC2-62FE-A6318ECB2DF3}"/>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A799D52B-0925-3EF3-C99C-207037AB1D92}"/>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76D6AB86-8618-87B2-A6D9-581F926DB85B}"/>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A875388D-9512-7AA0-16C5-2C4AFF419045}"/>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F4535129-94F3-CF12-7ED6-E042C980E149}"/>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DCA67C04-ACE7-FF8B-5633-AB9D7A563705}"/>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63162FEA-D714-CCA2-003B-4446DBA9C1AD}"/>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19</a:t>
            </a:fld>
            <a:endParaRPr lang="he-IL" sz="1800" b="1" dirty="0">
              <a:solidFill>
                <a:srgbClr val="002060"/>
              </a:solidFill>
            </a:endParaRPr>
          </a:p>
        </p:txBody>
      </p:sp>
      <p:sp>
        <p:nvSpPr>
          <p:cNvPr id="16" name="מלבן 15">
            <a:extLst>
              <a:ext uri="{FF2B5EF4-FFF2-40B4-BE49-F238E27FC236}">
                <a16:creationId xmlns:a16="http://schemas.microsoft.com/office/drawing/2014/main" id="{FE7C7DF3-49CC-A269-722C-D48E3B9CCEE0}"/>
              </a:ext>
            </a:extLst>
          </p:cNvPr>
          <p:cNvSpPr/>
          <p:nvPr/>
        </p:nvSpPr>
        <p:spPr>
          <a:xfrm>
            <a:off x="3182553" y="-111151"/>
            <a:ext cx="6035627" cy="1938992"/>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התפתחות </a:t>
            </a:r>
          </a:p>
          <a:p>
            <a:pPr algn="ctr"/>
            <a:r>
              <a:rPr lang="he-IL" sz="6000" b="0" cap="none" spc="0" dirty="0">
                <a:ln w="0"/>
                <a:solidFill>
                  <a:schemeClr val="accent1"/>
                </a:solidFill>
                <a:effectLst>
                  <a:outerShdw blurRad="38100" dist="25400" dir="5400000" algn="ctr" rotWithShape="0">
                    <a:srgbClr val="6E747A">
                      <a:alpha val="43000"/>
                    </a:srgbClr>
                  </a:outerShdw>
                </a:effectLst>
              </a:rPr>
              <a:t>אסטרטגיים עתידיים</a:t>
            </a:r>
          </a:p>
        </p:txBody>
      </p:sp>
      <p:graphicFrame>
        <p:nvGraphicFramePr>
          <p:cNvPr id="4" name="דיאגרמה 3">
            <a:extLst>
              <a:ext uri="{FF2B5EF4-FFF2-40B4-BE49-F238E27FC236}">
                <a16:creationId xmlns:a16="http://schemas.microsoft.com/office/drawing/2014/main" id="{251CEC34-C965-FE57-AEC9-2F297093CAFC}"/>
              </a:ext>
            </a:extLst>
          </p:cNvPr>
          <p:cNvGraphicFramePr/>
          <p:nvPr>
            <p:extLst>
              <p:ext uri="{D42A27DB-BD31-4B8C-83A1-F6EECF244321}">
                <p14:modId xmlns:p14="http://schemas.microsoft.com/office/powerpoint/2010/main" val="306089257"/>
              </p:ext>
            </p:extLst>
          </p:nvPr>
        </p:nvGraphicFramePr>
        <p:xfrm>
          <a:off x="1320744" y="2143824"/>
          <a:ext cx="9399585" cy="40673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 name="תיבת טקסט 1">
            <a:extLst>
              <a:ext uri="{FF2B5EF4-FFF2-40B4-BE49-F238E27FC236}">
                <a16:creationId xmlns:a16="http://schemas.microsoft.com/office/drawing/2014/main" id="{DBEC82AF-8591-7934-4953-775D941CD3D1}"/>
              </a:ext>
            </a:extLst>
          </p:cNvPr>
          <p:cNvSpPr txBox="1"/>
          <p:nvPr/>
        </p:nvSpPr>
        <p:spPr>
          <a:xfrm>
            <a:off x="6695022" y="1838874"/>
            <a:ext cx="1789889" cy="400110"/>
          </a:xfrm>
          <a:prstGeom prst="rect">
            <a:avLst/>
          </a:prstGeom>
          <a:noFill/>
        </p:spPr>
        <p:txBody>
          <a:bodyPr wrap="square" rtlCol="1">
            <a:spAutoFit/>
          </a:bodyPr>
          <a:lstStyle/>
          <a:p>
            <a:r>
              <a:rPr lang="en-US" sz="2000" b="1" dirty="0">
                <a:solidFill>
                  <a:srgbClr val="00B0F0"/>
                </a:solidFill>
              </a:rPr>
              <a:t>Penetration</a:t>
            </a:r>
            <a:endParaRPr lang="he-IL" sz="2000" b="1" dirty="0">
              <a:solidFill>
                <a:srgbClr val="00B0F0"/>
              </a:solidFill>
            </a:endParaRPr>
          </a:p>
        </p:txBody>
      </p:sp>
      <p:sp>
        <p:nvSpPr>
          <p:cNvPr id="3" name="תיבת טקסט 2">
            <a:extLst>
              <a:ext uri="{FF2B5EF4-FFF2-40B4-BE49-F238E27FC236}">
                <a16:creationId xmlns:a16="http://schemas.microsoft.com/office/drawing/2014/main" id="{0FA1C4B9-DD41-C651-35C7-D3EEBD98C51F}"/>
              </a:ext>
            </a:extLst>
          </p:cNvPr>
          <p:cNvSpPr txBox="1"/>
          <p:nvPr/>
        </p:nvSpPr>
        <p:spPr>
          <a:xfrm>
            <a:off x="2761809" y="1774144"/>
            <a:ext cx="2767211" cy="400110"/>
          </a:xfrm>
          <a:prstGeom prst="rect">
            <a:avLst/>
          </a:prstGeom>
          <a:noFill/>
        </p:spPr>
        <p:txBody>
          <a:bodyPr wrap="square" rtlCol="1">
            <a:spAutoFit/>
          </a:bodyPr>
          <a:lstStyle/>
          <a:p>
            <a:r>
              <a:rPr lang="en-US" sz="2000" b="1" dirty="0">
                <a:solidFill>
                  <a:srgbClr val="00B0F0"/>
                </a:solidFill>
              </a:rPr>
              <a:t>Market Development</a:t>
            </a:r>
            <a:endParaRPr lang="he-IL" sz="2000" b="1" dirty="0">
              <a:solidFill>
                <a:srgbClr val="00B0F0"/>
              </a:solidFill>
            </a:endParaRPr>
          </a:p>
        </p:txBody>
      </p:sp>
      <p:sp>
        <p:nvSpPr>
          <p:cNvPr id="5" name="תיבת טקסט 4">
            <a:extLst>
              <a:ext uri="{FF2B5EF4-FFF2-40B4-BE49-F238E27FC236}">
                <a16:creationId xmlns:a16="http://schemas.microsoft.com/office/drawing/2014/main" id="{23BB496D-ED8D-8991-7BFF-D4D04537F121}"/>
              </a:ext>
            </a:extLst>
          </p:cNvPr>
          <p:cNvSpPr txBox="1"/>
          <p:nvPr/>
        </p:nvSpPr>
        <p:spPr>
          <a:xfrm>
            <a:off x="5638813" y="4024999"/>
            <a:ext cx="3426529" cy="400110"/>
          </a:xfrm>
          <a:prstGeom prst="rect">
            <a:avLst/>
          </a:prstGeom>
          <a:noFill/>
        </p:spPr>
        <p:txBody>
          <a:bodyPr wrap="square" rtlCol="1">
            <a:spAutoFit/>
          </a:bodyPr>
          <a:lstStyle/>
          <a:p>
            <a:r>
              <a:rPr lang="en-US" sz="2000" b="1" dirty="0">
                <a:solidFill>
                  <a:srgbClr val="00B0F0"/>
                </a:solidFill>
              </a:rPr>
              <a:t>Product Development</a:t>
            </a:r>
            <a:endParaRPr lang="he-IL" sz="2000" b="1" dirty="0">
              <a:solidFill>
                <a:srgbClr val="00B0F0"/>
              </a:solidFill>
            </a:endParaRPr>
          </a:p>
        </p:txBody>
      </p:sp>
      <p:sp>
        <p:nvSpPr>
          <p:cNvPr id="13" name="תיבת טקסט 12">
            <a:extLst>
              <a:ext uri="{FF2B5EF4-FFF2-40B4-BE49-F238E27FC236}">
                <a16:creationId xmlns:a16="http://schemas.microsoft.com/office/drawing/2014/main" id="{00024F1F-6F40-B962-F839-CD606250BEC5}"/>
              </a:ext>
            </a:extLst>
          </p:cNvPr>
          <p:cNvSpPr txBox="1"/>
          <p:nvPr/>
        </p:nvSpPr>
        <p:spPr>
          <a:xfrm>
            <a:off x="3112995" y="3992634"/>
            <a:ext cx="2064837" cy="400110"/>
          </a:xfrm>
          <a:prstGeom prst="rect">
            <a:avLst/>
          </a:prstGeom>
          <a:noFill/>
        </p:spPr>
        <p:txBody>
          <a:bodyPr wrap="square" rtlCol="1">
            <a:spAutoFit/>
          </a:bodyPr>
          <a:lstStyle/>
          <a:p>
            <a:r>
              <a:rPr lang="en-US" sz="2000" b="1" dirty="0">
                <a:solidFill>
                  <a:srgbClr val="00B0F0"/>
                </a:solidFill>
              </a:rPr>
              <a:t>Diversification</a:t>
            </a:r>
            <a:endParaRPr lang="he-IL" sz="2000" b="1" dirty="0">
              <a:solidFill>
                <a:srgbClr val="00B0F0"/>
              </a:solidFill>
            </a:endParaRPr>
          </a:p>
        </p:txBody>
      </p:sp>
      <p:pic>
        <p:nvPicPr>
          <p:cNvPr id="2050" name="Picture 2" descr="רונן מרדכי גרין על מודל &quot;אנסוף&quot; | אסטרטגיות צמיחה מאת רונן מרדכי גרין">
            <a:extLst>
              <a:ext uri="{FF2B5EF4-FFF2-40B4-BE49-F238E27FC236}">
                <a16:creationId xmlns:a16="http://schemas.microsoft.com/office/drawing/2014/main" id="{080D4866-580D-BDA2-E5D9-44D47549ADF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697" y="2918641"/>
            <a:ext cx="2523905" cy="195491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9" name="תמונה 18" descr="תמונה שמכילה אדם, חליפה, איש, ספרה&#10;&#10;התיאור נוצר באופן אוטומטי">
            <a:extLst>
              <a:ext uri="{FF2B5EF4-FFF2-40B4-BE49-F238E27FC236}">
                <a16:creationId xmlns:a16="http://schemas.microsoft.com/office/drawing/2014/main" id="{1F7A8C73-EC5C-E92E-B9ED-375771EE4D46}"/>
              </a:ext>
            </a:extLst>
          </p:cNvPr>
          <p:cNvPicPr>
            <a:picLocks noChangeAspect="1"/>
          </p:cNvPicPr>
          <p:nvPr/>
        </p:nvPicPr>
        <p:blipFill>
          <a:blip r:embed="rId12"/>
          <a:stretch>
            <a:fillRect/>
          </a:stretch>
        </p:blipFill>
        <p:spPr>
          <a:xfrm>
            <a:off x="9590275" y="2918640"/>
            <a:ext cx="2384101" cy="1954917"/>
          </a:xfrm>
          <a:prstGeom prst="rect">
            <a:avLst/>
          </a:prstGeom>
          <a:ln>
            <a:noFill/>
          </a:ln>
          <a:effectLst>
            <a:softEdge rad="112500"/>
          </a:effectLst>
        </p:spPr>
      </p:pic>
    </p:spTree>
    <p:extLst>
      <p:ext uri="{BB962C8B-B14F-4D97-AF65-F5344CB8AC3E}">
        <p14:creationId xmlns:p14="http://schemas.microsoft.com/office/powerpoint/2010/main" val="4273851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20</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374220" y="278792"/>
            <a:ext cx="5224508"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לקחים </a:t>
            </a:r>
            <a:r>
              <a:rPr lang="he-IL" sz="6000" b="0" cap="none" spc="0" dirty="0" err="1">
                <a:ln w="0"/>
                <a:solidFill>
                  <a:schemeClr val="accent1"/>
                </a:solidFill>
                <a:effectLst>
                  <a:outerShdw blurRad="38100" dist="25400" dir="5400000" algn="ctr" rotWithShape="0">
                    <a:srgbClr val="6E747A">
                      <a:alpha val="43000"/>
                    </a:srgbClr>
                  </a:outerShdw>
                </a:effectLst>
              </a:rPr>
              <a:t>מוולמארט</a:t>
            </a:r>
            <a:endParaRPr lang="he-IL" sz="6000" b="0" cap="none" spc="0" dirty="0">
              <a:ln w="0"/>
              <a:solidFill>
                <a:schemeClr val="accent1"/>
              </a:solidFill>
              <a:effectLst>
                <a:outerShdw blurRad="38100" dist="25400" dir="5400000" algn="ctr" rotWithShape="0">
                  <a:srgbClr val="6E747A">
                    <a:alpha val="43000"/>
                  </a:srgbClr>
                </a:outerShdw>
              </a:effectLst>
            </a:endParaRPr>
          </a:p>
        </p:txBody>
      </p:sp>
      <p:pic>
        <p:nvPicPr>
          <p:cNvPr id="3" name="תמונה 2">
            <a:extLst>
              <a:ext uri="{FF2B5EF4-FFF2-40B4-BE49-F238E27FC236}">
                <a16:creationId xmlns:a16="http://schemas.microsoft.com/office/drawing/2014/main" id="{43688007-7181-A497-7D7D-3C8448293E4E}"/>
              </a:ext>
            </a:extLst>
          </p:cNvPr>
          <p:cNvPicPr>
            <a:picLocks noChangeAspect="1"/>
          </p:cNvPicPr>
          <p:nvPr/>
        </p:nvPicPr>
        <p:blipFill>
          <a:blip r:embed="rId6">
            <a:alphaModFix amt="35000"/>
          </a:blip>
          <a:stretch>
            <a:fillRect/>
          </a:stretch>
        </p:blipFill>
        <p:spPr>
          <a:xfrm>
            <a:off x="562261" y="1337476"/>
            <a:ext cx="11457019" cy="4834127"/>
          </a:xfrm>
          <a:prstGeom prst="rect">
            <a:avLst/>
          </a:prstGeom>
        </p:spPr>
      </p:pic>
      <p:graphicFrame>
        <p:nvGraphicFramePr>
          <p:cNvPr id="5" name="דיאגרמה 4">
            <a:extLst>
              <a:ext uri="{FF2B5EF4-FFF2-40B4-BE49-F238E27FC236}">
                <a16:creationId xmlns:a16="http://schemas.microsoft.com/office/drawing/2014/main" id="{0E846BDE-9D7E-B774-A328-24113C93E071}"/>
              </a:ext>
            </a:extLst>
          </p:cNvPr>
          <p:cNvGraphicFramePr/>
          <p:nvPr>
            <p:extLst>
              <p:ext uri="{D42A27DB-BD31-4B8C-83A1-F6EECF244321}">
                <p14:modId xmlns:p14="http://schemas.microsoft.com/office/powerpoint/2010/main" val="821421807"/>
              </p:ext>
            </p:extLst>
          </p:nvPr>
        </p:nvGraphicFramePr>
        <p:xfrm>
          <a:off x="1654615" y="1729364"/>
          <a:ext cx="9272310" cy="41817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37002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21</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820655" y="278792"/>
            <a:ext cx="4331635"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לקחים מזארה</a:t>
            </a:r>
          </a:p>
        </p:txBody>
      </p:sp>
      <p:pic>
        <p:nvPicPr>
          <p:cNvPr id="1028" name="Picture 4">
            <a:extLst>
              <a:ext uri="{FF2B5EF4-FFF2-40B4-BE49-F238E27FC236}">
                <a16:creationId xmlns:a16="http://schemas.microsoft.com/office/drawing/2014/main" id="{CDF7A7CC-ADF6-FBE9-2E6E-F3215F2A11FA}"/>
              </a:ext>
            </a:extLst>
          </p:cNvPr>
          <p:cNvPicPr>
            <a:picLocks noChangeAspect="1" noChangeArrowheads="1"/>
          </p:cNvPicPr>
          <p:nvPr/>
        </p:nvPicPr>
        <p:blipFill>
          <a:blip r:embed="rId6">
            <a:alphaModFix amt="35000"/>
            <a:extLst>
              <a:ext uri="{28A0092B-C50C-407E-A947-70E740481C1C}">
                <a14:useLocalDpi xmlns:a14="http://schemas.microsoft.com/office/drawing/2010/main" val="0"/>
              </a:ext>
            </a:extLst>
          </a:blip>
          <a:srcRect/>
          <a:stretch>
            <a:fillRect/>
          </a:stretch>
        </p:blipFill>
        <p:spPr bwMode="auto">
          <a:xfrm>
            <a:off x="687915" y="2053188"/>
            <a:ext cx="11150466" cy="353406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דיאגרמה 13">
            <a:extLst>
              <a:ext uri="{FF2B5EF4-FFF2-40B4-BE49-F238E27FC236}">
                <a16:creationId xmlns:a16="http://schemas.microsoft.com/office/drawing/2014/main" id="{45A42D39-141B-F53F-C9C3-1FAEC3F26F68}"/>
              </a:ext>
            </a:extLst>
          </p:cNvPr>
          <p:cNvGraphicFramePr/>
          <p:nvPr>
            <p:extLst>
              <p:ext uri="{D42A27DB-BD31-4B8C-83A1-F6EECF244321}">
                <p14:modId xmlns:p14="http://schemas.microsoft.com/office/powerpoint/2010/main" val="3148882235"/>
              </p:ext>
            </p:extLst>
          </p:nvPr>
        </p:nvGraphicFramePr>
        <p:xfrm>
          <a:off x="1160206" y="1458615"/>
          <a:ext cx="9736759" cy="43227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65650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22</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733292" y="278792"/>
            <a:ext cx="4506362"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ניתוח </a:t>
            </a:r>
            <a:r>
              <a:rPr lang="he-IL" sz="6000" b="0" cap="none" spc="0" dirty="0" err="1">
                <a:ln w="0"/>
                <a:solidFill>
                  <a:schemeClr val="accent1"/>
                </a:solidFill>
                <a:effectLst>
                  <a:outerShdw blurRad="38100" dist="25400" dir="5400000" algn="ctr" rotWithShape="0">
                    <a:srgbClr val="6E747A">
                      <a:alpha val="43000"/>
                    </a:srgbClr>
                  </a:outerShdw>
                </a:effectLst>
              </a:rPr>
              <a:t>כלכליסט</a:t>
            </a:r>
            <a:endParaRPr lang="he-IL" sz="6000" b="0" cap="none" spc="0" dirty="0">
              <a:ln w="0"/>
              <a:solidFill>
                <a:schemeClr val="accent1"/>
              </a:solidFill>
              <a:effectLst>
                <a:outerShdw blurRad="38100" dist="25400" dir="5400000" algn="ctr" rotWithShape="0">
                  <a:srgbClr val="6E747A">
                    <a:alpha val="43000"/>
                  </a:srgbClr>
                </a:outerShdw>
              </a:effectLst>
            </a:endParaRPr>
          </a:p>
        </p:txBody>
      </p:sp>
      <p:pic>
        <p:nvPicPr>
          <p:cNvPr id="2" name="תמונה 1">
            <a:extLst>
              <a:ext uri="{FF2B5EF4-FFF2-40B4-BE49-F238E27FC236}">
                <a16:creationId xmlns:a16="http://schemas.microsoft.com/office/drawing/2014/main" id="{3B216E7E-217E-0A6A-DBD6-D5874BB8314B}"/>
              </a:ext>
            </a:extLst>
          </p:cNvPr>
          <p:cNvPicPr>
            <a:picLocks noChangeAspect="1"/>
          </p:cNvPicPr>
          <p:nvPr/>
        </p:nvPicPr>
        <p:blipFill>
          <a:blip r:embed="rId6"/>
          <a:stretch>
            <a:fillRect/>
          </a:stretch>
        </p:blipFill>
        <p:spPr>
          <a:xfrm>
            <a:off x="1671019" y="1847925"/>
            <a:ext cx="7935557" cy="3709595"/>
          </a:xfrm>
          <a:prstGeom prst="rect">
            <a:avLst/>
          </a:prstGeom>
          <a:ln>
            <a:noFill/>
          </a:ln>
          <a:effectLst>
            <a:outerShdw blurRad="292100" dist="139700" dir="2700000" algn="tl" rotWithShape="0">
              <a:schemeClr val="accent4">
                <a:alpha val="65000"/>
              </a:schemeClr>
            </a:outerShdw>
          </a:effectLst>
        </p:spPr>
      </p:pic>
    </p:spTree>
    <p:extLst>
      <p:ext uri="{BB962C8B-B14F-4D97-AF65-F5344CB8AC3E}">
        <p14:creationId xmlns:p14="http://schemas.microsoft.com/office/powerpoint/2010/main" val="3897204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D274C12-261A-D420-6123-9829840AC0D9}"/>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rcRect l="8945" t="16783" r="13050" b="27066"/>
          <a:stretch/>
        </p:blipFill>
        <p:spPr>
          <a:xfrm>
            <a:off x="140393" y="239463"/>
            <a:ext cx="2767211" cy="862074"/>
          </a:xfrm>
          <a:prstGeom prst="rect">
            <a:avLst/>
          </a:prstGeom>
        </p:spPr>
      </p:pic>
      <p:pic>
        <p:nvPicPr>
          <p:cNvPr id="7" name="תמונה 6">
            <a:extLst>
              <a:ext uri="{FF2B5EF4-FFF2-40B4-BE49-F238E27FC236}">
                <a16:creationId xmlns:a16="http://schemas.microsoft.com/office/drawing/2014/main" id="{7BFAF3B0-AAC3-7A8B-6AA0-D2A0CB429967}"/>
              </a:ext>
            </a:extLst>
          </p:cNvPr>
          <p:cNvPicPr>
            <a:picLocks noChangeAspect="1"/>
          </p:cNvPicPr>
          <p:nvPr/>
        </p:nvPicPr>
        <p:blipFill rotWithShape="1">
          <a:blip r:embed="rId5"/>
          <a:srcRect l="28966"/>
          <a:stretch/>
        </p:blipFill>
        <p:spPr>
          <a:xfrm>
            <a:off x="9065342" y="111968"/>
            <a:ext cx="2953938" cy="1117064"/>
          </a:xfrm>
          <a:prstGeom prst="rect">
            <a:avLst/>
          </a:prstGeom>
        </p:spPr>
      </p:pic>
      <p:sp>
        <p:nvSpPr>
          <p:cNvPr id="8" name="מלבן 7">
            <a:extLst>
              <a:ext uri="{FF2B5EF4-FFF2-40B4-BE49-F238E27FC236}">
                <a16:creationId xmlns:a16="http://schemas.microsoft.com/office/drawing/2014/main" id="{7D0A9B14-6B3A-5D3B-CE5F-6F90D526CB56}"/>
              </a:ext>
            </a:extLst>
          </p:cNvPr>
          <p:cNvSpPr/>
          <p:nvPr/>
        </p:nvSpPr>
        <p:spPr>
          <a:xfrm>
            <a:off x="-34413" y="6283916"/>
            <a:ext cx="12260825" cy="634181"/>
          </a:xfrm>
          <a:prstGeom prst="rect">
            <a:avLst/>
          </a:prstGeom>
        </p:spPr>
        <p:style>
          <a:lnRef idx="3">
            <a:schemeClr val="lt1"/>
          </a:lnRef>
          <a:fillRef idx="1">
            <a:schemeClr val="accent1"/>
          </a:fillRef>
          <a:effectRef idx="1">
            <a:schemeClr val="accent1"/>
          </a:effectRef>
          <a:fontRef idx="minor">
            <a:schemeClr val="lt1"/>
          </a:fontRef>
        </p:style>
        <p:txBody>
          <a:bodyPr rtlCol="1" anchor="ctr"/>
          <a:lstStyle/>
          <a:p>
            <a:pPr algn="ctr"/>
            <a:endParaRPr lang="he-IL" dirty="0"/>
          </a:p>
        </p:txBody>
      </p:sp>
      <p:sp>
        <p:nvSpPr>
          <p:cNvPr id="9" name="מציין מיקום של כותרת תחתונה 2">
            <a:extLst>
              <a:ext uri="{FF2B5EF4-FFF2-40B4-BE49-F238E27FC236}">
                <a16:creationId xmlns:a16="http://schemas.microsoft.com/office/drawing/2014/main" id="{35507A93-54F5-045D-097B-48C70DFDFDEC}"/>
              </a:ext>
            </a:extLst>
          </p:cNvPr>
          <p:cNvSpPr txBox="1">
            <a:spLocks/>
          </p:cNvSpPr>
          <p:nvPr/>
        </p:nvSpPr>
        <p:spPr>
          <a:xfrm>
            <a:off x="6427511"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אסטרטגיה עסקית</a:t>
            </a:r>
          </a:p>
        </p:txBody>
      </p:sp>
      <p:sp>
        <p:nvSpPr>
          <p:cNvPr id="10" name="מציין מיקום של כותרת תחתונה 2">
            <a:extLst>
              <a:ext uri="{FF2B5EF4-FFF2-40B4-BE49-F238E27FC236}">
                <a16:creationId xmlns:a16="http://schemas.microsoft.com/office/drawing/2014/main" id="{8746F85A-0740-BD5F-0C9C-F5D89899CC23}"/>
              </a:ext>
            </a:extLst>
          </p:cNvPr>
          <p:cNvSpPr txBox="1">
            <a:spLocks/>
          </p:cNvSpPr>
          <p:nvPr/>
        </p:nvSpPr>
        <p:spPr>
          <a:xfrm>
            <a:off x="3963137" y="644807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a:t>20.09.2024</a:t>
            </a:r>
          </a:p>
        </p:txBody>
      </p:sp>
      <p:sp>
        <p:nvSpPr>
          <p:cNvPr id="11" name="מציין מיקום של כותרת תחתונה 2">
            <a:extLst>
              <a:ext uri="{FF2B5EF4-FFF2-40B4-BE49-F238E27FC236}">
                <a16:creationId xmlns:a16="http://schemas.microsoft.com/office/drawing/2014/main" id="{AD3BA034-4A1A-9297-1A64-53F8C4861BE1}"/>
              </a:ext>
            </a:extLst>
          </p:cNvPr>
          <p:cNvSpPr txBox="1">
            <a:spLocks/>
          </p:cNvSpPr>
          <p:nvPr/>
        </p:nvSpPr>
        <p:spPr>
          <a:xfrm>
            <a:off x="1523998" y="6422857"/>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he-IL" b="1" dirty="0" err="1">
                <a:latin typeface="Calibri" panose="020F0502020204030204"/>
              </a:rPr>
              <a:t>עדליא</a:t>
            </a:r>
            <a:r>
              <a:rPr lang="he-IL" b="1" dirty="0">
                <a:latin typeface="Calibri" panose="020F0502020204030204"/>
              </a:rPr>
              <a:t> - ייעוץ כלכלי בע"מ</a:t>
            </a:r>
          </a:p>
        </p:txBody>
      </p:sp>
      <p:sp>
        <p:nvSpPr>
          <p:cNvPr id="12" name="משולש ישר-זווית 11">
            <a:extLst>
              <a:ext uri="{FF2B5EF4-FFF2-40B4-BE49-F238E27FC236}">
                <a16:creationId xmlns:a16="http://schemas.microsoft.com/office/drawing/2014/main" id="{54DC078A-0DAD-5132-3FE7-8AF9E38E70B7}"/>
              </a:ext>
            </a:extLst>
          </p:cNvPr>
          <p:cNvSpPr/>
          <p:nvPr/>
        </p:nvSpPr>
        <p:spPr>
          <a:xfrm>
            <a:off x="0" y="6301718"/>
            <a:ext cx="887690" cy="598576"/>
          </a:xfrm>
          <a:prstGeom prst="rtTriangle">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b="1" dirty="0">
              <a:solidFill>
                <a:srgbClr val="002060"/>
              </a:solidFill>
            </a:endParaRPr>
          </a:p>
        </p:txBody>
      </p:sp>
      <p:sp>
        <p:nvSpPr>
          <p:cNvPr id="15" name="מציין מיקום של מספר שקופית 14">
            <a:extLst>
              <a:ext uri="{FF2B5EF4-FFF2-40B4-BE49-F238E27FC236}">
                <a16:creationId xmlns:a16="http://schemas.microsoft.com/office/drawing/2014/main" id="{3C36AA5C-3C18-B90A-88F6-2875D2B1EBF2}"/>
              </a:ext>
            </a:extLst>
          </p:cNvPr>
          <p:cNvSpPr>
            <a:spLocks noGrp="1"/>
          </p:cNvSpPr>
          <p:nvPr>
            <p:ph type="sldNum" sz="quarter" idx="12"/>
          </p:nvPr>
        </p:nvSpPr>
        <p:spPr>
          <a:xfrm>
            <a:off x="66697" y="6448076"/>
            <a:ext cx="2743200" cy="365125"/>
          </a:xfrm>
        </p:spPr>
        <p:txBody>
          <a:bodyPr/>
          <a:lstStyle/>
          <a:p>
            <a:endParaRPr lang="he-IL" dirty="0"/>
          </a:p>
          <a:p>
            <a:fld id="{E06EC34E-F7E0-477E-B27B-C28BB6EFBFB2}" type="slidenum">
              <a:rPr lang="he-IL" sz="1800" b="1" smtClean="0">
                <a:solidFill>
                  <a:srgbClr val="002060"/>
                </a:solidFill>
              </a:rPr>
              <a:t>23</a:t>
            </a:fld>
            <a:endParaRPr lang="he-IL" sz="1800" b="1" dirty="0">
              <a:solidFill>
                <a:srgbClr val="002060"/>
              </a:solidFill>
            </a:endParaRPr>
          </a:p>
        </p:txBody>
      </p:sp>
      <p:sp>
        <p:nvSpPr>
          <p:cNvPr id="16" name="מלבן 15">
            <a:extLst>
              <a:ext uri="{FF2B5EF4-FFF2-40B4-BE49-F238E27FC236}">
                <a16:creationId xmlns:a16="http://schemas.microsoft.com/office/drawing/2014/main" id="{813A3A75-F2CB-477B-2E69-5641D97A9CD5}"/>
              </a:ext>
            </a:extLst>
          </p:cNvPr>
          <p:cNvSpPr/>
          <p:nvPr/>
        </p:nvSpPr>
        <p:spPr>
          <a:xfrm>
            <a:off x="3733292" y="278792"/>
            <a:ext cx="4506362" cy="1015663"/>
          </a:xfrm>
          <a:prstGeom prst="rect">
            <a:avLst/>
          </a:prstGeom>
          <a:noFill/>
        </p:spPr>
        <p:txBody>
          <a:bodyPr wrap="none" lIns="91440" tIns="45720" rIns="91440" bIns="45720">
            <a:spAutoFit/>
          </a:bodyPr>
          <a:lstStyle/>
          <a:p>
            <a:pPr algn="ctr"/>
            <a:r>
              <a:rPr lang="he-IL" sz="6000" b="0" cap="none" spc="0" dirty="0">
                <a:ln w="0"/>
                <a:solidFill>
                  <a:schemeClr val="accent1"/>
                </a:solidFill>
                <a:effectLst>
                  <a:outerShdw blurRad="38100" dist="25400" dir="5400000" algn="ctr" rotWithShape="0">
                    <a:srgbClr val="6E747A">
                      <a:alpha val="43000"/>
                    </a:srgbClr>
                  </a:outerShdw>
                </a:effectLst>
              </a:rPr>
              <a:t>ניתוח </a:t>
            </a:r>
            <a:r>
              <a:rPr lang="he-IL" sz="6000" b="0" cap="none" spc="0" dirty="0" err="1">
                <a:ln w="0"/>
                <a:solidFill>
                  <a:schemeClr val="accent1"/>
                </a:solidFill>
                <a:effectLst>
                  <a:outerShdw blurRad="38100" dist="25400" dir="5400000" algn="ctr" rotWithShape="0">
                    <a:srgbClr val="6E747A">
                      <a:alpha val="43000"/>
                    </a:srgbClr>
                  </a:outerShdw>
                </a:effectLst>
              </a:rPr>
              <a:t>כלכליסט</a:t>
            </a:r>
            <a:endParaRPr lang="he-IL" sz="6000" b="0" cap="none" spc="0" dirty="0">
              <a:ln w="0"/>
              <a:solidFill>
                <a:schemeClr val="accent1"/>
              </a:solidFill>
              <a:effectLst>
                <a:outerShdw blurRad="38100" dist="25400" dir="5400000" algn="ctr" rotWithShape="0">
                  <a:srgbClr val="6E747A">
                    <a:alpha val="43000"/>
                  </a:srgbClr>
                </a:outerShdw>
              </a:effectLst>
            </a:endParaRPr>
          </a:p>
        </p:txBody>
      </p:sp>
      <p:pic>
        <p:nvPicPr>
          <p:cNvPr id="3" name="תמונה 2">
            <a:extLst>
              <a:ext uri="{FF2B5EF4-FFF2-40B4-BE49-F238E27FC236}">
                <a16:creationId xmlns:a16="http://schemas.microsoft.com/office/drawing/2014/main" id="{986BE1E0-2752-09F1-9F7F-667842ABF4A5}"/>
              </a:ext>
            </a:extLst>
          </p:cNvPr>
          <p:cNvPicPr>
            <a:picLocks noChangeAspect="1"/>
          </p:cNvPicPr>
          <p:nvPr/>
        </p:nvPicPr>
        <p:blipFill>
          <a:blip r:embed="rId6"/>
          <a:stretch>
            <a:fillRect/>
          </a:stretch>
        </p:blipFill>
        <p:spPr>
          <a:xfrm>
            <a:off x="2804773" y="1479418"/>
            <a:ext cx="5434881" cy="4406297"/>
          </a:xfrm>
          <a:prstGeom prst="rect">
            <a:avLst/>
          </a:prstGeom>
          <a:pattFill prst="pct5">
            <a:fgClr>
              <a:schemeClr val="accent1"/>
            </a:fgClr>
            <a:bgClr>
              <a:schemeClr val="bg1"/>
            </a:bgClr>
          </a:pattFill>
          <a:ln>
            <a:noFill/>
          </a:ln>
          <a:effectLst>
            <a:outerShdw blurRad="292100" dist="139700" dir="2700000" algn="tl" rotWithShape="0">
              <a:schemeClr val="accent4">
                <a:alpha val="65000"/>
              </a:schemeClr>
            </a:outerShdw>
          </a:effectLst>
        </p:spPr>
      </p:pic>
    </p:spTree>
    <p:extLst>
      <p:ext uri="{BB962C8B-B14F-4D97-AF65-F5344CB8AC3E}">
        <p14:creationId xmlns:p14="http://schemas.microsoft.com/office/powerpoint/2010/main" val="116971453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4367</TotalTime>
  <Words>5384</Words>
  <Application>Microsoft Office PowerPoint</Application>
  <PresentationFormat>מסך רחב</PresentationFormat>
  <Paragraphs>480</Paragraphs>
  <Slides>23</Slides>
  <Notes>17</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23</vt:i4>
      </vt:variant>
    </vt:vector>
  </HeadingPairs>
  <TitlesOfParts>
    <vt:vector size="33" baseType="lpstr">
      <vt:lpstr>Aharoni</vt:lpstr>
      <vt:lpstr>Aptos</vt:lpstr>
      <vt:lpstr>Aptos Display</vt:lpstr>
      <vt:lpstr>arial</vt:lpstr>
      <vt:lpstr>arial</vt:lpstr>
      <vt:lpstr>Calibri</vt:lpstr>
      <vt:lpstr>David</vt:lpstr>
      <vt:lpstr>Google Sans</vt:lpstr>
      <vt:lpstr>Roboto</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niv kotek</dc:creator>
  <cp:lastModifiedBy>niv kotek</cp:lastModifiedBy>
  <cp:revision>88</cp:revision>
  <dcterms:created xsi:type="dcterms:W3CDTF">2024-09-08T09:07:21Z</dcterms:created>
  <dcterms:modified xsi:type="dcterms:W3CDTF">2024-10-19T01:05:14Z</dcterms:modified>
</cp:coreProperties>
</file>