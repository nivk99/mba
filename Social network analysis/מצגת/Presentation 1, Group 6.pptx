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8229600" cx="14630400"/>
  <p:notesSz cx="8229600" cy="1463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j2IPyILR7/oFVjQ1L5CojwKoe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41A5D5-8A7E-4DA2-9699-B0FE827352A6}">
  <a:tblStyle styleId="{3441A5D5-8A7E-4DA2-9699-B0FE827352A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822325" y="7040563"/>
            <a:ext cx="6584950" cy="57610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9:notes"/>
          <p:cNvSpPr txBox="1"/>
          <p:nvPr>
            <p:ph idx="1" type="body"/>
          </p:nvPr>
        </p:nvSpPr>
        <p:spPr>
          <a:xfrm>
            <a:off x="822325" y="7040563"/>
            <a:ext cx="6584950" cy="57610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5:notes"/>
          <p:cNvSpPr txBox="1"/>
          <p:nvPr>
            <p:ph idx="1" type="body"/>
          </p:nvPr>
        </p:nvSpPr>
        <p:spPr>
          <a:xfrm>
            <a:off x="822325" y="7040563"/>
            <a:ext cx="6584950" cy="57610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6" name="Shape 6"/>
        <p:cNvGrpSpPr/>
        <p:nvPr/>
      </p:nvGrpSpPr>
      <p:grpSpPr>
        <a:xfrm>
          <a:off x="0" y="0"/>
          <a:ext cx="0" cy="0"/>
          <a:chOff x="0" y="0"/>
          <a:chExt cx="0" cy="0"/>
        </a:xfrm>
      </p:grpSpPr>
      <p:sp>
        <p:nvSpPr>
          <p:cNvPr id="7" name="Google Shape;7;p17"/>
          <p:cNvSpPr txBox="1"/>
          <p:nvPr>
            <p:ph type="ctrTitle"/>
          </p:nvPr>
        </p:nvSpPr>
        <p:spPr>
          <a:xfrm>
            <a:off x="1828800" y="1346836"/>
            <a:ext cx="10972800" cy="286512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Clr>
                <a:schemeClr val="dk1"/>
              </a:buClr>
              <a:buSzPts val="7200"/>
              <a:buFont typeface="Calibri"/>
              <a:buNone/>
              <a:defRPr b="0" i="0" sz="7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7"/>
          <p:cNvSpPr txBox="1"/>
          <p:nvPr>
            <p:ph idx="1" type="subTitle"/>
          </p:nvPr>
        </p:nvSpPr>
        <p:spPr>
          <a:xfrm>
            <a:off x="1828800" y="4322446"/>
            <a:ext cx="10972800" cy="1986914"/>
          </a:xfrm>
          <a:prstGeom prst="rect">
            <a:avLst/>
          </a:prstGeom>
          <a:noFill/>
          <a:ln>
            <a:noFill/>
          </a:ln>
        </p:spPr>
        <p:txBody>
          <a:bodyPr anchorCtr="0" anchor="t" bIns="45700" lIns="91425" spcFirstLastPara="1" rIns="91425" wrap="square" tIns="45700">
            <a:noAutofit/>
          </a:bodyPr>
          <a:lstStyle>
            <a:lvl1pPr lvl="0" marR="0" rtl="0" algn="ctr">
              <a:spcBef>
                <a:spcPts val="576"/>
              </a:spcBef>
              <a:spcAft>
                <a:spcPts val="0"/>
              </a:spcAft>
              <a:buClr>
                <a:schemeClr val="dk1"/>
              </a:buClr>
              <a:buSzPts val="2880"/>
              <a:buFont typeface="Arial"/>
              <a:buNone/>
              <a:defRPr b="0" i="0" sz="2880" u="none" cap="none" strike="noStrike">
                <a:solidFill>
                  <a:schemeClr val="dk1"/>
                </a:solidFill>
                <a:latin typeface="Calibri"/>
                <a:ea typeface="Calibri"/>
                <a:cs typeface="Calibri"/>
                <a:sym typeface="Calibri"/>
              </a:defRPr>
            </a:lvl1pPr>
            <a:lvl2pPr lvl="1" marR="0" rtl="0" algn="ctr">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lvl="2" marR="0" rtl="0" algn="ctr">
              <a:spcBef>
                <a:spcPts val="432"/>
              </a:spcBef>
              <a:spcAft>
                <a:spcPts val="0"/>
              </a:spcAft>
              <a:buClr>
                <a:schemeClr val="dk1"/>
              </a:buClr>
              <a:buSzPts val="2160"/>
              <a:buFont typeface="Arial"/>
              <a:buNone/>
              <a:defRPr b="0" i="0" sz="2160" u="none" cap="none" strike="noStrike">
                <a:solidFill>
                  <a:schemeClr val="dk1"/>
                </a:solidFill>
                <a:latin typeface="Calibri"/>
                <a:ea typeface="Calibri"/>
                <a:cs typeface="Calibri"/>
                <a:sym typeface="Calibri"/>
              </a:defRPr>
            </a:lvl3pPr>
            <a:lvl4pPr lvl="3"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4pPr>
            <a:lvl5pPr lvl="4"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5pPr>
            <a:lvl6pPr lvl="5"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6pPr>
            <a:lvl7pPr lvl="6"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7pPr>
            <a:lvl8pPr lvl="7"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8pPr>
            <a:lvl9pPr lvl="8" marR="0" rtl="0" algn="ctr">
              <a:spcBef>
                <a:spcPts val="384"/>
              </a:spcBef>
              <a:spcAft>
                <a:spcPts val="0"/>
              </a:spcAft>
              <a:buClr>
                <a:schemeClr val="dk1"/>
              </a:buClr>
              <a:buSzPts val="1920"/>
              <a:buFont typeface="Arial"/>
              <a:buNone/>
              <a:defRPr b="0" i="0" sz="1920" u="none" cap="none" strike="noStrike">
                <a:solidFill>
                  <a:schemeClr val="dk1"/>
                </a:solidFill>
                <a:latin typeface="Calibri"/>
                <a:ea typeface="Calibri"/>
                <a:cs typeface="Calibri"/>
                <a:sym typeface="Calibri"/>
              </a:defRPr>
            </a:lvl9pPr>
          </a:lstStyle>
          <a:p/>
        </p:txBody>
      </p:sp>
      <p:sp>
        <p:nvSpPr>
          <p:cNvPr id="9" name="Google Shape;9;p1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3" name="Shape 13"/>
        <p:cNvGrpSpPr/>
        <p:nvPr/>
      </p:nvGrpSpPr>
      <p:grpSpPr>
        <a:xfrm>
          <a:off x="0" y="0"/>
          <a:ext cx="0" cy="0"/>
          <a:chOff x="0" y="0"/>
          <a:chExt cx="0" cy="0"/>
        </a:xfrm>
      </p:grpSpPr>
      <p:sp>
        <p:nvSpPr>
          <p:cNvPr id="14" name="Google Shape;14;p1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 name="Google Shape;16;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7" name="Shape 17"/>
        <p:cNvGrpSpPr/>
        <p:nvPr/>
      </p:nvGrpSpPr>
      <p:grpSpPr>
        <a:xfrm>
          <a:off x="0" y="0"/>
          <a:ext cx="0" cy="0"/>
          <a:chOff x="0" y="0"/>
          <a:chExt cx="0" cy="0"/>
        </a:xfrm>
      </p:grpSpPr>
      <p:sp>
        <p:nvSpPr>
          <p:cNvPr id="18" name="Google Shape;18;p2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21" name="Shape 21"/>
        <p:cNvGrpSpPr/>
        <p:nvPr/>
      </p:nvGrpSpPr>
      <p:grpSpPr>
        <a:xfrm>
          <a:off x="0" y="0"/>
          <a:ext cx="0" cy="0"/>
          <a:chOff x="0" y="0"/>
          <a:chExt cx="0" cy="0"/>
        </a:xfrm>
      </p:grpSpPr>
      <p:sp>
        <p:nvSpPr>
          <p:cNvPr id="22" name="Google Shape;22;p2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 name="Google Shape;28;p2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9" name="Shape 29"/>
        <p:cNvGrpSpPr/>
        <p:nvPr/>
      </p:nvGrpSpPr>
      <p:grpSpPr>
        <a:xfrm>
          <a:off x="0" y="0"/>
          <a:ext cx="0" cy="0"/>
          <a:chOff x="0" y="0"/>
          <a:chExt cx="0" cy="0"/>
        </a:xfrm>
      </p:grpSpPr>
      <p:sp>
        <p:nvSpPr>
          <p:cNvPr id="30" name="Google Shape;30;p2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2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3" name="Shape 33"/>
        <p:cNvGrpSpPr/>
        <p:nvPr/>
      </p:nvGrpSpPr>
      <p:grpSpPr>
        <a:xfrm>
          <a:off x="0" y="0"/>
          <a:ext cx="0" cy="0"/>
          <a:chOff x="0" y="0"/>
          <a:chExt cx="0" cy="0"/>
        </a:xfrm>
      </p:grpSpPr>
      <p:sp>
        <p:nvSpPr>
          <p:cNvPr id="34" name="Google Shape;34;p24"/>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2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7" name="Shape 37"/>
        <p:cNvGrpSpPr/>
        <p:nvPr/>
      </p:nvGrpSpPr>
      <p:grpSpPr>
        <a:xfrm>
          <a:off x="0" y="0"/>
          <a:ext cx="0" cy="0"/>
          <a:chOff x="0" y="0"/>
          <a:chExt cx="0" cy="0"/>
        </a:xfrm>
      </p:grpSpPr>
      <p:sp>
        <p:nvSpPr>
          <p:cNvPr id="38" name="Google Shape;38;p25"/>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2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41" name="Shape 41"/>
        <p:cNvGrpSpPr/>
        <p:nvPr/>
      </p:nvGrpSpPr>
      <p:grpSpPr>
        <a:xfrm>
          <a:off x="0" y="0"/>
          <a:ext cx="0" cy="0"/>
          <a:chOff x="0" y="0"/>
          <a:chExt cx="0" cy="0"/>
        </a:xfrm>
      </p:grpSpPr>
      <p:sp>
        <p:nvSpPr>
          <p:cNvPr id="42" name="Google Shape;42;p2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2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5" name="Shape 45"/>
        <p:cNvGrpSpPr/>
        <p:nvPr/>
      </p:nvGrpSpPr>
      <p:grpSpPr>
        <a:xfrm>
          <a:off x="0" y="0"/>
          <a:ext cx="0" cy="0"/>
          <a:chOff x="0" y="0"/>
          <a:chExt cx="0" cy="0"/>
        </a:xfrm>
      </p:grpSpPr>
      <p:sp>
        <p:nvSpPr>
          <p:cNvPr id="46" name="Google Shape;46;p2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2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9" name="Shape 49"/>
        <p:cNvGrpSpPr/>
        <p:nvPr/>
      </p:nvGrpSpPr>
      <p:grpSpPr>
        <a:xfrm>
          <a:off x="0" y="0"/>
          <a:ext cx="0" cy="0"/>
          <a:chOff x="0" y="0"/>
          <a:chExt cx="0" cy="0"/>
        </a:xfrm>
      </p:grpSpPr>
      <p:sp>
        <p:nvSpPr>
          <p:cNvPr id="50" name="Google Shape;50;p2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 name="Google Shape;52;p2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hyperlink" Target="https://www.ynet.co.il/news/article/yokra1403083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9.png"/><Relationship Id="rId9" Type="http://schemas.openxmlformats.org/officeDocument/2006/relationships/image" Target="../media/image24.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56" name="Shape 56"/>
        <p:cNvGrpSpPr/>
        <p:nvPr/>
      </p:nvGrpSpPr>
      <p:grpSpPr>
        <a:xfrm>
          <a:off x="0" y="0"/>
          <a:ext cx="0" cy="0"/>
          <a:chOff x="0" y="0"/>
          <a:chExt cx="0" cy="0"/>
        </a:xfrm>
      </p:grpSpPr>
      <p:sp>
        <p:nvSpPr>
          <p:cNvPr id="57" name="Google Shape;57;p1"/>
          <p:cNvSpPr/>
          <p:nvPr/>
        </p:nvSpPr>
        <p:spPr>
          <a:xfrm>
            <a:off x="8152910" y="5981631"/>
            <a:ext cx="5345669" cy="1144929"/>
          </a:xfrm>
          <a:prstGeom prst="rect">
            <a:avLst/>
          </a:prstGeom>
          <a:noFill/>
          <a:ln>
            <a:noFill/>
          </a:ln>
        </p:spPr>
        <p:txBody>
          <a:bodyPr anchorCtr="0" anchor="t" bIns="54850" lIns="109725" spcFirstLastPara="1" rIns="109725" wrap="square" tIns="54850">
            <a:spAutoFit/>
          </a:bodyPr>
          <a:lstStyle/>
          <a:p>
            <a:pPr indent="0" lvl="0" marL="0" marR="0" rtl="1" algn="ctr">
              <a:spcBef>
                <a:spcPts val="0"/>
              </a:spcBef>
              <a:spcAft>
                <a:spcPts val="0"/>
              </a:spcAft>
              <a:buNone/>
            </a:pPr>
            <a:r>
              <a:rPr lang="iw-IL" sz="3200">
                <a:solidFill>
                  <a:srgbClr val="504C49"/>
                </a:solidFill>
                <a:latin typeface="Arial"/>
                <a:ea typeface="Arial"/>
                <a:cs typeface="Arial"/>
                <a:sym typeface="Arial"/>
              </a:rPr>
              <a:t>גנאדי</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בירפיר</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312741622</a:t>
            </a:r>
            <a:r>
              <a:rPr b="1" lang="iw-IL" sz="3359">
                <a:solidFill>
                  <a:srgbClr val="FEFEFE"/>
                </a:solidFill>
                <a:latin typeface="Calibri"/>
                <a:ea typeface="Calibri"/>
                <a:cs typeface="Calibri"/>
                <a:sym typeface="Calibri"/>
              </a:rPr>
              <a:t> </a:t>
            </a:r>
            <a:br>
              <a:rPr b="1" lang="iw-IL" sz="3359">
                <a:solidFill>
                  <a:srgbClr val="FEFEFE"/>
                </a:solidFill>
                <a:latin typeface="Calibri"/>
                <a:ea typeface="Calibri"/>
                <a:cs typeface="Calibri"/>
                <a:sym typeface="Calibri"/>
              </a:rPr>
            </a:br>
            <a:r>
              <a:rPr lang="iw-IL" sz="3200">
                <a:solidFill>
                  <a:srgbClr val="504C49"/>
                </a:solidFill>
                <a:latin typeface="Arial"/>
                <a:ea typeface="Arial"/>
                <a:cs typeface="Arial"/>
                <a:sym typeface="Arial"/>
              </a:rPr>
              <a:t>ניב</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קוטק</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208236315</a:t>
            </a:r>
            <a:endParaRPr sz="3200">
              <a:solidFill>
                <a:srgbClr val="504C49"/>
              </a:solidFill>
              <a:latin typeface="Arial"/>
              <a:ea typeface="Arial"/>
              <a:cs typeface="Arial"/>
              <a:sym typeface="Arial"/>
            </a:endParaRPr>
          </a:p>
        </p:txBody>
      </p:sp>
      <p:sp>
        <p:nvSpPr>
          <p:cNvPr id="58" name="Google Shape;58;p1"/>
          <p:cNvSpPr/>
          <p:nvPr/>
        </p:nvSpPr>
        <p:spPr>
          <a:xfrm>
            <a:off x="1106645" y="6064038"/>
            <a:ext cx="5623331" cy="1144929"/>
          </a:xfrm>
          <a:prstGeom prst="rect">
            <a:avLst/>
          </a:prstGeom>
          <a:noFill/>
          <a:ln>
            <a:noFill/>
          </a:ln>
        </p:spPr>
        <p:txBody>
          <a:bodyPr anchorCtr="0" anchor="t" bIns="54850" lIns="109725" spcFirstLastPara="1" rIns="109725" wrap="square" tIns="54850">
            <a:spAutoFit/>
          </a:bodyPr>
          <a:lstStyle/>
          <a:p>
            <a:pPr indent="0" lvl="0" marL="0" marR="0" rtl="1" algn="ctr">
              <a:spcBef>
                <a:spcPts val="0"/>
              </a:spcBef>
              <a:spcAft>
                <a:spcPts val="0"/>
              </a:spcAft>
              <a:buNone/>
            </a:pPr>
            <a:r>
              <a:rPr lang="iw-IL" sz="3200">
                <a:solidFill>
                  <a:srgbClr val="504C49"/>
                </a:solidFill>
                <a:latin typeface="Arial"/>
                <a:ea typeface="Arial"/>
                <a:cs typeface="Arial"/>
                <a:sym typeface="Arial"/>
              </a:rPr>
              <a:t>ד"ר</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אלון</a:t>
            </a:r>
            <a:r>
              <a:rPr b="1" lang="iw-IL" sz="3359">
                <a:solidFill>
                  <a:srgbClr val="FEFEFE"/>
                </a:solidFill>
                <a:latin typeface="Calibri"/>
                <a:ea typeface="Calibri"/>
                <a:cs typeface="Calibri"/>
                <a:sym typeface="Calibri"/>
              </a:rPr>
              <a:t> </a:t>
            </a:r>
            <a:r>
              <a:rPr lang="iw-IL" sz="3200">
                <a:solidFill>
                  <a:srgbClr val="504C49"/>
                </a:solidFill>
                <a:latin typeface="Arial"/>
                <a:ea typeface="Arial"/>
                <a:cs typeface="Arial"/>
                <a:sym typeface="Arial"/>
              </a:rPr>
              <a:t>ברטל</a:t>
            </a:r>
            <a:endParaRPr sz="3200">
              <a:solidFill>
                <a:srgbClr val="504C49"/>
              </a:solidFill>
              <a:latin typeface="Arial"/>
              <a:ea typeface="Arial"/>
              <a:cs typeface="Arial"/>
              <a:sym typeface="Arial"/>
            </a:endParaRPr>
          </a:p>
          <a:p>
            <a:pPr indent="0" lvl="0" marL="0" marR="0" rtl="1" algn="r">
              <a:spcBef>
                <a:spcPts val="0"/>
              </a:spcBef>
              <a:spcAft>
                <a:spcPts val="0"/>
              </a:spcAft>
              <a:buNone/>
            </a:pPr>
            <a:r>
              <a:t/>
            </a:r>
            <a:endParaRPr b="1" sz="3359">
              <a:solidFill>
                <a:srgbClr val="FEFEFE"/>
              </a:solidFill>
              <a:latin typeface="Calibri"/>
              <a:ea typeface="Calibri"/>
              <a:cs typeface="Calibri"/>
              <a:sym typeface="Calibri"/>
            </a:endParaRPr>
          </a:p>
        </p:txBody>
      </p:sp>
      <p:sp>
        <p:nvSpPr>
          <p:cNvPr id="59" name="Google Shape;59;p1"/>
          <p:cNvSpPr/>
          <p:nvPr/>
        </p:nvSpPr>
        <p:spPr>
          <a:xfrm>
            <a:off x="419137" y="7668820"/>
            <a:ext cx="3174332" cy="480131"/>
          </a:xfrm>
          <a:prstGeom prst="rect">
            <a:avLst/>
          </a:prstGeom>
          <a:noFill/>
          <a:ln>
            <a:noFill/>
          </a:ln>
        </p:spPr>
        <p:txBody>
          <a:bodyPr anchorCtr="0" anchor="t" bIns="54850" lIns="109725" spcFirstLastPara="1" rIns="109725" wrap="square" tIns="54850">
            <a:spAutoFit/>
          </a:bodyPr>
          <a:lstStyle/>
          <a:p>
            <a:pPr indent="0" lvl="0" marL="0" marR="0" rtl="0" algn="ctr">
              <a:spcBef>
                <a:spcPts val="0"/>
              </a:spcBef>
              <a:spcAft>
                <a:spcPts val="0"/>
              </a:spcAft>
              <a:buNone/>
            </a:pPr>
            <a:r>
              <a:rPr lang="iw-IL" sz="2400">
                <a:solidFill>
                  <a:schemeClr val="dk1"/>
                </a:solidFill>
                <a:latin typeface="Calibri"/>
                <a:ea typeface="Calibri"/>
                <a:cs typeface="Calibri"/>
                <a:sym typeface="Calibri"/>
              </a:rPr>
              <a:t>מספר קורס: 857075901   </a:t>
            </a:r>
            <a:endParaRPr/>
          </a:p>
        </p:txBody>
      </p:sp>
      <p:sp>
        <p:nvSpPr>
          <p:cNvPr id="60" name="Google Shape;60;p1"/>
          <p:cNvSpPr/>
          <p:nvPr/>
        </p:nvSpPr>
        <p:spPr>
          <a:xfrm>
            <a:off x="12218728" y="7654031"/>
            <a:ext cx="1603388" cy="480131"/>
          </a:xfrm>
          <a:prstGeom prst="rect">
            <a:avLst/>
          </a:prstGeom>
          <a:noFill/>
          <a:ln>
            <a:noFill/>
          </a:ln>
        </p:spPr>
        <p:txBody>
          <a:bodyPr anchorCtr="0" anchor="t" bIns="54850" lIns="109725" spcFirstLastPara="1" rIns="109725" wrap="square" tIns="54850">
            <a:spAutoFit/>
          </a:bodyPr>
          <a:lstStyle/>
          <a:p>
            <a:pPr indent="0" lvl="0" marL="0" marR="0" rtl="0" algn="ctr">
              <a:spcBef>
                <a:spcPts val="0"/>
              </a:spcBef>
              <a:spcAft>
                <a:spcPts val="0"/>
              </a:spcAft>
              <a:buNone/>
            </a:pPr>
            <a:r>
              <a:rPr lang="iw-IL" sz="2400">
                <a:solidFill>
                  <a:schemeClr val="dk1"/>
                </a:solidFill>
                <a:latin typeface="Calibri"/>
                <a:ea typeface="Calibri"/>
                <a:cs typeface="Calibri"/>
                <a:sym typeface="Calibri"/>
              </a:rPr>
              <a:t>מס' עבודה: 6</a:t>
            </a:r>
            <a:endParaRPr/>
          </a:p>
        </p:txBody>
      </p:sp>
      <p:sp>
        <p:nvSpPr>
          <p:cNvPr id="61" name="Google Shape;61;p1"/>
          <p:cNvSpPr txBox="1"/>
          <p:nvPr/>
        </p:nvSpPr>
        <p:spPr>
          <a:xfrm>
            <a:off x="6090919" y="7724219"/>
            <a:ext cx="17568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w-IL" sz="1800">
                <a:solidFill>
                  <a:schemeClr val="dk1"/>
                </a:solidFill>
                <a:latin typeface="Calibri"/>
                <a:ea typeface="Calibri"/>
                <a:cs typeface="Calibri"/>
                <a:sym typeface="Calibri"/>
              </a:rPr>
              <a:t>24/01/2025</a:t>
            </a:r>
            <a:endParaRPr/>
          </a:p>
        </p:txBody>
      </p:sp>
      <p:cxnSp>
        <p:nvCxnSpPr>
          <p:cNvPr id="62" name="Google Shape;62;p1"/>
          <p:cNvCxnSpPr/>
          <p:nvPr/>
        </p:nvCxnSpPr>
        <p:spPr>
          <a:xfrm>
            <a:off x="6840503" y="5703170"/>
            <a:ext cx="0" cy="1623753"/>
          </a:xfrm>
          <a:prstGeom prst="straightConnector1">
            <a:avLst/>
          </a:prstGeom>
          <a:noFill/>
          <a:ln cap="flat" cmpd="sng" w="19050">
            <a:solidFill>
              <a:schemeClr val="accent1"/>
            </a:solidFill>
            <a:prstDash val="solid"/>
            <a:miter lim="800000"/>
            <a:headEnd len="sm" w="sm" type="none"/>
            <a:tailEnd len="sm" w="sm" type="none"/>
          </a:ln>
        </p:spPr>
      </p:cxnSp>
      <p:pic>
        <p:nvPicPr>
          <p:cNvPr id="63" name="Google Shape;63;p1"/>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64" name="Google Shape;64;p1"/>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65" name="Google Shape;65;p1"/>
          <p:cNvSpPr/>
          <p:nvPr/>
        </p:nvSpPr>
        <p:spPr>
          <a:xfrm>
            <a:off x="10418105" y="4978463"/>
            <a:ext cx="1285928" cy="584775"/>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lang="iw-IL" sz="3200">
                <a:solidFill>
                  <a:srgbClr val="0F9ED5"/>
                </a:solidFill>
                <a:latin typeface="David"/>
                <a:ea typeface="David"/>
                <a:cs typeface="David"/>
                <a:sym typeface="David"/>
              </a:rPr>
              <a:t>מגשים</a:t>
            </a:r>
            <a:endParaRPr/>
          </a:p>
        </p:txBody>
      </p:sp>
      <p:sp>
        <p:nvSpPr>
          <p:cNvPr id="66" name="Google Shape;66;p1"/>
          <p:cNvSpPr/>
          <p:nvPr/>
        </p:nvSpPr>
        <p:spPr>
          <a:xfrm>
            <a:off x="2832116" y="5172081"/>
            <a:ext cx="2172391" cy="584775"/>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lang="iw-IL" sz="3200">
                <a:solidFill>
                  <a:srgbClr val="0F9ED5"/>
                </a:solidFill>
                <a:latin typeface="David"/>
                <a:ea typeface="David"/>
                <a:cs typeface="David"/>
                <a:sym typeface="David"/>
              </a:rPr>
              <a:t>מרצה הקורס</a:t>
            </a:r>
            <a:endParaRPr/>
          </a:p>
        </p:txBody>
      </p:sp>
      <p:pic>
        <p:nvPicPr>
          <p:cNvPr id="67" name="Google Shape;67;p1"/>
          <p:cNvPicPr preferRelativeResize="0"/>
          <p:nvPr/>
        </p:nvPicPr>
        <p:blipFill rotWithShape="1">
          <a:blip r:embed="rId5">
            <a:alphaModFix/>
          </a:blip>
          <a:srcRect b="0" l="0" r="0" t="0"/>
          <a:stretch/>
        </p:blipFill>
        <p:spPr>
          <a:xfrm>
            <a:off x="1954130" y="0"/>
            <a:ext cx="1156683" cy="1179510"/>
          </a:xfrm>
          <a:prstGeom prst="rect">
            <a:avLst/>
          </a:prstGeom>
          <a:noFill/>
          <a:ln>
            <a:noFill/>
          </a:ln>
        </p:spPr>
      </p:pic>
      <p:pic>
        <p:nvPicPr>
          <p:cNvPr id="68" name="Google Shape;68;p1"/>
          <p:cNvPicPr preferRelativeResize="0"/>
          <p:nvPr/>
        </p:nvPicPr>
        <p:blipFill rotWithShape="1">
          <a:blip r:embed="rId6">
            <a:alphaModFix/>
          </a:blip>
          <a:srcRect b="0" l="0" r="0" t="47051"/>
          <a:stretch/>
        </p:blipFill>
        <p:spPr>
          <a:xfrm>
            <a:off x="5387449" y="3661668"/>
            <a:ext cx="3458027" cy="1987020"/>
          </a:xfrm>
          <a:prstGeom prst="ellipse">
            <a:avLst/>
          </a:prstGeom>
          <a:noFill/>
          <a:ln>
            <a:noFill/>
          </a:ln>
        </p:spPr>
      </p:pic>
      <p:sp>
        <p:nvSpPr>
          <p:cNvPr id="69" name="Google Shape;69;p1"/>
          <p:cNvSpPr/>
          <p:nvPr/>
        </p:nvSpPr>
        <p:spPr>
          <a:xfrm>
            <a:off x="4300079" y="131066"/>
            <a:ext cx="6622327"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קורס ניתוח רשתות</a:t>
            </a:r>
            <a:endParaRPr/>
          </a:p>
        </p:txBody>
      </p:sp>
      <p:pic>
        <p:nvPicPr>
          <p:cNvPr id="70" name="Google Shape;70;p1"/>
          <p:cNvPicPr preferRelativeResize="0"/>
          <p:nvPr/>
        </p:nvPicPr>
        <p:blipFill rotWithShape="1">
          <a:blip r:embed="rId7">
            <a:alphaModFix/>
          </a:blip>
          <a:srcRect b="0" l="0" r="0" t="0"/>
          <a:stretch/>
        </p:blipFill>
        <p:spPr>
          <a:xfrm>
            <a:off x="764278" y="1262946"/>
            <a:ext cx="12814903" cy="2853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74" name="Shape 74"/>
        <p:cNvGrpSpPr/>
        <p:nvPr/>
      </p:nvGrpSpPr>
      <p:grpSpPr>
        <a:xfrm>
          <a:off x="0" y="0"/>
          <a:ext cx="0" cy="0"/>
          <a:chOff x="0" y="0"/>
          <a:chExt cx="0" cy="0"/>
        </a:xfrm>
      </p:grpSpPr>
      <p:sp>
        <p:nvSpPr>
          <p:cNvPr id="75" name="Google Shape;75;p2"/>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76" name="Google Shape;76;p2"/>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77" name="Google Shape;77;p2"/>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78" name="Google Shape;78;p2"/>
          <p:cNvSpPr/>
          <p:nvPr/>
        </p:nvSpPr>
        <p:spPr>
          <a:xfrm>
            <a:off x="5169420" y="62619"/>
            <a:ext cx="4291559"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תוכן עניינים</a:t>
            </a:r>
            <a:endParaRPr/>
          </a:p>
        </p:txBody>
      </p:sp>
      <p:grpSp>
        <p:nvGrpSpPr>
          <p:cNvPr id="79" name="Google Shape;79;p2"/>
          <p:cNvGrpSpPr/>
          <p:nvPr/>
        </p:nvGrpSpPr>
        <p:grpSpPr>
          <a:xfrm>
            <a:off x="7645259" y="1608851"/>
            <a:ext cx="6682907" cy="5316693"/>
            <a:chOff x="-1" y="2791"/>
            <a:chExt cx="6682907" cy="5316693"/>
          </a:xfrm>
        </p:grpSpPr>
        <p:sp>
          <p:nvSpPr>
            <p:cNvPr id="80" name="Google Shape;80;p2"/>
            <p:cNvSpPr/>
            <p:nvPr/>
          </p:nvSpPr>
          <p:spPr>
            <a:xfrm rot="5400000">
              <a:off x="5068161" y="287746"/>
              <a:ext cx="1899699" cy="1329789"/>
            </a:xfrm>
            <a:prstGeom prst="chevron">
              <a:avLst>
                <a:gd fmla="val 50000" name="adj"/>
              </a:avLst>
            </a:prstGeom>
            <a:solidFill>
              <a:srgbClr val="105675"/>
            </a:solidFill>
            <a:ln cap="flat" cmpd="sng" w="19050">
              <a:solidFill>
                <a:srgbClr val="10567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txBox="1"/>
            <p:nvPr/>
          </p:nvSpPr>
          <p:spPr>
            <a:xfrm>
              <a:off x="5353117" y="667686"/>
              <a:ext cx="1329789" cy="569910"/>
            </a:xfrm>
            <a:prstGeom prst="rect">
              <a:avLst/>
            </a:prstGeom>
            <a:noFill/>
            <a:ln>
              <a:noFill/>
            </a:ln>
          </p:spPr>
          <p:txBody>
            <a:bodyPr anchorCtr="0" anchor="ctr" bIns="27925" lIns="27925" spcFirstLastPara="1" rIns="27925" wrap="square" tIns="27925">
              <a:noAutofit/>
            </a:bodyPr>
            <a:lstStyle/>
            <a:p>
              <a:pPr indent="0" lvl="0" marL="0" marR="0" rtl="1" algn="ctr">
                <a:lnSpc>
                  <a:spcPct val="90000"/>
                </a:lnSpc>
                <a:spcBef>
                  <a:spcPts val="0"/>
                </a:spcBef>
                <a:spcAft>
                  <a:spcPts val="0"/>
                </a:spcAft>
                <a:buClr>
                  <a:srgbClr val="FFFFFF"/>
                </a:buClr>
                <a:buSzPts val="4400"/>
                <a:buFont typeface="David"/>
                <a:buNone/>
              </a:pPr>
              <a:r>
                <a:rPr b="1" lang="iw-IL" sz="4400">
                  <a:solidFill>
                    <a:srgbClr val="FFFFFF"/>
                  </a:solidFill>
                  <a:latin typeface="David"/>
                  <a:ea typeface="David"/>
                  <a:cs typeface="David"/>
                  <a:sym typeface="David"/>
                </a:rPr>
                <a:t>2</a:t>
              </a:r>
              <a:endParaRPr/>
            </a:p>
          </p:txBody>
        </p:sp>
        <p:sp>
          <p:nvSpPr>
            <p:cNvPr id="82" name="Google Shape;82;p2"/>
            <p:cNvSpPr/>
            <p:nvPr/>
          </p:nvSpPr>
          <p:spPr>
            <a:xfrm rot="-5400000">
              <a:off x="2059155" y="-2056364"/>
              <a:ext cx="1234804" cy="5353116"/>
            </a:xfrm>
            <a:prstGeom prst="round2SameRect">
              <a:avLst>
                <a:gd fmla="val 16667" name="adj1"/>
                <a:gd fmla="val 0" name="adj2"/>
              </a:avLst>
            </a:prstGeom>
            <a:solidFill>
              <a:srgbClr val="FFFFFF"/>
            </a:solidFill>
            <a:ln cap="flat" cmpd="sng" w="19050">
              <a:solidFill>
                <a:srgbClr val="10567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txBox="1"/>
            <p:nvPr/>
          </p:nvSpPr>
          <p:spPr>
            <a:xfrm>
              <a:off x="60277" y="63070"/>
              <a:ext cx="5292838" cy="1114248"/>
            </a:xfrm>
            <a:prstGeom prst="rect">
              <a:avLst/>
            </a:prstGeom>
            <a:noFill/>
            <a:ln>
              <a:noFill/>
            </a:ln>
          </p:spPr>
          <p:txBody>
            <a:bodyPr anchorCtr="0" anchor="ctr" bIns="34925" lIns="34925" spcFirstLastPara="1" rIns="391150" wrap="square" tIns="34925">
              <a:noAutofit/>
            </a:bodyPr>
            <a:lstStyle/>
            <a:p>
              <a:pPr indent="-285750" lvl="1" marL="285750" marR="0" rtl="1" algn="ctr">
                <a:lnSpc>
                  <a:spcPct val="90000"/>
                </a:lnSpc>
                <a:spcBef>
                  <a:spcPts val="0"/>
                </a:spcBef>
                <a:spcAft>
                  <a:spcPts val="0"/>
                </a:spcAft>
                <a:buClr>
                  <a:srgbClr val="000000"/>
                </a:buClr>
                <a:buSzPts val="5500"/>
                <a:buFont typeface="David"/>
                <a:buNone/>
              </a:pPr>
              <a:r>
                <a:rPr b="0" i="0" lang="iw-IL" sz="5500" u="none" cap="none" strike="noStrike">
                  <a:solidFill>
                    <a:srgbClr val="000000"/>
                  </a:solidFill>
                  <a:latin typeface="David"/>
                  <a:ea typeface="David"/>
                  <a:cs typeface="David"/>
                  <a:sym typeface="David"/>
                </a:rPr>
                <a:t>רקע לנושא המחקר</a:t>
              </a:r>
              <a:endParaRPr b="0" i="0" sz="5500" u="none" cap="none" strike="noStrike">
                <a:solidFill>
                  <a:srgbClr val="000000"/>
                </a:solidFill>
                <a:latin typeface="David"/>
                <a:ea typeface="David"/>
                <a:cs typeface="David"/>
                <a:sym typeface="David"/>
              </a:endParaRPr>
            </a:p>
          </p:txBody>
        </p:sp>
        <p:sp>
          <p:nvSpPr>
            <p:cNvPr id="84" name="Google Shape;84;p2"/>
            <p:cNvSpPr/>
            <p:nvPr/>
          </p:nvSpPr>
          <p:spPr>
            <a:xfrm rot="5400000">
              <a:off x="5068161" y="1996243"/>
              <a:ext cx="1899699" cy="1329789"/>
            </a:xfrm>
            <a:prstGeom prst="chevron">
              <a:avLst>
                <a:gd fmla="val 50000" name="adj"/>
              </a:avLst>
            </a:prstGeom>
            <a:solidFill>
              <a:srgbClr val="2B719A"/>
            </a:solidFill>
            <a:ln cap="flat" cmpd="sng" w="19050">
              <a:solidFill>
                <a:srgbClr val="2B71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txBox="1"/>
            <p:nvPr/>
          </p:nvSpPr>
          <p:spPr>
            <a:xfrm>
              <a:off x="5353117" y="2376183"/>
              <a:ext cx="1329789" cy="569910"/>
            </a:xfrm>
            <a:prstGeom prst="rect">
              <a:avLst/>
            </a:prstGeom>
            <a:noFill/>
            <a:ln>
              <a:noFill/>
            </a:ln>
          </p:spPr>
          <p:txBody>
            <a:bodyPr anchorCtr="0" anchor="ctr" bIns="27925" lIns="27925" spcFirstLastPara="1" rIns="27925" wrap="square" tIns="27925">
              <a:noAutofit/>
            </a:bodyPr>
            <a:lstStyle/>
            <a:p>
              <a:pPr indent="0" lvl="0" marL="0" marR="0" rtl="1" algn="ctr">
                <a:lnSpc>
                  <a:spcPct val="90000"/>
                </a:lnSpc>
                <a:spcBef>
                  <a:spcPts val="0"/>
                </a:spcBef>
                <a:spcAft>
                  <a:spcPts val="0"/>
                </a:spcAft>
                <a:buClr>
                  <a:srgbClr val="FFFFFF"/>
                </a:buClr>
                <a:buSzPts val="4400"/>
                <a:buFont typeface="David"/>
                <a:buNone/>
              </a:pPr>
              <a:r>
                <a:rPr b="1" lang="iw-IL" sz="4400">
                  <a:solidFill>
                    <a:srgbClr val="FFFFFF"/>
                  </a:solidFill>
                  <a:latin typeface="David"/>
                  <a:ea typeface="David"/>
                  <a:cs typeface="David"/>
                  <a:sym typeface="David"/>
                </a:rPr>
                <a:t>3</a:t>
              </a:r>
              <a:endParaRPr/>
            </a:p>
          </p:txBody>
        </p:sp>
        <p:sp>
          <p:nvSpPr>
            <p:cNvPr id="86" name="Google Shape;86;p2"/>
            <p:cNvSpPr/>
            <p:nvPr/>
          </p:nvSpPr>
          <p:spPr>
            <a:xfrm rot="-5400000">
              <a:off x="2059155" y="-347867"/>
              <a:ext cx="1234804" cy="5353116"/>
            </a:xfrm>
            <a:prstGeom prst="round2SameRect">
              <a:avLst>
                <a:gd fmla="val 16667" name="adj1"/>
                <a:gd fmla="val 0" name="adj2"/>
              </a:avLst>
            </a:prstGeom>
            <a:solidFill>
              <a:srgbClr val="FFFFFF"/>
            </a:solidFill>
            <a:ln cap="flat" cmpd="sng" w="19050">
              <a:solidFill>
                <a:srgbClr val="2B71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txBox="1"/>
            <p:nvPr/>
          </p:nvSpPr>
          <p:spPr>
            <a:xfrm>
              <a:off x="60277" y="1771567"/>
              <a:ext cx="5292838" cy="1114248"/>
            </a:xfrm>
            <a:prstGeom prst="rect">
              <a:avLst/>
            </a:prstGeom>
            <a:noFill/>
            <a:ln>
              <a:noFill/>
            </a:ln>
          </p:spPr>
          <p:txBody>
            <a:bodyPr anchorCtr="0" anchor="ctr" bIns="34925" lIns="34925" spcFirstLastPara="1" rIns="391150" wrap="square" tIns="34925">
              <a:noAutofit/>
            </a:bodyPr>
            <a:lstStyle/>
            <a:p>
              <a:pPr indent="-285750" lvl="1" marL="285750" marR="0" rtl="1" algn="ctr">
                <a:lnSpc>
                  <a:spcPct val="90000"/>
                </a:lnSpc>
                <a:spcBef>
                  <a:spcPts val="0"/>
                </a:spcBef>
                <a:spcAft>
                  <a:spcPts val="0"/>
                </a:spcAft>
                <a:buClr>
                  <a:srgbClr val="000000"/>
                </a:buClr>
                <a:buSzPts val="5500"/>
                <a:buFont typeface="David"/>
                <a:buNone/>
              </a:pPr>
              <a:r>
                <a:rPr b="0" i="0" lang="iw-IL" sz="5500" u="none" cap="none" strike="noStrike">
                  <a:solidFill>
                    <a:srgbClr val="000000"/>
                  </a:solidFill>
                  <a:latin typeface="David"/>
                  <a:ea typeface="David"/>
                  <a:cs typeface="David"/>
                  <a:sym typeface="David"/>
                </a:rPr>
                <a:t>שאלת המחקר</a:t>
              </a:r>
              <a:endParaRPr/>
            </a:p>
          </p:txBody>
        </p:sp>
        <p:sp>
          <p:nvSpPr>
            <p:cNvPr id="88" name="Google Shape;88;p2"/>
            <p:cNvSpPr/>
            <p:nvPr/>
          </p:nvSpPr>
          <p:spPr>
            <a:xfrm rot="5400000">
              <a:off x="5068161" y="3704740"/>
              <a:ext cx="1899699" cy="1329789"/>
            </a:xfrm>
            <a:prstGeom prst="chevron">
              <a:avLst>
                <a:gd fmla="val 50000" name="adj"/>
              </a:avLst>
            </a:prstGeom>
            <a:solidFill>
              <a:srgbClr val="5589B0"/>
            </a:solidFill>
            <a:ln cap="flat" cmpd="sng" w="19050">
              <a:solidFill>
                <a:srgbClr val="5589B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txBox="1"/>
            <p:nvPr/>
          </p:nvSpPr>
          <p:spPr>
            <a:xfrm>
              <a:off x="5353117" y="4084680"/>
              <a:ext cx="1329789" cy="569910"/>
            </a:xfrm>
            <a:prstGeom prst="rect">
              <a:avLst/>
            </a:prstGeom>
            <a:noFill/>
            <a:ln>
              <a:noFill/>
            </a:ln>
          </p:spPr>
          <p:txBody>
            <a:bodyPr anchorCtr="0" anchor="ctr" bIns="27925" lIns="27925" spcFirstLastPara="1" rIns="27925" wrap="square" tIns="27925">
              <a:noAutofit/>
            </a:bodyPr>
            <a:lstStyle/>
            <a:p>
              <a:pPr indent="0" lvl="0" marL="0" marR="0" rtl="1" algn="ctr">
                <a:lnSpc>
                  <a:spcPct val="90000"/>
                </a:lnSpc>
                <a:spcBef>
                  <a:spcPts val="0"/>
                </a:spcBef>
                <a:spcAft>
                  <a:spcPts val="0"/>
                </a:spcAft>
                <a:buClr>
                  <a:srgbClr val="FFFFFF"/>
                </a:buClr>
                <a:buSzPts val="4400"/>
                <a:buFont typeface="David"/>
                <a:buNone/>
              </a:pPr>
              <a:r>
                <a:rPr b="1" lang="iw-IL" sz="4400">
                  <a:solidFill>
                    <a:srgbClr val="FFFFFF"/>
                  </a:solidFill>
                  <a:latin typeface="David"/>
                  <a:ea typeface="David"/>
                  <a:cs typeface="David"/>
                  <a:sym typeface="David"/>
                </a:rPr>
                <a:t>4-6</a:t>
              </a:r>
              <a:endParaRPr/>
            </a:p>
          </p:txBody>
        </p:sp>
        <p:sp>
          <p:nvSpPr>
            <p:cNvPr id="90" name="Google Shape;90;p2"/>
            <p:cNvSpPr/>
            <p:nvPr/>
          </p:nvSpPr>
          <p:spPr>
            <a:xfrm rot="-5400000">
              <a:off x="2059155" y="1360630"/>
              <a:ext cx="1234804" cy="5353116"/>
            </a:xfrm>
            <a:prstGeom prst="round2SameRect">
              <a:avLst>
                <a:gd fmla="val 16667" name="adj1"/>
                <a:gd fmla="val 0" name="adj2"/>
              </a:avLst>
            </a:prstGeom>
            <a:solidFill>
              <a:srgbClr val="FFFFFF"/>
            </a:solidFill>
            <a:ln cap="flat" cmpd="sng" w="19050">
              <a:solidFill>
                <a:srgbClr val="5589B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txBox="1"/>
            <p:nvPr/>
          </p:nvSpPr>
          <p:spPr>
            <a:xfrm>
              <a:off x="60277" y="3480064"/>
              <a:ext cx="5292838" cy="1114248"/>
            </a:xfrm>
            <a:prstGeom prst="rect">
              <a:avLst/>
            </a:prstGeom>
            <a:noFill/>
            <a:ln>
              <a:noFill/>
            </a:ln>
          </p:spPr>
          <p:txBody>
            <a:bodyPr anchorCtr="0" anchor="ctr" bIns="34925" lIns="34925" spcFirstLastPara="1" rIns="391150" wrap="square" tIns="34925">
              <a:noAutofit/>
            </a:bodyPr>
            <a:lstStyle/>
            <a:p>
              <a:pPr indent="-285750" lvl="1" marL="285750" marR="0" rtl="1" algn="ctr">
                <a:lnSpc>
                  <a:spcPct val="90000"/>
                </a:lnSpc>
                <a:spcBef>
                  <a:spcPts val="0"/>
                </a:spcBef>
                <a:spcAft>
                  <a:spcPts val="0"/>
                </a:spcAft>
                <a:buClr>
                  <a:srgbClr val="000000"/>
                </a:buClr>
                <a:buSzPts val="5500"/>
                <a:buFont typeface="David"/>
                <a:buNone/>
              </a:pPr>
              <a:r>
                <a:rPr b="0" i="0" lang="iw-IL" sz="5500" u="none" cap="none" strike="noStrike">
                  <a:solidFill>
                    <a:srgbClr val="000000"/>
                  </a:solidFill>
                  <a:latin typeface="David"/>
                  <a:ea typeface="David"/>
                  <a:cs typeface="David"/>
                  <a:sym typeface="David"/>
                </a:rPr>
                <a:t>נתוני המחקר</a:t>
              </a:r>
              <a:endParaRPr/>
            </a:p>
          </p:txBody>
        </p:sp>
      </p:grpSp>
      <p:grpSp>
        <p:nvGrpSpPr>
          <p:cNvPr id="92" name="Google Shape;92;p2"/>
          <p:cNvGrpSpPr/>
          <p:nvPr/>
        </p:nvGrpSpPr>
        <p:grpSpPr>
          <a:xfrm>
            <a:off x="302233" y="1608926"/>
            <a:ext cx="7012965" cy="5117254"/>
            <a:chOff x="-1" y="2864"/>
            <a:chExt cx="7012965" cy="5117254"/>
          </a:xfrm>
        </p:grpSpPr>
        <p:sp>
          <p:nvSpPr>
            <p:cNvPr id="93" name="Google Shape;93;p2"/>
            <p:cNvSpPr/>
            <p:nvPr/>
          </p:nvSpPr>
          <p:spPr>
            <a:xfrm rot="5400000">
              <a:off x="5454431" y="277900"/>
              <a:ext cx="1833568" cy="1283497"/>
            </a:xfrm>
            <a:prstGeom prst="chevron">
              <a:avLst>
                <a:gd fmla="val 50000" name="adj"/>
              </a:avLst>
            </a:prstGeom>
            <a:solidFill>
              <a:srgbClr val="105675"/>
            </a:solidFill>
            <a:ln cap="flat" cmpd="sng" w="19050">
              <a:solidFill>
                <a:srgbClr val="10567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nvSpPr>
          <p:spPr>
            <a:xfrm>
              <a:off x="5729467" y="644614"/>
              <a:ext cx="1283497" cy="550071"/>
            </a:xfrm>
            <a:prstGeom prst="rect">
              <a:avLst/>
            </a:prstGeom>
            <a:noFill/>
            <a:ln>
              <a:noFill/>
            </a:ln>
          </p:spPr>
          <p:txBody>
            <a:bodyPr anchorCtr="0" anchor="ctr" bIns="26650" lIns="26650" spcFirstLastPara="1" rIns="26650" wrap="square" tIns="26650">
              <a:noAutofit/>
            </a:bodyPr>
            <a:lstStyle/>
            <a:p>
              <a:pPr indent="0" lvl="0" marL="0" marR="0" rtl="1" algn="ctr">
                <a:lnSpc>
                  <a:spcPct val="90000"/>
                </a:lnSpc>
                <a:spcBef>
                  <a:spcPts val="0"/>
                </a:spcBef>
                <a:spcAft>
                  <a:spcPts val="0"/>
                </a:spcAft>
                <a:buClr>
                  <a:srgbClr val="FFFFFF"/>
                </a:buClr>
                <a:buSzPts val="4200"/>
                <a:buFont typeface="David"/>
                <a:buNone/>
              </a:pPr>
              <a:r>
                <a:rPr b="1" lang="iw-IL" sz="4200">
                  <a:solidFill>
                    <a:srgbClr val="FFFFFF"/>
                  </a:solidFill>
                  <a:latin typeface="David"/>
                  <a:ea typeface="David"/>
                  <a:cs typeface="David"/>
                  <a:sym typeface="David"/>
                </a:rPr>
                <a:t>7-9</a:t>
              </a:r>
              <a:endParaRPr/>
            </a:p>
          </p:txBody>
        </p:sp>
        <p:sp>
          <p:nvSpPr>
            <p:cNvPr id="95" name="Google Shape;95;p2"/>
            <p:cNvSpPr/>
            <p:nvPr/>
          </p:nvSpPr>
          <p:spPr>
            <a:xfrm rot="-5400000">
              <a:off x="2268823" y="-2265958"/>
              <a:ext cx="1191819" cy="5729467"/>
            </a:xfrm>
            <a:prstGeom prst="round2SameRect">
              <a:avLst>
                <a:gd fmla="val 16667" name="adj1"/>
                <a:gd fmla="val 0" name="adj2"/>
              </a:avLst>
            </a:prstGeom>
            <a:solidFill>
              <a:srgbClr val="FFFFFF"/>
            </a:solidFill>
            <a:ln cap="flat" cmpd="sng" w="19050">
              <a:solidFill>
                <a:srgbClr val="10567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txBox="1"/>
            <p:nvPr/>
          </p:nvSpPr>
          <p:spPr>
            <a:xfrm>
              <a:off x="58179" y="61046"/>
              <a:ext cx="5671287" cy="1075459"/>
            </a:xfrm>
            <a:prstGeom prst="rect">
              <a:avLst/>
            </a:prstGeom>
            <a:noFill/>
            <a:ln>
              <a:noFill/>
            </a:ln>
          </p:spPr>
          <p:txBody>
            <a:bodyPr anchorCtr="0" anchor="ctr" bIns="41275" lIns="41275" spcFirstLastPara="1" rIns="462275" wrap="square" tIns="41275">
              <a:noAutofit/>
            </a:bodyPr>
            <a:lstStyle/>
            <a:p>
              <a:pPr indent="-285750" lvl="1" marL="285750" marR="0" rtl="1" algn="ctr">
                <a:lnSpc>
                  <a:spcPct val="90000"/>
                </a:lnSpc>
                <a:spcBef>
                  <a:spcPts val="0"/>
                </a:spcBef>
                <a:spcAft>
                  <a:spcPts val="0"/>
                </a:spcAft>
                <a:buClr>
                  <a:srgbClr val="000000"/>
                </a:buClr>
                <a:buSzPts val="6500"/>
                <a:buFont typeface="David"/>
                <a:buNone/>
              </a:pPr>
              <a:r>
                <a:rPr b="0" i="0" lang="iw-IL" sz="6500" u="none" cap="none" strike="noStrike">
                  <a:solidFill>
                    <a:srgbClr val="000000"/>
                  </a:solidFill>
                  <a:latin typeface="David"/>
                  <a:ea typeface="David"/>
                  <a:cs typeface="David"/>
                  <a:sym typeface="David"/>
                </a:rPr>
                <a:t>ממצאי העבודה</a:t>
              </a:r>
              <a:endParaRPr/>
            </a:p>
          </p:txBody>
        </p:sp>
        <p:sp>
          <p:nvSpPr>
            <p:cNvPr id="97" name="Google Shape;97;p2"/>
            <p:cNvSpPr/>
            <p:nvPr/>
          </p:nvSpPr>
          <p:spPr>
            <a:xfrm rot="5400000">
              <a:off x="5454431" y="1919743"/>
              <a:ext cx="1833568" cy="1283497"/>
            </a:xfrm>
            <a:prstGeom prst="chevron">
              <a:avLst>
                <a:gd fmla="val 50000" name="adj"/>
              </a:avLst>
            </a:prstGeom>
            <a:solidFill>
              <a:srgbClr val="2B719A"/>
            </a:solidFill>
            <a:ln cap="flat" cmpd="sng" w="19050">
              <a:solidFill>
                <a:srgbClr val="2B71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5729467" y="2286457"/>
              <a:ext cx="1283497" cy="550071"/>
            </a:xfrm>
            <a:prstGeom prst="rect">
              <a:avLst/>
            </a:prstGeom>
            <a:noFill/>
            <a:ln>
              <a:noFill/>
            </a:ln>
          </p:spPr>
          <p:txBody>
            <a:bodyPr anchorCtr="0" anchor="ctr" bIns="26650" lIns="26650" spcFirstLastPara="1" rIns="26650" wrap="square" tIns="26650">
              <a:noAutofit/>
            </a:bodyPr>
            <a:lstStyle/>
            <a:p>
              <a:pPr indent="0" lvl="0" marL="0" marR="0" rtl="1" algn="ctr">
                <a:lnSpc>
                  <a:spcPct val="90000"/>
                </a:lnSpc>
                <a:spcBef>
                  <a:spcPts val="0"/>
                </a:spcBef>
                <a:spcAft>
                  <a:spcPts val="0"/>
                </a:spcAft>
                <a:buClr>
                  <a:srgbClr val="FFFFFF"/>
                </a:buClr>
                <a:buSzPts val="4200"/>
                <a:buFont typeface="David"/>
                <a:buNone/>
              </a:pPr>
              <a:r>
                <a:rPr b="1" lang="iw-IL" sz="4200">
                  <a:solidFill>
                    <a:srgbClr val="FFFFFF"/>
                  </a:solidFill>
                  <a:latin typeface="David"/>
                  <a:ea typeface="David"/>
                  <a:cs typeface="David"/>
                  <a:sym typeface="David"/>
                </a:rPr>
                <a:t>10-13</a:t>
              </a:r>
              <a:endParaRPr/>
            </a:p>
          </p:txBody>
        </p:sp>
        <p:sp>
          <p:nvSpPr>
            <p:cNvPr id="99" name="Google Shape;99;p2"/>
            <p:cNvSpPr/>
            <p:nvPr/>
          </p:nvSpPr>
          <p:spPr>
            <a:xfrm rot="-5400000">
              <a:off x="2268823" y="-624115"/>
              <a:ext cx="1191819" cy="5729467"/>
            </a:xfrm>
            <a:prstGeom prst="round2SameRect">
              <a:avLst>
                <a:gd fmla="val 16667" name="adj1"/>
                <a:gd fmla="val 0" name="adj2"/>
              </a:avLst>
            </a:prstGeom>
            <a:solidFill>
              <a:srgbClr val="FFFFFF"/>
            </a:solidFill>
            <a:ln cap="flat" cmpd="sng" w="19050">
              <a:solidFill>
                <a:srgbClr val="2B719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58179" y="1702889"/>
              <a:ext cx="5671287" cy="1075459"/>
            </a:xfrm>
            <a:prstGeom prst="rect">
              <a:avLst/>
            </a:prstGeom>
            <a:noFill/>
            <a:ln>
              <a:noFill/>
            </a:ln>
          </p:spPr>
          <p:txBody>
            <a:bodyPr anchorCtr="0" anchor="ctr" bIns="41275" lIns="41275" spcFirstLastPara="1" rIns="462275" wrap="square" tIns="41275">
              <a:noAutofit/>
            </a:bodyPr>
            <a:lstStyle/>
            <a:p>
              <a:pPr indent="-285750" lvl="1" marL="285750" marR="0" rtl="1" algn="ctr">
                <a:lnSpc>
                  <a:spcPct val="90000"/>
                </a:lnSpc>
                <a:spcBef>
                  <a:spcPts val="0"/>
                </a:spcBef>
                <a:spcAft>
                  <a:spcPts val="0"/>
                </a:spcAft>
                <a:buClr>
                  <a:srgbClr val="000000"/>
                </a:buClr>
                <a:buSzPts val="6500"/>
                <a:buFont typeface="David"/>
                <a:buNone/>
              </a:pPr>
              <a:r>
                <a:rPr b="0" i="0" lang="iw-IL" sz="6500" u="none" cap="none" strike="noStrike">
                  <a:solidFill>
                    <a:srgbClr val="000000"/>
                  </a:solidFill>
                  <a:latin typeface="David"/>
                  <a:ea typeface="David"/>
                  <a:cs typeface="David"/>
                  <a:sym typeface="David"/>
                </a:rPr>
                <a:t>סקר ספרות</a:t>
              </a:r>
              <a:endParaRPr/>
            </a:p>
          </p:txBody>
        </p:sp>
        <p:sp>
          <p:nvSpPr>
            <p:cNvPr id="101" name="Google Shape;101;p2"/>
            <p:cNvSpPr/>
            <p:nvPr/>
          </p:nvSpPr>
          <p:spPr>
            <a:xfrm rot="5400000">
              <a:off x="5454431" y="3561586"/>
              <a:ext cx="1833568" cy="1283497"/>
            </a:xfrm>
            <a:prstGeom prst="chevron">
              <a:avLst>
                <a:gd fmla="val 50000" name="adj"/>
              </a:avLst>
            </a:prstGeom>
            <a:solidFill>
              <a:srgbClr val="5589B0"/>
            </a:solidFill>
            <a:ln cap="flat" cmpd="sng" w="19050">
              <a:solidFill>
                <a:srgbClr val="5589B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5729467" y="3928300"/>
              <a:ext cx="1283497" cy="550071"/>
            </a:xfrm>
            <a:prstGeom prst="rect">
              <a:avLst/>
            </a:prstGeom>
            <a:noFill/>
            <a:ln>
              <a:noFill/>
            </a:ln>
          </p:spPr>
          <p:txBody>
            <a:bodyPr anchorCtr="0" anchor="ctr" bIns="26650" lIns="26650" spcFirstLastPara="1" rIns="26650" wrap="square" tIns="26650">
              <a:noAutofit/>
            </a:bodyPr>
            <a:lstStyle/>
            <a:p>
              <a:pPr indent="0" lvl="0" marL="0" marR="0" rtl="1" algn="ctr">
                <a:lnSpc>
                  <a:spcPct val="90000"/>
                </a:lnSpc>
                <a:spcBef>
                  <a:spcPts val="0"/>
                </a:spcBef>
                <a:spcAft>
                  <a:spcPts val="0"/>
                </a:spcAft>
                <a:buClr>
                  <a:srgbClr val="FFFFFF"/>
                </a:buClr>
                <a:buSzPts val="4200"/>
                <a:buFont typeface="David"/>
                <a:buNone/>
              </a:pPr>
              <a:r>
                <a:rPr b="1" lang="iw-IL" sz="4200">
                  <a:solidFill>
                    <a:srgbClr val="FFFFFF"/>
                  </a:solidFill>
                  <a:latin typeface="David"/>
                  <a:ea typeface="David"/>
                  <a:cs typeface="David"/>
                  <a:sym typeface="David"/>
                </a:rPr>
                <a:t>14</a:t>
              </a:r>
              <a:endParaRPr/>
            </a:p>
          </p:txBody>
        </p:sp>
        <p:sp>
          <p:nvSpPr>
            <p:cNvPr id="103" name="Google Shape;103;p2"/>
            <p:cNvSpPr/>
            <p:nvPr/>
          </p:nvSpPr>
          <p:spPr>
            <a:xfrm rot="-5400000">
              <a:off x="2268823" y="1017727"/>
              <a:ext cx="1191819" cy="5729467"/>
            </a:xfrm>
            <a:prstGeom prst="round2SameRect">
              <a:avLst>
                <a:gd fmla="val 16667" name="adj1"/>
                <a:gd fmla="val 0" name="adj2"/>
              </a:avLst>
            </a:prstGeom>
            <a:solidFill>
              <a:srgbClr val="FFFFFF"/>
            </a:solidFill>
            <a:ln cap="flat" cmpd="sng" w="19050">
              <a:solidFill>
                <a:srgbClr val="5589B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txBox="1"/>
            <p:nvPr/>
          </p:nvSpPr>
          <p:spPr>
            <a:xfrm>
              <a:off x="58179" y="3344731"/>
              <a:ext cx="5671287" cy="1075459"/>
            </a:xfrm>
            <a:prstGeom prst="rect">
              <a:avLst/>
            </a:prstGeom>
            <a:noFill/>
            <a:ln>
              <a:noFill/>
            </a:ln>
          </p:spPr>
          <p:txBody>
            <a:bodyPr anchorCtr="0" anchor="ctr" bIns="41275" lIns="41275" spcFirstLastPara="1" rIns="462275" wrap="square" tIns="41275">
              <a:noAutofit/>
            </a:bodyPr>
            <a:lstStyle/>
            <a:p>
              <a:pPr indent="-285750" lvl="1" marL="285750" marR="0" rtl="1" algn="ctr">
                <a:lnSpc>
                  <a:spcPct val="90000"/>
                </a:lnSpc>
                <a:spcBef>
                  <a:spcPts val="0"/>
                </a:spcBef>
                <a:spcAft>
                  <a:spcPts val="0"/>
                </a:spcAft>
                <a:buClr>
                  <a:srgbClr val="000000"/>
                </a:buClr>
                <a:buSzPts val="6500"/>
                <a:buFont typeface="David"/>
                <a:buNone/>
              </a:pPr>
              <a:r>
                <a:rPr b="0" i="0" lang="iw-IL" sz="6500" u="none" cap="none" strike="noStrike">
                  <a:solidFill>
                    <a:srgbClr val="000000"/>
                  </a:solidFill>
                  <a:latin typeface="David"/>
                  <a:ea typeface="David"/>
                  <a:cs typeface="David"/>
                  <a:sym typeface="David"/>
                </a:rPr>
                <a:t>רשימת מקורות</a:t>
              </a:r>
              <a:endParaRPr/>
            </a:p>
          </p:txBody>
        </p:sp>
      </p:grpSp>
      <p:sp>
        <p:nvSpPr>
          <p:cNvPr id="105" name="Google Shape;105;p2"/>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p:nvPr/>
        </p:nvSpPr>
        <p:spPr>
          <a:xfrm>
            <a:off x="20880" y="7701341"/>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a:t>
            </a:r>
            <a:endParaRPr b="0" sz="5400"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10" name="Shape 110"/>
        <p:cNvGrpSpPr/>
        <p:nvPr/>
      </p:nvGrpSpPr>
      <p:grpSpPr>
        <a:xfrm>
          <a:off x="0" y="0"/>
          <a:ext cx="0" cy="0"/>
          <a:chOff x="0" y="0"/>
          <a:chExt cx="0" cy="0"/>
        </a:xfrm>
      </p:grpSpPr>
      <p:sp>
        <p:nvSpPr>
          <p:cNvPr id="111" name="Google Shape;111;p3"/>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12" name="Google Shape;112;p3"/>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13" name="Google Shape;113;p3"/>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114" name="Google Shape;114;p3"/>
          <p:cNvSpPr/>
          <p:nvPr/>
        </p:nvSpPr>
        <p:spPr>
          <a:xfrm>
            <a:off x="4259718" y="62619"/>
            <a:ext cx="6110968"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רקע לנושא עבודה</a:t>
            </a:r>
            <a:endParaRPr/>
          </a:p>
        </p:txBody>
      </p:sp>
      <p:sp>
        <p:nvSpPr>
          <p:cNvPr id="115" name="Google Shape;115;p3"/>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3"/>
          <p:cNvSpPr/>
          <p:nvPr/>
        </p:nvSpPr>
        <p:spPr>
          <a:xfrm>
            <a:off x="20880" y="7701341"/>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2</a:t>
            </a:r>
            <a:endParaRPr b="0" sz="5400" cap="none">
              <a:solidFill>
                <a:schemeClr val="dk1"/>
              </a:solidFill>
              <a:latin typeface="Calibri"/>
              <a:ea typeface="Calibri"/>
              <a:cs typeface="Calibri"/>
              <a:sym typeface="Calibri"/>
            </a:endParaRPr>
          </a:p>
        </p:txBody>
      </p:sp>
      <p:sp>
        <p:nvSpPr>
          <p:cNvPr id="117" name="Google Shape;117;p3"/>
          <p:cNvSpPr txBox="1"/>
          <p:nvPr/>
        </p:nvSpPr>
        <p:spPr>
          <a:xfrm>
            <a:off x="-46087" y="4574803"/>
            <a:ext cx="14174483" cy="2908232"/>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None/>
            </a:pPr>
            <a:r>
              <a:rPr lang="iw-IL" sz="2400">
                <a:solidFill>
                  <a:schemeClr val="dk1"/>
                </a:solidFill>
                <a:latin typeface="Arial"/>
                <a:ea typeface="Arial"/>
                <a:cs typeface="Arial"/>
                <a:sym typeface="Arial"/>
              </a:rPr>
              <a:t>תחבורה ציבורית היא שירות ציבורי חיוני אשר רמת השירות בו משפיעה ישירות על שביעות רצונם של הנוסעים. תלונות ופניות ציבור הן מקור מידע משמעותי להבנת האתגרים והשיפורים הנדרשים ברמת השירות. עם זאת, המידע הנאסף לעיתים קרובות אינו מנוצל בצורה אופטימלית לצורך ניתוח מקיף וזיהוי מגמות ברמה מערכתית.</a:t>
            </a:r>
            <a:endParaRPr sz="2400">
              <a:solidFill>
                <a:schemeClr val="dk1"/>
              </a:solidFill>
              <a:latin typeface="Arial"/>
              <a:ea typeface="Arial"/>
              <a:cs typeface="Arial"/>
              <a:sym typeface="Arial"/>
            </a:endParaRPr>
          </a:p>
          <a:p>
            <a:pPr indent="0" lvl="0" marL="0" marR="0" rtl="1" algn="r">
              <a:lnSpc>
                <a:spcPct val="150000"/>
              </a:lnSpc>
              <a:spcBef>
                <a:spcPts val="800"/>
              </a:spcBef>
              <a:spcAft>
                <a:spcPts val="0"/>
              </a:spcAft>
              <a:buNone/>
            </a:pPr>
            <a:r>
              <a:rPr lang="iw-IL" sz="2400">
                <a:solidFill>
                  <a:schemeClr val="dk1"/>
                </a:solidFill>
                <a:latin typeface="Arial"/>
                <a:ea typeface="Arial"/>
                <a:cs typeface="Arial"/>
                <a:sym typeface="Arial"/>
              </a:rPr>
              <a:t>הבעיה המרכזית היא כיצד ניתן לנצל מודלים ושיטות ניתוח מתקדמות לניתוח התלונות, כך שניתן יהיה לזהות דפוסים, למפות בעיות במרחב הגיאוגרפי ולהפיק תובנות לשיפור רמת השירות בתחבורה הציבורית.</a:t>
            </a:r>
            <a:endParaRPr sz="2400">
              <a:solidFill>
                <a:schemeClr val="dk1"/>
              </a:solidFill>
              <a:latin typeface="Arial"/>
              <a:ea typeface="Arial"/>
              <a:cs typeface="Arial"/>
              <a:sym typeface="Arial"/>
            </a:endParaRPr>
          </a:p>
        </p:txBody>
      </p:sp>
      <p:sp>
        <p:nvSpPr>
          <p:cNvPr descr="A modern cityscape showcasing public transportation systems such as buses, trams, and subway stations. The image emphasizes data analytics with digital graphs, heatmaps, and patterns overlaying the map to represent complaint trends and service improvements. Professionals analyze the data using futuristic interfaces, while elements like a map pinpoint problem areas with glowing markers. The atmosphere is vibrant and tech-oriented, illustrating innovation in public transportation analysis." id="118" name="Google Shape;118;p3"/>
          <p:cNvSpPr/>
          <p:nvPr/>
        </p:nvSpPr>
        <p:spPr>
          <a:xfrm>
            <a:off x="7162800" y="39624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9" name="Google Shape;119;p3"/>
          <p:cNvPicPr preferRelativeResize="0"/>
          <p:nvPr/>
        </p:nvPicPr>
        <p:blipFill rotWithShape="1">
          <a:blip r:embed="rId5">
            <a:alphaModFix/>
          </a:blip>
          <a:srcRect b="0" l="0" r="0" t="0"/>
          <a:stretch/>
        </p:blipFill>
        <p:spPr>
          <a:xfrm>
            <a:off x="20880" y="1189733"/>
            <a:ext cx="14609520" cy="33074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23" name="Shape 123"/>
        <p:cNvGrpSpPr/>
        <p:nvPr/>
      </p:nvGrpSpPr>
      <p:grpSpPr>
        <a:xfrm>
          <a:off x="0" y="0"/>
          <a:ext cx="0" cy="0"/>
          <a:chOff x="0" y="0"/>
          <a:chExt cx="0" cy="0"/>
        </a:xfrm>
      </p:grpSpPr>
      <p:sp>
        <p:nvSpPr>
          <p:cNvPr id="124" name="Google Shape;124;p4"/>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25" name="Google Shape;125;p4"/>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26" name="Google Shape;126;p4"/>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127" name="Google Shape;127;p4"/>
          <p:cNvSpPr/>
          <p:nvPr/>
        </p:nvSpPr>
        <p:spPr>
          <a:xfrm>
            <a:off x="4832792" y="62619"/>
            <a:ext cx="4964821"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שאלת המחקר</a:t>
            </a:r>
            <a:endParaRPr/>
          </a:p>
        </p:txBody>
      </p:sp>
      <p:sp>
        <p:nvSpPr>
          <p:cNvPr id="128" name="Google Shape;128;p4"/>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29" name="Google Shape;129;p4"/>
          <p:cNvPicPr preferRelativeResize="0"/>
          <p:nvPr/>
        </p:nvPicPr>
        <p:blipFill rotWithShape="1">
          <a:blip r:embed="rId5">
            <a:alphaModFix/>
          </a:blip>
          <a:srcRect b="2407" l="1585" r="2707" t="2364"/>
          <a:stretch/>
        </p:blipFill>
        <p:spPr>
          <a:xfrm>
            <a:off x="800054" y="3016101"/>
            <a:ext cx="4032738" cy="4267058"/>
          </a:xfrm>
          <a:prstGeom prst="rect">
            <a:avLst/>
          </a:prstGeom>
          <a:noFill/>
          <a:ln>
            <a:noFill/>
          </a:ln>
          <a:effectLst>
            <a:outerShdw blurRad="292100" rotWithShape="0" algn="tl" dir="2700000" dist="139700">
              <a:srgbClr val="333333">
                <a:alpha val="64705"/>
              </a:srgbClr>
            </a:outerShdw>
          </a:effectLst>
        </p:spPr>
      </p:pic>
      <p:sp>
        <p:nvSpPr>
          <p:cNvPr id="130" name="Google Shape;130;p4"/>
          <p:cNvSpPr/>
          <p:nvPr/>
        </p:nvSpPr>
        <p:spPr>
          <a:xfrm>
            <a:off x="6093262" y="3016101"/>
            <a:ext cx="8236533" cy="1986915"/>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ctr">
              <a:lnSpc>
                <a:spcPct val="150000"/>
              </a:lnSpc>
              <a:spcBef>
                <a:spcPts val="0"/>
              </a:spcBef>
              <a:spcAft>
                <a:spcPts val="0"/>
              </a:spcAft>
              <a:buNone/>
            </a:pPr>
            <a:r>
              <a:rPr lang="iw-IL" sz="1800">
                <a:solidFill>
                  <a:schemeClr val="dk1"/>
                </a:solidFill>
                <a:latin typeface="Arial"/>
                <a:ea typeface="Arial"/>
                <a:cs typeface="Arial"/>
                <a:sym typeface="Arial"/>
              </a:rPr>
              <a:t>בדו"ח השנתי ה-50 של נציב תלונות הציבור לשנת 2023, שפורסם ב-24 ביוני 2024, נרשמה עלייה משמעותית במספר התלונות שהתקבלו בנציבות. בנוגע לתחבורה הציבורית, התקבלו בשנת 2023 1,089 תלונות על הרשות הארצית לתחבורה ציבורית, עלייה משמעותית לעומת השנים הקודמות. הדוח מצביע על צורך בשיפור השירות לציבור בתחבורה הציבורית, במיוחד בנוגע לטיפול בתלונות הנוסעים.</a:t>
            </a:r>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
        <p:nvSpPr>
          <p:cNvPr id="131" name="Google Shape;131;p4"/>
          <p:cNvSpPr/>
          <p:nvPr/>
        </p:nvSpPr>
        <p:spPr>
          <a:xfrm>
            <a:off x="6093262" y="5278473"/>
            <a:ext cx="8236533" cy="1986915"/>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r">
              <a:lnSpc>
                <a:spcPct val="107000"/>
              </a:lnSpc>
              <a:spcBef>
                <a:spcPts val="0"/>
              </a:spcBef>
              <a:spcAft>
                <a:spcPts val="0"/>
              </a:spcAft>
              <a:buNone/>
            </a:pPr>
            <a:r>
              <a:rPr lang="iw-IL" sz="1800">
                <a:solidFill>
                  <a:schemeClr val="dk1"/>
                </a:solidFill>
                <a:latin typeface="Arial"/>
                <a:ea typeface="Arial"/>
                <a:cs typeface="Arial"/>
                <a:sym typeface="Arial"/>
              </a:rPr>
              <a:t>דו"ח ארגון "15 דקות" מסכם את נתוני התלונות על שירותי חברות התחבורה הציבורית במחצית הראשונה של 2024 ומציג תמונה מדאיגה: מרבית התלונות עוסקות באי-ביצוע נסיעות, איחורים ואי-עצירה בתחנות.  </a:t>
            </a:r>
            <a:endParaRPr sz="1800">
              <a:solidFill>
                <a:schemeClr val="dk1"/>
              </a:solidFill>
              <a:latin typeface="Arial"/>
              <a:ea typeface="Arial"/>
              <a:cs typeface="Arial"/>
              <a:sym typeface="Arial"/>
            </a:endParaRPr>
          </a:p>
          <a:p>
            <a:pPr indent="0" lvl="0" marL="0" marR="0" rtl="1" algn="l">
              <a:lnSpc>
                <a:spcPct val="107000"/>
              </a:lnSpc>
              <a:spcBef>
                <a:spcPts val="800"/>
              </a:spcBef>
              <a:spcAft>
                <a:spcPts val="0"/>
              </a:spcAft>
              <a:buNone/>
            </a:pPr>
            <a:r>
              <a:rPr lang="iw-IL" sz="1800" u="sng">
                <a:solidFill>
                  <a:srgbClr val="467886"/>
                </a:solidFill>
                <a:latin typeface="Arial"/>
                <a:ea typeface="Arial"/>
                <a:cs typeface="Arial"/>
                <a:sym typeface="Arial"/>
                <a:hlinkClick r:id="rId6">
                  <a:extLst>
                    <a:ext uri="{A12FA001-AC4F-418D-AE19-62706E023703}">
                      <ahyp:hlinkClr val="tx"/>
                    </a:ext>
                  </a:extLst>
                </a:hlinkClick>
              </a:rPr>
              <a:t>https://www.ynet.co.il/news/article/yokra14030837</a:t>
            </a:r>
            <a:endParaRPr sz="1800">
              <a:solidFill>
                <a:schemeClr val="dk1"/>
              </a:solidFill>
              <a:latin typeface="Arial"/>
              <a:ea typeface="Arial"/>
              <a:cs typeface="Arial"/>
              <a:sym typeface="Arial"/>
            </a:endParaRPr>
          </a:p>
          <a:p>
            <a:pPr indent="0" lvl="0" marL="0" marR="0" rtl="0" algn="r">
              <a:spcBef>
                <a:spcPts val="80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
        <p:nvSpPr>
          <p:cNvPr id="132" name="Google Shape;132;p4"/>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3</a:t>
            </a:r>
            <a:endParaRPr b="0" sz="5400" cap="none">
              <a:solidFill>
                <a:schemeClr val="dk1"/>
              </a:solidFill>
              <a:latin typeface="Calibri"/>
              <a:ea typeface="Calibri"/>
              <a:cs typeface="Calibri"/>
              <a:sym typeface="Calibri"/>
            </a:endParaRPr>
          </a:p>
        </p:txBody>
      </p:sp>
      <p:sp>
        <p:nvSpPr>
          <p:cNvPr id="133" name="Google Shape;133;p4"/>
          <p:cNvSpPr txBox="1"/>
          <p:nvPr/>
        </p:nvSpPr>
        <p:spPr>
          <a:xfrm>
            <a:off x="521411" y="1615147"/>
            <a:ext cx="13723355" cy="1077218"/>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lang="iw-IL" sz="3200">
                <a:solidFill>
                  <a:schemeClr val="dk1"/>
                </a:solidFill>
                <a:latin typeface="Calibri"/>
                <a:ea typeface="Calibri"/>
                <a:cs typeface="Calibri"/>
                <a:sym typeface="Calibri"/>
              </a:rPr>
              <a:t>אילו מאפיינים של תחנות אוטובוס קשורים להיקף התלונות הציבוריות בתחום התחבורה הציבורית, כפי שהן מתקבלות טלפונית במשרד התחבורה?</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37" name="Shape 137"/>
        <p:cNvGrpSpPr/>
        <p:nvPr/>
      </p:nvGrpSpPr>
      <p:grpSpPr>
        <a:xfrm>
          <a:off x="0" y="0"/>
          <a:ext cx="0" cy="0"/>
          <a:chOff x="0" y="0"/>
          <a:chExt cx="0" cy="0"/>
        </a:xfrm>
      </p:grpSpPr>
      <p:sp>
        <p:nvSpPr>
          <p:cNvPr id="138" name="Google Shape;138;p5"/>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39" name="Google Shape;139;p5"/>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40" name="Google Shape;140;p5"/>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141" name="Google Shape;141;p5"/>
          <p:cNvSpPr/>
          <p:nvPr/>
        </p:nvSpPr>
        <p:spPr>
          <a:xfrm>
            <a:off x="5025955" y="62619"/>
            <a:ext cx="4578497"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נתוני המחקר</a:t>
            </a:r>
            <a:endParaRPr/>
          </a:p>
        </p:txBody>
      </p:sp>
      <p:sp>
        <p:nvSpPr>
          <p:cNvPr id="142" name="Google Shape;142;p5"/>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43" name="Google Shape;143;p5"/>
          <p:cNvPicPr preferRelativeResize="0"/>
          <p:nvPr/>
        </p:nvPicPr>
        <p:blipFill rotWithShape="1">
          <a:blip r:embed="rId5">
            <a:alphaModFix/>
          </a:blip>
          <a:srcRect b="0" l="0" r="0" t="0"/>
          <a:stretch/>
        </p:blipFill>
        <p:spPr>
          <a:xfrm>
            <a:off x="285095" y="1075477"/>
            <a:ext cx="11561895" cy="2477006"/>
          </a:xfrm>
          <a:prstGeom prst="rect">
            <a:avLst/>
          </a:prstGeom>
          <a:noFill/>
          <a:ln>
            <a:noFill/>
          </a:ln>
          <a:effectLst>
            <a:outerShdw blurRad="292100" rotWithShape="0" algn="tl" dir="2700000" dist="139700">
              <a:srgbClr val="333333">
                <a:alpha val="64705"/>
              </a:srgbClr>
            </a:outerShdw>
          </a:effectLst>
        </p:spPr>
      </p:pic>
      <p:pic>
        <p:nvPicPr>
          <p:cNvPr id="144" name="Google Shape;144;p5"/>
          <p:cNvPicPr preferRelativeResize="0"/>
          <p:nvPr/>
        </p:nvPicPr>
        <p:blipFill rotWithShape="1">
          <a:blip r:embed="rId6">
            <a:alphaModFix/>
          </a:blip>
          <a:srcRect b="0" l="0" r="0" t="0"/>
          <a:stretch/>
        </p:blipFill>
        <p:spPr>
          <a:xfrm>
            <a:off x="384916" y="4046592"/>
            <a:ext cx="3285331" cy="2562583"/>
          </a:xfrm>
          <a:prstGeom prst="rect">
            <a:avLst/>
          </a:prstGeom>
          <a:noFill/>
          <a:ln>
            <a:noFill/>
          </a:ln>
          <a:effectLst>
            <a:outerShdw blurRad="292100" rotWithShape="0" algn="tl" dir="2700000" dist="139700">
              <a:srgbClr val="333333">
                <a:alpha val="64705"/>
              </a:srgbClr>
            </a:outerShdw>
          </a:effectLst>
        </p:spPr>
      </p:pic>
      <p:pic>
        <p:nvPicPr>
          <p:cNvPr id="145" name="Google Shape;145;p5"/>
          <p:cNvPicPr preferRelativeResize="0"/>
          <p:nvPr/>
        </p:nvPicPr>
        <p:blipFill rotWithShape="1">
          <a:blip r:embed="rId7">
            <a:alphaModFix/>
          </a:blip>
          <a:srcRect b="0" l="0" r="0" t="0"/>
          <a:stretch/>
        </p:blipFill>
        <p:spPr>
          <a:xfrm>
            <a:off x="3651455" y="4027540"/>
            <a:ext cx="1895740" cy="2581635"/>
          </a:xfrm>
          <a:prstGeom prst="rect">
            <a:avLst/>
          </a:prstGeom>
          <a:noFill/>
          <a:ln>
            <a:noFill/>
          </a:ln>
          <a:effectLst>
            <a:outerShdw blurRad="292100" rotWithShape="0" algn="tl" dir="2700000" dist="139700">
              <a:srgbClr val="333333">
                <a:alpha val="64705"/>
              </a:srgbClr>
            </a:outerShdw>
          </a:effectLst>
        </p:spPr>
      </p:pic>
      <p:pic>
        <p:nvPicPr>
          <p:cNvPr id="146" name="Google Shape;146;p5"/>
          <p:cNvPicPr preferRelativeResize="0"/>
          <p:nvPr/>
        </p:nvPicPr>
        <p:blipFill rotWithShape="1">
          <a:blip r:embed="rId8">
            <a:alphaModFix/>
          </a:blip>
          <a:srcRect b="0" l="0" r="0" t="0"/>
          <a:stretch/>
        </p:blipFill>
        <p:spPr>
          <a:xfrm>
            <a:off x="6662251" y="3976876"/>
            <a:ext cx="6709811" cy="2581635"/>
          </a:xfrm>
          <a:prstGeom prst="rect">
            <a:avLst/>
          </a:prstGeom>
          <a:noFill/>
          <a:ln>
            <a:noFill/>
          </a:ln>
          <a:effectLst>
            <a:outerShdw blurRad="292100" rotWithShape="0" algn="tl" dir="2700000" dist="139700">
              <a:srgbClr val="333333">
                <a:alpha val="64705"/>
              </a:srgbClr>
            </a:outerShdw>
          </a:effectLst>
        </p:spPr>
      </p:pic>
      <p:sp>
        <p:nvSpPr>
          <p:cNvPr id="147" name="Google Shape;147;p5"/>
          <p:cNvSpPr/>
          <p:nvPr/>
        </p:nvSpPr>
        <p:spPr>
          <a:xfrm rot="5400000">
            <a:off x="2689306" y="1377575"/>
            <a:ext cx="491130" cy="5255465"/>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5"/>
          <p:cNvSpPr/>
          <p:nvPr/>
        </p:nvSpPr>
        <p:spPr>
          <a:xfrm rot="5400000">
            <a:off x="9797933" y="463962"/>
            <a:ext cx="438449" cy="6952207"/>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9" name="Google Shape;149;p5"/>
          <p:cNvCxnSpPr>
            <a:stCxn id="148" idx="1"/>
          </p:cNvCxnSpPr>
          <p:nvPr/>
        </p:nvCxnSpPr>
        <p:spPr>
          <a:xfrm rot="10800000">
            <a:off x="4435058" y="3600241"/>
            <a:ext cx="5582100" cy="120600"/>
          </a:xfrm>
          <a:prstGeom prst="straightConnector1">
            <a:avLst/>
          </a:prstGeom>
          <a:noFill/>
          <a:ln cap="flat" cmpd="sng" w="28575">
            <a:solidFill>
              <a:schemeClr val="accent1"/>
            </a:solidFill>
            <a:prstDash val="solid"/>
            <a:miter lim="800000"/>
            <a:headEnd len="sm" w="sm" type="none"/>
            <a:tailEnd len="med" w="med" type="triangle"/>
          </a:ln>
        </p:spPr>
      </p:cxnSp>
      <p:cxnSp>
        <p:nvCxnSpPr>
          <p:cNvPr id="150" name="Google Shape;150;p5"/>
          <p:cNvCxnSpPr>
            <a:stCxn id="147" idx="1"/>
          </p:cNvCxnSpPr>
          <p:nvPr/>
        </p:nvCxnSpPr>
        <p:spPr>
          <a:xfrm flipH="1" rot="10800000">
            <a:off x="2934871" y="3588743"/>
            <a:ext cx="716700" cy="171000"/>
          </a:xfrm>
          <a:prstGeom prst="straightConnector1">
            <a:avLst/>
          </a:prstGeom>
          <a:noFill/>
          <a:ln cap="flat" cmpd="sng" w="28575">
            <a:solidFill>
              <a:schemeClr val="accent1"/>
            </a:solidFill>
            <a:prstDash val="solid"/>
            <a:miter lim="800000"/>
            <a:headEnd len="sm" w="sm" type="none"/>
            <a:tailEnd len="med" w="med" type="triangle"/>
          </a:ln>
        </p:spPr>
      </p:cxnSp>
      <p:sp>
        <p:nvSpPr>
          <p:cNvPr id="151" name="Google Shape;151;p5"/>
          <p:cNvSpPr txBox="1"/>
          <p:nvPr/>
        </p:nvSpPr>
        <p:spPr>
          <a:xfrm>
            <a:off x="12055173" y="1062509"/>
            <a:ext cx="2532032" cy="2677656"/>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Arial"/>
                <a:ea typeface="Arial"/>
                <a:cs typeface="Arial"/>
                <a:sym typeface="Arial"/>
              </a:rPr>
              <a:t>טבלה המציגה את מבנה הדיווח על תלונות הציבור בתחום התחבורה הציבורית כפי שהן מתקבלות טלפונית במשרד התחבורה.</a:t>
            </a:r>
            <a:endParaRPr/>
          </a:p>
        </p:txBody>
      </p:sp>
      <p:sp>
        <p:nvSpPr>
          <p:cNvPr id="152" name="Google Shape;152;p5"/>
          <p:cNvSpPr/>
          <p:nvPr/>
        </p:nvSpPr>
        <p:spPr>
          <a:xfrm>
            <a:off x="11897006" y="1159692"/>
            <a:ext cx="108151" cy="2501879"/>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5"/>
          <p:cNvSpPr/>
          <p:nvPr/>
        </p:nvSpPr>
        <p:spPr>
          <a:xfrm rot="5400000">
            <a:off x="10184297" y="3731826"/>
            <a:ext cx="491130" cy="6126793"/>
          </a:xfrm>
          <a:prstGeom prst="leftBrace">
            <a:avLst>
              <a:gd fmla="val 8333" name="adj1"/>
              <a:gd fmla="val 51339"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5"/>
          <p:cNvSpPr/>
          <p:nvPr/>
        </p:nvSpPr>
        <p:spPr>
          <a:xfrm rot="5400000">
            <a:off x="3047598" y="4167938"/>
            <a:ext cx="491130" cy="5388150"/>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5"/>
          <p:cNvSpPr txBox="1"/>
          <p:nvPr/>
        </p:nvSpPr>
        <p:spPr>
          <a:xfrm>
            <a:off x="6973624" y="6752325"/>
            <a:ext cx="65196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iw-IL" sz="2400">
                <a:solidFill>
                  <a:schemeClr val="dk1"/>
                </a:solidFill>
                <a:latin typeface="Arial"/>
                <a:ea typeface="Arial"/>
                <a:cs typeface="Arial"/>
                <a:sym typeface="Arial"/>
              </a:rPr>
              <a:t>טבלה המציגה את מבנה הפירוט של תחנות האוטובוס</a:t>
            </a:r>
            <a:endParaRPr/>
          </a:p>
          <a:p>
            <a:pPr indent="0" lvl="0" marL="0" marR="0" rtl="0" algn="ctr">
              <a:spcBef>
                <a:spcPts val="0"/>
              </a:spcBef>
              <a:spcAft>
                <a:spcPts val="0"/>
              </a:spcAft>
              <a:buNone/>
            </a:pPr>
            <a:r>
              <a:rPr lang="iw-IL" sz="2400">
                <a:solidFill>
                  <a:schemeClr val="dk1"/>
                </a:solidFill>
                <a:latin typeface="Arial"/>
                <a:ea typeface="Arial"/>
                <a:cs typeface="Arial"/>
                <a:sym typeface="Arial"/>
              </a:rPr>
              <a:t> לאורך מסלול קו מסוים.</a:t>
            </a:r>
            <a:endParaRPr/>
          </a:p>
        </p:txBody>
      </p:sp>
      <p:sp>
        <p:nvSpPr>
          <p:cNvPr id="156" name="Google Shape;156;p5"/>
          <p:cNvSpPr txBox="1"/>
          <p:nvPr/>
        </p:nvSpPr>
        <p:spPr>
          <a:xfrm>
            <a:off x="-230398" y="6776295"/>
            <a:ext cx="7315200" cy="830997"/>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Arial"/>
                <a:ea typeface="Arial"/>
                <a:cs typeface="Arial"/>
                <a:sym typeface="Arial"/>
              </a:rPr>
              <a:t>טבלאות המציגות את מקורות הנתונים עבור</a:t>
            </a:r>
            <a:endParaRPr/>
          </a:p>
          <a:p>
            <a:pPr indent="0" lvl="0" marL="0" marR="0" rtl="1" algn="ctr">
              <a:spcBef>
                <a:spcPts val="0"/>
              </a:spcBef>
              <a:spcAft>
                <a:spcPts val="0"/>
              </a:spcAft>
              <a:buNone/>
            </a:pPr>
            <a:r>
              <a:rPr lang="iw-IL" sz="2400">
                <a:solidFill>
                  <a:schemeClr val="dk1"/>
                </a:solidFill>
                <a:latin typeface="Arial"/>
                <a:ea typeface="Arial"/>
                <a:cs typeface="Arial"/>
                <a:sym typeface="Arial"/>
              </a:rPr>
              <a:t> קואורדינטות ושמות תחנות האוטובוס באנגלית.</a:t>
            </a:r>
            <a:endParaRPr/>
          </a:p>
        </p:txBody>
      </p:sp>
      <p:sp>
        <p:nvSpPr>
          <p:cNvPr id="157" name="Google Shape;157;p5"/>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4</a:t>
            </a:r>
            <a:endParaRPr b="0" sz="5400"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61" name="Shape 161"/>
        <p:cNvGrpSpPr/>
        <p:nvPr/>
      </p:nvGrpSpPr>
      <p:grpSpPr>
        <a:xfrm>
          <a:off x="0" y="0"/>
          <a:ext cx="0" cy="0"/>
          <a:chOff x="0" y="0"/>
          <a:chExt cx="0" cy="0"/>
        </a:xfrm>
      </p:grpSpPr>
      <p:sp>
        <p:nvSpPr>
          <p:cNvPr id="162" name="Google Shape;162;p6"/>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63" name="Google Shape;163;p6"/>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64" name="Google Shape;164;p6"/>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165" name="Google Shape;165;p6"/>
          <p:cNvSpPr/>
          <p:nvPr/>
        </p:nvSpPr>
        <p:spPr>
          <a:xfrm>
            <a:off x="5025955" y="62619"/>
            <a:ext cx="4578497"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נתוני המחקר</a:t>
            </a:r>
            <a:endParaRPr/>
          </a:p>
        </p:txBody>
      </p:sp>
      <p:sp>
        <p:nvSpPr>
          <p:cNvPr id="166" name="Google Shape;166;p6"/>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txBox="1"/>
          <p:nvPr/>
        </p:nvSpPr>
        <p:spPr>
          <a:xfrm>
            <a:off x="2485293" y="1052387"/>
            <a:ext cx="11871188" cy="40011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iw-IL" sz="2000">
                <a:solidFill>
                  <a:schemeClr val="dk1"/>
                </a:solidFill>
                <a:latin typeface="Arial"/>
                <a:ea typeface="Arial"/>
                <a:cs typeface="Arial"/>
                <a:sym typeface="Arial"/>
              </a:rPr>
              <a:t>מוקדים ברשת ששימשו לניתוח הן תחנות האוטובוס שבהן התקבלו תלונות נוסעים באמצעות הטלפון על שירות התחבורה הציבורית</a:t>
            </a:r>
            <a:endParaRPr/>
          </a:p>
        </p:txBody>
      </p:sp>
      <p:pic>
        <p:nvPicPr>
          <p:cNvPr id="168" name="Google Shape;168;p6"/>
          <p:cNvPicPr preferRelativeResize="0"/>
          <p:nvPr/>
        </p:nvPicPr>
        <p:blipFill rotWithShape="1">
          <a:blip r:embed="rId5">
            <a:alphaModFix/>
          </a:blip>
          <a:srcRect b="0" l="0" r="0" t="0"/>
          <a:stretch/>
        </p:blipFill>
        <p:spPr>
          <a:xfrm>
            <a:off x="6815208" y="1433871"/>
            <a:ext cx="7541274" cy="2191056"/>
          </a:xfrm>
          <a:prstGeom prst="rect">
            <a:avLst/>
          </a:prstGeom>
          <a:noFill/>
          <a:ln>
            <a:noFill/>
          </a:ln>
          <a:effectLst>
            <a:outerShdw blurRad="292100" rotWithShape="0" algn="tl" dir="2700000" dist="139700">
              <a:srgbClr val="333333">
                <a:alpha val="64705"/>
              </a:srgbClr>
            </a:outerShdw>
          </a:effectLst>
        </p:spPr>
      </p:pic>
      <p:sp>
        <p:nvSpPr>
          <p:cNvPr id="169" name="Google Shape;169;p6"/>
          <p:cNvSpPr/>
          <p:nvPr/>
        </p:nvSpPr>
        <p:spPr>
          <a:xfrm>
            <a:off x="6179587" y="1624798"/>
            <a:ext cx="635620" cy="1912185"/>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txBox="1"/>
          <p:nvPr/>
        </p:nvSpPr>
        <p:spPr>
          <a:xfrm>
            <a:off x="2744033" y="2283530"/>
            <a:ext cx="37110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w-IL" sz="2400">
                <a:solidFill>
                  <a:srgbClr val="504C49"/>
                </a:solidFill>
                <a:latin typeface="Arial"/>
                <a:ea typeface="Arial"/>
                <a:cs typeface="Arial"/>
                <a:sym typeface="Arial"/>
              </a:rPr>
              <a:t>מוקדים (סה"כ 32,706 רשומות)</a:t>
            </a:r>
            <a:endParaRPr/>
          </a:p>
        </p:txBody>
      </p:sp>
      <p:sp>
        <p:nvSpPr>
          <p:cNvPr id="171" name="Google Shape;171;p6"/>
          <p:cNvSpPr txBox="1"/>
          <p:nvPr/>
        </p:nvSpPr>
        <p:spPr>
          <a:xfrm>
            <a:off x="3126768" y="3599233"/>
            <a:ext cx="11403938" cy="707886"/>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iw-IL" sz="2000">
                <a:solidFill>
                  <a:schemeClr val="dk1"/>
                </a:solidFill>
                <a:latin typeface="Arial"/>
                <a:ea typeface="Arial"/>
                <a:cs typeface="Arial"/>
                <a:sym typeface="Arial"/>
              </a:rPr>
              <a:t>עבור כל תלונה בתחנות האוטובוס, הנוסע ציין את מספר קו האוטובוס שלא עצר בתחנה ואת שם החברה המפעילה אותו. לצורך יצירת הווקטור, נקבעה תחנת היעד כתחנת העצירה הבאה במסלול הנסיעה של אותו אוטובוס שלא עצר בתחנה המדווחת.</a:t>
            </a:r>
            <a:endParaRPr/>
          </a:p>
        </p:txBody>
      </p:sp>
      <p:pic>
        <p:nvPicPr>
          <p:cNvPr id="172" name="Google Shape;172;p6"/>
          <p:cNvPicPr preferRelativeResize="0"/>
          <p:nvPr/>
        </p:nvPicPr>
        <p:blipFill rotWithShape="1">
          <a:blip r:embed="rId6">
            <a:alphaModFix/>
          </a:blip>
          <a:srcRect b="0" l="0" r="0" t="0"/>
          <a:stretch/>
        </p:blipFill>
        <p:spPr>
          <a:xfrm>
            <a:off x="5842694" y="4307119"/>
            <a:ext cx="8688012" cy="2191056"/>
          </a:xfrm>
          <a:prstGeom prst="rect">
            <a:avLst/>
          </a:prstGeom>
          <a:noFill/>
          <a:ln>
            <a:noFill/>
          </a:ln>
          <a:effectLst>
            <a:outerShdw blurRad="292100" rotWithShape="0" algn="tl" dir="2700000" dist="139700">
              <a:srgbClr val="333333">
                <a:alpha val="64705"/>
              </a:srgbClr>
            </a:outerShdw>
          </a:effectLst>
        </p:spPr>
      </p:pic>
      <p:sp>
        <p:nvSpPr>
          <p:cNvPr id="173" name="Google Shape;173;p6"/>
          <p:cNvSpPr/>
          <p:nvPr/>
        </p:nvSpPr>
        <p:spPr>
          <a:xfrm>
            <a:off x="5115767" y="4475849"/>
            <a:ext cx="635620" cy="1927724"/>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txBox="1"/>
          <p:nvPr/>
        </p:nvSpPr>
        <p:spPr>
          <a:xfrm>
            <a:off x="1722504" y="5202518"/>
            <a:ext cx="37110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w-IL" sz="2400">
                <a:solidFill>
                  <a:srgbClr val="504C49"/>
                </a:solidFill>
                <a:latin typeface="Arial"/>
                <a:ea typeface="Arial"/>
                <a:cs typeface="Arial"/>
                <a:sym typeface="Arial"/>
              </a:rPr>
              <a:t>קשתות (סה"כ 15,399 רשומות)</a:t>
            </a:r>
            <a:endParaRPr/>
          </a:p>
        </p:txBody>
      </p:sp>
      <p:sp>
        <p:nvSpPr>
          <p:cNvPr id="175" name="Google Shape;175;p6"/>
          <p:cNvSpPr txBox="1"/>
          <p:nvPr/>
        </p:nvSpPr>
        <p:spPr>
          <a:xfrm>
            <a:off x="2297723" y="6476860"/>
            <a:ext cx="12246328" cy="1015663"/>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iw-IL" sz="2000">
                <a:solidFill>
                  <a:schemeClr val="dk1"/>
                </a:solidFill>
                <a:latin typeface="Arial"/>
                <a:ea typeface="Arial"/>
                <a:cs typeface="Arial"/>
                <a:sym typeface="Arial"/>
              </a:rPr>
              <a:t>כל התלונות שהתקבלו במהלך החודש בתחנה מסוימת סוכמו ברמת הקו שעליו התלוננו הנוסעים באותה תחנה. בנוסף, חושב מספר הנוסעים בתחנה שהמתינו לקו שלא עצר. לפיכך, הנתונים שלנו המיוצגים בקשתות/וקטורים, משקפים את סך כל התלונות ומספר הנוסעים שהתלוננו על קו ספציפי בתחנת אוטובוס במהלך חודש קלנדרי (אוגוסט 2024).</a:t>
            </a:r>
            <a:endParaRPr/>
          </a:p>
        </p:txBody>
      </p:sp>
      <p:sp>
        <p:nvSpPr>
          <p:cNvPr id="176" name="Google Shape;176;p6"/>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5</a:t>
            </a:r>
            <a:endParaRPr b="0" sz="5400"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80" name="Shape 180"/>
        <p:cNvGrpSpPr/>
        <p:nvPr/>
      </p:nvGrpSpPr>
      <p:grpSpPr>
        <a:xfrm>
          <a:off x="0" y="0"/>
          <a:ext cx="0" cy="0"/>
          <a:chOff x="0" y="0"/>
          <a:chExt cx="0" cy="0"/>
        </a:xfrm>
      </p:grpSpPr>
      <p:sp>
        <p:nvSpPr>
          <p:cNvPr id="181" name="Google Shape;181;p7"/>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82" name="Google Shape;182;p7"/>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83" name="Google Shape;183;p7"/>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184" name="Google Shape;184;p7"/>
          <p:cNvSpPr/>
          <p:nvPr/>
        </p:nvSpPr>
        <p:spPr>
          <a:xfrm>
            <a:off x="5025955" y="62619"/>
            <a:ext cx="4578497"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נתוני המחקר</a:t>
            </a:r>
            <a:endParaRPr/>
          </a:p>
        </p:txBody>
      </p:sp>
      <p:sp>
        <p:nvSpPr>
          <p:cNvPr id="185" name="Google Shape;185;p7"/>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86" name="Google Shape;186;p7"/>
          <p:cNvPicPr preferRelativeResize="0"/>
          <p:nvPr/>
        </p:nvPicPr>
        <p:blipFill rotWithShape="1">
          <a:blip r:embed="rId5">
            <a:alphaModFix/>
          </a:blip>
          <a:srcRect b="0" l="0" r="0" t="0"/>
          <a:stretch/>
        </p:blipFill>
        <p:spPr>
          <a:xfrm>
            <a:off x="99694" y="1552354"/>
            <a:ext cx="14431012" cy="5955888"/>
          </a:xfrm>
          <a:prstGeom prst="rect">
            <a:avLst/>
          </a:prstGeom>
          <a:noFill/>
          <a:ln>
            <a:noFill/>
          </a:ln>
          <a:effectLst>
            <a:outerShdw blurRad="292100" rotWithShape="0" algn="tl" dir="2700000" dist="139700">
              <a:srgbClr val="333333">
                <a:alpha val="64705"/>
              </a:srgbClr>
            </a:outerShdw>
          </a:effectLst>
        </p:spPr>
      </p:pic>
      <p:sp>
        <p:nvSpPr>
          <p:cNvPr id="187" name="Google Shape;187;p7"/>
          <p:cNvSpPr txBox="1"/>
          <p:nvPr>
            <p:ph type="ctrTitle"/>
          </p:nvPr>
        </p:nvSpPr>
        <p:spPr>
          <a:xfrm>
            <a:off x="6625273" y="1178364"/>
            <a:ext cx="10972800" cy="4637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iw-IL" sz="4000">
                <a:latin typeface="Arial"/>
                <a:ea typeface="Arial"/>
                <a:cs typeface="Arial"/>
                <a:sym typeface="Arial"/>
              </a:rPr>
              <a:t>ייצוג מרחבי של הנתונים</a:t>
            </a:r>
            <a:endParaRPr/>
          </a:p>
        </p:txBody>
      </p:sp>
      <p:sp>
        <p:nvSpPr>
          <p:cNvPr id="188" name="Google Shape;188;p7"/>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6</a:t>
            </a:r>
            <a:endParaRPr b="0" sz="5400"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192" name="Shape 192"/>
        <p:cNvGrpSpPr/>
        <p:nvPr/>
      </p:nvGrpSpPr>
      <p:grpSpPr>
        <a:xfrm>
          <a:off x="0" y="0"/>
          <a:ext cx="0" cy="0"/>
          <a:chOff x="0" y="0"/>
          <a:chExt cx="0" cy="0"/>
        </a:xfrm>
      </p:grpSpPr>
      <p:sp>
        <p:nvSpPr>
          <p:cNvPr id="193" name="Google Shape;193;p8"/>
          <p:cNvSpPr/>
          <p:nvPr/>
        </p:nvSpPr>
        <p:spPr>
          <a:xfrm>
            <a:off x="0" y="5689485"/>
            <a:ext cx="6204124" cy="1449718"/>
          </a:xfrm>
          <a:prstGeom prst="rect">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
          <p:cNvSpPr/>
          <p:nvPr/>
        </p:nvSpPr>
        <p:spPr>
          <a:xfrm>
            <a:off x="8426276" y="5709723"/>
            <a:ext cx="6204124" cy="1329722"/>
          </a:xfrm>
          <a:prstGeom prst="rect">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8"/>
          <p:cNvSpPr/>
          <p:nvPr/>
        </p:nvSpPr>
        <p:spPr>
          <a:xfrm>
            <a:off x="0" y="1593174"/>
            <a:ext cx="6204124" cy="2521626"/>
          </a:xfrm>
          <a:prstGeom prst="rect">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8"/>
          <p:cNvSpPr/>
          <p:nvPr/>
        </p:nvSpPr>
        <p:spPr>
          <a:xfrm>
            <a:off x="8326482" y="1771259"/>
            <a:ext cx="6204000" cy="3170400"/>
          </a:xfrm>
          <a:prstGeom prst="rect">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8"/>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198" name="Google Shape;198;p8"/>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199" name="Google Shape;199;p8"/>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00" name="Google Shape;200;p8"/>
          <p:cNvSpPr/>
          <p:nvPr/>
        </p:nvSpPr>
        <p:spPr>
          <a:xfrm>
            <a:off x="4679708" y="62619"/>
            <a:ext cx="5270995"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ממצאי המחקר</a:t>
            </a:r>
            <a:endParaRPr/>
          </a:p>
        </p:txBody>
      </p:sp>
      <p:sp>
        <p:nvSpPr>
          <p:cNvPr id="201" name="Google Shape;201;p8"/>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202" name="Google Shape;202;p8"/>
          <p:cNvPicPr preferRelativeResize="0"/>
          <p:nvPr/>
        </p:nvPicPr>
        <p:blipFill rotWithShape="1">
          <a:blip r:embed="rId5">
            <a:alphaModFix/>
          </a:blip>
          <a:srcRect b="3706" l="2801" r="3771" t="4659"/>
          <a:stretch/>
        </p:blipFill>
        <p:spPr>
          <a:xfrm>
            <a:off x="4842798" y="3262985"/>
            <a:ext cx="4646095" cy="3438834"/>
          </a:xfrm>
          <a:prstGeom prst="ellipse">
            <a:avLst/>
          </a:prstGeom>
          <a:noFill/>
          <a:ln>
            <a:noFill/>
          </a:ln>
        </p:spPr>
      </p:pic>
      <p:sp>
        <p:nvSpPr>
          <p:cNvPr id="203" name="Google Shape;203;p8"/>
          <p:cNvSpPr txBox="1"/>
          <p:nvPr/>
        </p:nvSpPr>
        <p:spPr>
          <a:xfrm>
            <a:off x="8627211" y="1731942"/>
            <a:ext cx="5903400" cy="3074400"/>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None/>
            </a:pPr>
            <a:r>
              <a:rPr b="1" lang="iw-IL" sz="2000">
                <a:solidFill>
                  <a:schemeClr val="dk1"/>
                </a:solidFill>
                <a:latin typeface="Arial"/>
                <a:ea typeface="Arial"/>
                <a:cs typeface="Arial"/>
                <a:sym typeface="Arial"/>
              </a:rPr>
              <a:t>Degree:</a:t>
            </a:r>
            <a:r>
              <a:rPr lang="iw-IL" sz="2000">
                <a:solidFill>
                  <a:schemeClr val="dk1"/>
                </a:solidFill>
                <a:latin typeface="Arial"/>
                <a:ea typeface="Arial"/>
                <a:cs typeface="Arial"/>
                <a:sym typeface="Arial"/>
              </a:rPr>
              <a:t> מספר הקשרים הישירים של כל תחנה עם תחנות אחרות. התחנות עם Degree גבוה עשויות להיות מוקדים עיקריים ברשת בהם נקלטו מספר תלונות מירבי, המחברות תחנות רבות.  זיהינו 416 תחנות עם Degree גבוה או שווה מ 10 וגילינו שהן נוטות "לסבול" מבעיות תלונות חוזרות על אי הגעת אוטובוסים. </a:t>
            </a:r>
            <a:endParaRPr/>
          </a:p>
          <a:p>
            <a:pPr indent="0" lvl="0" marL="0" marR="0" rtl="0" algn="l">
              <a:lnSpc>
                <a:spcPct val="107000"/>
              </a:lnSpc>
              <a:spcBef>
                <a:spcPts val="800"/>
              </a:spcBef>
              <a:spcAft>
                <a:spcPts val="0"/>
              </a:spcAft>
              <a:buNone/>
            </a:pPr>
            <a:r>
              <a:rPr b="1" lang="iw-IL" sz="1800">
                <a:solidFill>
                  <a:schemeClr val="dk1"/>
                </a:solidFill>
                <a:latin typeface="Arial"/>
                <a:ea typeface="Arial"/>
                <a:cs typeface="Arial"/>
                <a:sym typeface="Arial"/>
              </a:rPr>
              <a:t>Degree Report Results: </a:t>
            </a:r>
            <a:r>
              <a:rPr lang="iw-IL" sz="1800">
                <a:solidFill>
                  <a:schemeClr val="dk1"/>
                </a:solidFill>
                <a:latin typeface="Arial"/>
                <a:ea typeface="Arial"/>
                <a:cs typeface="Arial"/>
                <a:sym typeface="Arial"/>
              </a:rPr>
              <a:t>Average Degree: 0.6</a:t>
            </a:r>
            <a:r>
              <a:rPr lang="iw-IL" sz="1800">
                <a:solidFill>
                  <a:schemeClr val="dk1"/>
                </a:solidFill>
                <a:latin typeface="Arial"/>
                <a:ea typeface="Arial"/>
                <a:cs typeface="Arial"/>
                <a:sym typeface="Arial"/>
              </a:rPr>
              <a:t>65</a:t>
            </a:r>
            <a:br>
              <a:rPr lang="iw-IL" sz="1800">
                <a:solidFill>
                  <a:schemeClr val="dk1"/>
                </a:solidFill>
                <a:latin typeface="Arial"/>
                <a:ea typeface="Arial"/>
                <a:cs typeface="Arial"/>
                <a:sym typeface="Arial"/>
              </a:rPr>
            </a:br>
            <a:endParaRPr sz="1800">
              <a:solidFill>
                <a:schemeClr val="dk1"/>
              </a:solidFill>
              <a:latin typeface="Calibri"/>
              <a:ea typeface="Calibri"/>
              <a:cs typeface="Calibri"/>
              <a:sym typeface="Calibri"/>
            </a:endParaRPr>
          </a:p>
        </p:txBody>
      </p:sp>
      <p:sp>
        <p:nvSpPr>
          <p:cNvPr id="204" name="Google Shape;204;p8"/>
          <p:cNvSpPr txBox="1"/>
          <p:nvPr>
            <p:ph type="ctrTitle"/>
          </p:nvPr>
        </p:nvSpPr>
        <p:spPr>
          <a:xfrm>
            <a:off x="6242031" y="1190156"/>
            <a:ext cx="8541900" cy="557700"/>
          </a:xfrm>
          <a:prstGeom prst="rect">
            <a:avLst/>
          </a:prstGeom>
          <a:noFill/>
          <a:ln>
            <a:noFill/>
          </a:ln>
        </p:spPr>
        <p:txBody>
          <a:bodyPr anchorCtr="0" anchor="b" bIns="45700" lIns="91425" spcFirstLastPara="1" rIns="91425" wrap="square" tIns="45700">
            <a:noAutofit/>
          </a:bodyPr>
          <a:lstStyle/>
          <a:p>
            <a:pPr indent="0" lvl="0" marL="0" rtl="1" algn="ctr">
              <a:spcBef>
                <a:spcPts val="0"/>
              </a:spcBef>
              <a:spcAft>
                <a:spcPts val="0"/>
              </a:spcAft>
              <a:buClr>
                <a:schemeClr val="dk1"/>
              </a:buClr>
              <a:buSzPts val="3600"/>
              <a:buFont typeface="Arial"/>
              <a:buNone/>
            </a:pPr>
            <a:r>
              <a:rPr b="1" lang="iw-IL" sz="3600">
                <a:latin typeface="Arial"/>
                <a:ea typeface="Arial"/>
                <a:cs typeface="Arial"/>
                <a:sym typeface="Arial"/>
              </a:rPr>
              <a:t>ממצאי ניתוח - Gephi מדדי  ה- </a:t>
            </a:r>
            <a:r>
              <a:rPr b="1" lang="iw-IL" sz="3600"/>
              <a:t>Centrality</a:t>
            </a:r>
            <a:endParaRPr b="1" sz="3600">
              <a:latin typeface="Arial"/>
              <a:ea typeface="Arial"/>
              <a:cs typeface="Arial"/>
              <a:sym typeface="Arial"/>
            </a:endParaRPr>
          </a:p>
        </p:txBody>
      </p:sp>
      <p:sp>
        <p:nvSpPr>
          <p:cNvPr id="205" name="Google Shape;205;p8"/>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7</a:t>
            </a:r>
            <a:endParaRPr b="0" sz="5400" cap="none">
              <a:solidFill>
                <a:schemeClr val="dk1"/>
              </a:solidFill>
              <a:latin typeface="Calibri"/>
              <a:ea typeface="Calibri"/>
              <a:cs typeface="Calibri"/>
              <a:sym typeface="Calibri"/>
            </a:endParaRPr>
          </a:p>
        </p:txBody>
      </p:sp>
      <p:sp>
        <p:nvSpPr>
          <p:cNvPr id="206" name="Google Shape;206;p8"/>
          <p:cNvSpPr txBox="1"/>
          <p:nvPr/>
        </p:nvSpPr>
        <p:spPr>
          <a:xfrm>
            <a:off x="297197" y="1664972"/>
            <a:ext cx="5618556" cy="2345322"/>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None/>
            </a:pPr>
            <a:r>
              <a:rPr b="1" lang="iw-IL" sz="2000">
                <a:solidFill>
                  <a:schemeClr val="dk1"/>
                </a:solidFill>
                <a:latin typeface="Calibri"/>
                <a:ea typeface="Calibri"/>
                <a:cs typeface="Calibri"/>
                <a:sym typeface="Calibri"/>
              </a:rPr>
              <a:t>Betweenness</a:t>
            </a:r>
            <a:r>
              <a:rPr lang="iw-IL" sz="2000">
                <a:solidFill>
                  <a:schemeClr val="dk1"/>
                </a:solidFill>
                <a:latin typeface="Calibri"/>
                <a:ea typeface="Calibri"/>
                <a:cs typeface="Calibri"/>
                <a:sym typeface="Calibri"/>
              </a:rPr>
              <a:t>: מדד זה בוחן כמה פעמים תחנה משמשת חוליית מעבר בין תחנות אחרות. תחנות בעלות ערכים גבוהים (≥10,000) חשובות במיוחד לתפקוד הרשת ונוטות להיות מוקדי תלונות במקרה של תקלות בשירות. זוהו 1,245 תחנות העונות על תנאי זה. </a:t>
            </a:r>
            <a:endParaRPr/>
          </a:p>
        </p:txBody>
      </p:sp>
      <p:sp>
        <p:nvSpPr>
          <p:cNvPr id="207" name="Google Shape;207;p8"/>
          <p:cNvSpPr txBox="1"/>
          <p:nvPr/>
        </p:nvSpPr>
        <p:spPr>
          <a:xfrm>
            <a:off x="-91411" y="5889522"/>
            <a:ext cx="6386945" cy="1493807"/>
          </a:xfrm>
          <a:prstGeom prst="rect">
            <a:avLst/>
          </a:prstGeom>
          <a:noFill/>
          <a:ln>
            <a:noFill/>
          </a:ln>
        </p:spPr>
        <p:txBody>
          <a:bodyPr anchorCtr="0" anchor="t" bIns="45700" lIns="91425" spcFirstLastPara="1" rIns="91425" wrap="square" tIns="45700">
            <a:spAutoFit/>
          </a:bodyPr>
          <a:lstStyle/>
          <a:p>
            <a:pPr indent="0" lvl="0" marL="0" marR="0" rtl="1" algn="just">
              <a:lnSpc>
                <a:spcPct val="150000"/>
              </a:lnSpc>
              <a:spcBef>
                <a:spcPts val="0"/>
              </a:spcBef>
              <a:spcAft>
                <a:spcPts val="0"/>
              </a:spcAft>
              <a:buNone/>
            </a:pPr>
            <a:r>
              <a:rPr b="1" lang="iw-IL" sz="2000">
                <a:solidFill>
                  <a:schemeClr val="dk1"/>
                </a:solidFill>
                <a:latin typeface="Arial"/>
                <a:ea typeface="Arial"/>
                <a:cs typeface="Arial"/>
                <a:sym typeface="Arial"/>
              </a:rPr>
              <a:t>Hub</a:t>
            </a:r>
            <a:r>
              <a:rPr lang="iw-IL" sz="2000">
                <a:solidFill>
                  <a:schemeClr val="dk1"/>
                </a:solidFill>
                <a:latin typeface="Arial"/>
                <a:ea typeface="Arial"/>
                <a:cs typeface="Arial"/>
                <a:sym typeface="Arial"/>
              </a:rPr>
              <a:t>   תחנות שמפיצות קשרים רבות לאחרות (מוקדים להפצה). נמצאו 19 תחנות העונות על תנאי שווה או גדול מ 0.1</a:t>
            </a:r>
            <a:endParaRPr/>
          </a:p>
          <a:p>
            <a:pPr indent="0" lvl="0" marL="0" marR="0" rtl="1" algn="just">
              <a:lnSpc>
                <a:spcPct val="150000"/>
              </a:lnSpc>
              <a:spcBef>
                <a:spcPts val="800"/>
              </a:spcBef>
              <a:spcAft>
                <a:spcPts val="0"/>
              </a:spcAft>
              <a:buNone/>
            </a:pPr>
            <a:r>
              <a:t/>
            </a:r>
            <a:endParaRPr sz="1800">
              <a:solidFill>
                <a:schemeClr val="dk1"/>
              </a:solidFill>
              <a:latin typeface="Arial"/>
              <a:ea typeface="Arial"/>
              <a:cs typeface="Arial"/>
              <a:sym typeface="Arial"/>
            </a:endParaRPr>
          </a:p>
        </p:txBody>
      </p:sp>
      <p:sp>
        <p:nvSpPr>
          <p:cNvPr id="208" name="Google Shape;208;p8"/>
          <p:cNvSpPr txBox="1"/>
          <p:nvPr/>
        </p:nvSpPr>
        <p:spPr>
          <a:xfrm>
            <a:off x="8985737" y="5794661"/>
            <a:ext cx="5487413" cy="96302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None/>
            </a:pPr>
            <a:r>
              <a:rPr b="1" lang="iw-IL" sz="2000">
                <a:solidFill>
                  <a:schemeClr val="dk1"/>
                </a:solidFill>
                <a:latin typeface="Arial"/>
                <a:ea typeface="Arial"/>
                <a:cs typeface="Arial"/>
                <a:sym typeface="Arial"/>
              </a:rPr>
              <a:t>Closeness </a:t>
            </a:r>
            <a:r>
              <a:rPr lang="iw-IL" sz="2000">
                <a:solidFill>
                  <a:schemeClr val="dk1"/>
                </a:solidFill>
                <a:latin typeface="Arial"/>
                <a:ea typeface="Arial"/>
                <a:cs typeface="Arial"/>
                <a:sym typeface="Arial"/>
              </a:rPr>
              <a:t>: מדד הקרבה של תחנה לתחנות אחרות. במחקר זוהו 315 תחנות בעלות ערכים גבוהים (≥0.9)</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12" name="Shape 212"/>
        <p:cNvGrpSpPr/>
        <p:nvPr/>
      </p:nvGrpSpPr>
      <p:grpSpPr>
        <a:xfrm>
          <a:off x="0" y="0"/>
          <a:ext cx="0" cy="0"/>
          <a:chOff x="0" y="0"/>
          <a:chExt cx="0" cy="0"/>
        </a:xfrm>
      </p:grpSpPr>
      <p:sp>
        <p:nvSpPr>
          <p:cNvPr id="213" name="Google Shape;213;p9"/>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14" name="Google Shape;214;p9"/>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15" name="Google Shape;215;p9"/>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16" name="Google Shape;216;p9"/>
          <p:cNvSpPr/>
          <p:nvPr/>
        </p:nvSpPr>
        <p:spPr>
          <a:xfrm>
            <a:off x="4679706" y="62619"/>
            <a:ext cx="5270995"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ממצאי המחקר</a:t>
            </a:r>
            <a:endParaRPr/>
          </a:p>
        </p:txBody>
      </p:sp>
      <p:sp>
        <p:nvSpPr>
          <p:cNvPr id="217" name="Google Shape;217;p9"/>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9"/>
          <p:cNvSpPr/>
          <p:nvPr/>
        </p:nvSpPr>
        <p:spPr>
          <a:xfrm>
            <a:off x="714781" y="5479008"/>
            <a:ext cx="13249467" cy="2215991"/>
          </a:xfrm>
          <a:prstGeom prst="rect">
            <a:avLst/>
          </a:prstGeom>
          <a:noFill/>
          <a:ln>
            <a:noFill/>
          </a:ln>
        </p:spPr>
        <p:txBody>
          <a:bodyPr anchorCtr="0" anchor="ctr" bIns="45700" lIns="91425" spcFirstLastPara="1" rIns="91425" wrap="square" tIns="45700">
            <a:spAutoFit/>
          </a:bodyPr>
          <a:lstStyle/>
          <a:p>
            <a:pPr indent="0" lvl="0" marL="0" marR="0" rtl="1" algn="r">
              <a:lnSpc>
                <a:spcPct val="150000"/>
              </a:lnSpc>
              <a:spcBef>
                <a:spcPts val="0"/>
              </a:spcBef>
              <a:spcAft>
                <a:spcPts val="0"/>
              </a:spcAft>
              <a:buNone/>
            </a:pPr>
            <a:r>
              <a:rPr b="1" lang="iw-IL" sz="2000">
                <a:solidFill>
                  <a:schemeClr val="dk1"/>
                </a:solidFill>
                <a:latin typeface="Arial"/>
                <a:ea typeface="Arial"/>
                <a:cs typeface="Arial"/>
                <a:sym typeface="Arial"/>
              </a:rPr>
              <a:t>מודל 1</a:t>
            </a:r>
            <a:r>
              <a:rPr lang="iw-IL" sz="2000">
                <a:solidFill>
                  <a:schemeClr val="dk1"/>
                </a:solidFill>
                <a:latin typeface="Arial"/>
                <a:ea typeface="Arial"/>
                <a:cs typeface="Arial"/>
                <a:sym typeface="Arial"/>
              </a:rPr>
              <a:t>: מבוסס על קיום קשרים בלבד, מראה הסתברות נמוכה לקשרים.</a:t>
            </a:r>
            <a:endParaRPr/>
          </a:p>
          <a:p>
            <a:pPr indent="0" lvl="0" marL="0" marR="0" rtl="1" algn="r">
              <a:lnSpc>
                <a:spcPct val="150000"/>
              </a:lnSpc>
              <a:spcBef>
                <a:spcPts val="0"/>
              </a:spcBef>
              <a:spcAft>
                <a:spcPts val="0"/>
              </a:spcAft>
              <a:buNone/>
            </a:pPr>
            <a:r>
              <a:rPr b="1" lang="iw-IL" sz="2000">
                <a:solidFill>
                  <a:schemeClr val="dk1"/>
                </a:solidFill>
                <a:latin typeface="Arial"/>
                <a:ea typeface="Arial"/>
                <a:cs typeface="Arial"/>
                <a:sym typeface="Arial"/>
              </a:rPr>
              <a:t>מודל 2</a:t>
            </a:r>
            <a:r>
              <a:rPr lang="iw-IL" sz="2000">
                <a:solidFill>
                  <a:schemeClr val="dk1"/>
                </a:solidFill>
                <a:latin typeface="Arial"/>
                <a:ea typeface="Arial"/>
                <a:cs typeface="Arial"/>
                <a:sym typeface="Arial"/>
              </a:rPr>
              <a:t>: מוסיף את משתנה mutual, משפר את ההבנה והתאמת המודל לרשת, מדגיש את חשיבות הקשרים ההדדיים. תוספת המשתנה mutual במודל 2 משפרת את ההתאמה לרשת, כפי שניתן לראות בירידה ב-AIC ובשאר המדדים. </a:t>
            </a:r>
            <a:endParaRPr/>
          </a:p>
          <a:p>
            <a:pPr indent="0" lvl="0" marL="0" marR="0" rtl="1" algn="r">
              <a:lnSpc>
                <a:spcPct val="150000"/>
              </a:lnSpc>
              <a:spcBef>
                <a:spcPts val="0"/>
              </a:spcBef>
              <a:spcAft>
                <a:spcPts val="0"/>
              </a:spcAft>
              <a:buNone/>
            </a:pPr>
            <a:r>
              <a:rPr b="1" lang="iw-IL" sz="2000">
                <a:solidFill>
                  <a:schemeClr val="dk1"/>
                </a:solidFill>
                <a:latin typeface="Arial"/>
                <a:ea typeface="Arial"/>
                <a:cs typeface="Arial"/>
                <a:sym typeface="Arial"/>
              </a:rPr>
              <a:t>סיכום</a:t>
            </a:r>
            <a:r>
              <a:rPr lang="iw-IL" sz="2000">
                <a:solidFill>
                  <a:schemeClr val="dk1"/>
                </a:solidFill>
                <a:latin typeface="Arial"/>
                <a:ea typeface="Arial"/>
                <a:cs typeface="Arial"/>
                <a:sym typeface="Arial"/>
              </a:rPr>
              <a:t>: מודל 2 מתאים יותר לניתוח רשת זו בשל שילוב מאפיינים נוספים מעבר ליחסים אקראיים. </a:t>
            </a:r>
            <a:endParaRPr/>
          </a:p>
          <a:p>
            <a:pPr indent="0" lvl="0" marL="0" marR="0" rtl="1" algn="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9" name="Google Shape;219;p9"/>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8</a:t>
            </a:r>
            <a:endParaRPr b="0" sz="5400" cap="none">
              <a:solidFill>
                <a:schemeClr val="dk1"/>
              </a:solidFill>
              <a:latin typeface="Calibri"/>
              <a:ea typeface="Calibri"/>
              <a:cs typeface="Calibri"/>
              <a:sym typeface="Calibri"/>
            </a:endParaRPr>
          </a:p>
        </p:txBody>
      </p:sp>
      <p:graphicFrame>
        <p:nvGraphicFramePr>
          <p:cNvPr id="220" name="Google Shape;220;p9"/>
          <p:cNvGraphicFramePr/>
          <p:nvPr/>
        </p:nvGraphicFramePr>
        <p:xfrm>
          <a:off x="248949" y="3687599"/>
          <a:ext cx="3000000" cy="3000000"/>
        </p:xfrm>
        <a:graphic>
          <a:graphicData uri="http://schemas.openxmlformats.org/drawingml/2006/table">
            <a:tbl>
              <a:tblPr bandRow="1" firstRow="1">
                <a:noFill/>
                <a:tableStyleId>{3441A5D5-8A7E-4DA2-9699-B0FE827352A6}</a:tableStyleId>
              </a:tblPr>
              <a:tblGrid>
                <a:gridCol w="2673250"/>
                <a:gridCol w="2869675"/>
                <a:gridCol w="2673250"/>
                <a:gridCol w="2673250"/>
                <a:gridCol w="2673250"/>
              </a:tblGrid>
              <a:tr h="392900">
                <a:tc>
                  <a:txBody>
                    <a:bodyPr/>
                    <a:lstStyle/>
                    <a:p>
                      <a:pPr indent="0" lvl="0" marL="0" marR="0" rtl="0" algn="ctr">
                        <a:spcBef>
                          <a:spcPts val="0"/>
                        </a:spcBef>
                        <a:spcAft>
                          <a:spcPts val="0"/>
                        </a:spcAft>
                        <a:buNone/>
                      </a:pPr>
                      <a:r>
                        <a:rPr lang="iw-IL" sz="2400" u="none" cap="none" strike="noStrike"/>
                        <a:t>BIC </a:t>
                      </a:r>
                      <a:endParaRPr sz="2400" u="none" cap="none" strike="noStrike"/>
                    </a:p>
                  </a:txBody>
                  <a:tcPr marT="45725" marB="45725" marR="91450" marL="91450"/>
                </a:tc>
                <a:tc>
                  <a:txBody>
                    <a:bodyPr/>
                    <a:lstStyle/>
                    <a:p>
                      <a:pPr indent="0" lvl="0" marL="0" marR="0" rtl="0" algn="ctr">
                        <a:spcBef>
                          <a:spcPts val="0"/>
                        </a:spcBef>
                        <a:spcAft>
                          <a:spcPts val="0"/>
                        </a:spcAft>
                        <a:buNone/>
                      </a:pPr>
                      <a:r>
                        <a:rPr lang="iw-IL" sz="2400" u="none" cap="none" strike="noStrike"/>
                        <a:t>p-value</a:t>
                      </a:r>
                      <a:endParaRPr sz="2400" u="none" cap="none" strike="noStrike"/>
                    </a:p>
                  </a:txBody>
                  <a:tcPr marT="45725" marB="45725" marR="91450" marL="91450"/>
                </a:tc>
                <a:tc>
                  <a:txBody>
                    <a:bodyPr/>
                    <a:lstStyle/>
                    <a:p>
                      <a:pPr indent="0" lvl="0" marL="0" marR="0" rtl="0" algn="ctr">
                        <a:spcBef>
                          <a:spcPts val="0"/>
                        </a:spcBef>
                        <a:spcAft>
                          <a:spcPts val="0"/>
                        </a:spcAft>
                        <a:buNone/>
                      </a:pPr>
                      <a:r>
                        <a:rPr b="1" lang="iw-IL" sz="2400" u="none" cap="none" strike="noStrike">
                          <a:solidFill>
                            <a:schemeClr val="lt1"/>
                          </a:solidFill>
                          <a:latin typeface="Calibri"/>
                          <a:ea typeface="Calibri"/>
                          <a:cs typeface="Calibri"/>
                          <a:sym typeface="Calibri"/>
                        </a:rPr>
                        <a:t>Log-odds (density)</a:t>
                      </a:r>
                      <a:endParaRPr b="1" sz="24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iw-IL" sz="2400" u="none" cap="none" strike="noStrike"/>
                        <a:t>Estimate</a:t>
                      </a:r>
                      <a:endParaRPr sz="2400" u="none" cap="none" strike="noStrike"/>
                    </a:p>
                  </a:txBody>
                  <a:tcPr marT="45725" marB="45725" marR="91450" marL="91450"/>
                </a:tc>
                <a:tc>
                  <a:txBody>
                    <a:bodyPr/>
                    <a:lstStyle/>
                    <a:p>
                      <a:pPr indent="0" lvl="0" marL="0" marR="0" rtl="0" algn="ctr">
                        <a:spcBef>
                          <a:spcPts val="0"/>
                        </a:spcBef>
                        <a:spcAft>
                          <a:spcPts val="0"/>
                        </a:spcAft>
                        <a:buNone/>
                      </a:pPr>
                      <a:r>
                        <a:rPr lang="iw-IL" sz="2400" u="none" cap="none" strike="noStrike"/>
                        <a:t>Model</a:t>
                      </a:r>
                      <a:endParaRPr sz="2400" u="none" cap="none" strike="noStrike"/>
                    </a:p>
                  </a:txBody>
                  <a:tcPr marT="45725" marB="45725" marR="91450" marL="91450"/>
                </a:tc>
              </a:tr>
              <a:tr h="403500">
                <a:tc>
                  <a:txBody>
                    <a:bodyPr/>
                    <a:lstStyle/>
                    <a:p>
                      <a:pPr indent="0" lvl="0" marL="0" marR="0" rtl="0" algn="ctr">
                        <a:spcBef>
                          <a:spcPts val="0"/>
                        </a:spcBef>
                        <a:spcAft>
                          <a:spcPts val="0"/>
                        </a:spcAft>
                        <a:buNone/>
                      </a:pPr>
                      <a:r>
                        <a:rPr lang="iw-IL" sz="2400" u="none" cap="none" strike="noStrike"/>
                        <a:t>200487</a:t>
                      </a:r>
                      <a:endParaRPr sz="2400" u="none" cap="none" strike="noStrike"/>
                    </a:p>
                  </a:txBody>
                  <a:tcPr marT="45725" marB="45725" marR="91450" marL="91450"/>
                </a:tc>
                <a:tc>
                  <a:txBody>
                    <a:bodyPr/>
                    <a:lstStyle/>
                    <a:p>
                      <a:pPr indent="0" lvl="0" marL="0" marR="0" rtl="0" algn="ctr">
                        <a:spcBef>
                          <a:spcPts val="0"/>
                        </a:spcBef>
                        <a:spcAft>
                          <a:spcPts val="0"/>
                        </a:spcAft>
                        <a:buNone/>
                      </a:pPr>
                      <a:r>
                        <a:rPr lang="iw-IL" sz="2400" u="none" cap="none" strike="noStrike"/>
                        <a:t>P&lt;0.001 ***</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2400"/>
                        <a:buFont typeface="Calibri"/>
                        <a:buNone/>
                      </a:pPr>
                      <a:r>
                        <a:rPr lang="iw-IL" sz="2400" u="none" cap="none" strike="noStrike">
                          <a:solidFill>
                            <a:schemeClr val="dk1"/>
                          </a:solidFill>
                          <a:latin typeface="Calibri"/>
                          <a:ea typeface="Calibri"/>
                          <a:cs typeface="Calibri"/>
                          <a:sym typeface="Calibri"/>
                        </a:rPr>
                        <a:t>0.00027</a:t>
                      </a:r>
                      <a:endParaRPr sz="24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iw-IL" sz="2400" u="none" cap="none" strike="noStrike"/>
                        <a:t>-8.209</a:t>
                      </a:r>
                      <a:endParaRPr sz="2400" u="none" cap="none" strike="noStrike"/>
                    </a:p>
                  </a:txBody>
                  <a:tcPr marT="45725" marB="45725" marR="91450" marL="91450"/>
                </a:tc>
                <a:tc>
                  <a:txBody>
                    <a:bodyPr/>
                    <a:lstStyle/>
                    <a:p>
                      <a:pPr indent="0" lvl="0" marL="0" marR="0" rtl="0" algn="ctr">
                        <a:spcBef>
                          <a:spcPts val="0"/>
                        </a:spcBef>
                        <a:spcAft>
                          <a:spcPts val="0"/>
                        </a:spcAft>
                        <a:buNone/>
                      </a:pPr>
                      <a:r>
                        <a:rPr b="1" lang="iw-IL" sz="2400" u="none" cap="none" strike="noStrike"/>
                        <a:t>edges</a:t>
                      </a:r>
                      <a:endParaRPr sz="2400" u="none" cap="none" strike="noStrike"/>
                    </a:p>
                  </a:txBody>
                  <a:tcPr marT="45725" marB="45725" marR="91450" marL="91450"/>
                </a:tc>
              </a:tr>
              <a:tr h="392900">
                <a:tc rowSpan="2">
                  <a:txBody>
                    <a:bodyPr/>
                    <a:lstStyle/>
                    <a:p>
                      <a:pPr indent="0" lvl="0" marL="0" marR="0" rtl="0" algn="ctr">
                        <a:spcBef>
                          <a:spcPts val="0"/>
                        </a:spcBef>
                        <a:spcAft>
                          <a:spcPts val="0"/>
                        </a:spcAft>
                        <a:buNone/>
                      </a:pPr>
                      <a:r>
                        <a:rPr lang="iw-IL" sz="2400" u="none" cap="none" strike="noStrike"/>
                        <a:t>197781</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2400"/>
                        <a:buFont typeface="Calibri"/>
                        <a:buNone/>
                      </a:pPr>
                      <a:r>
                        <a:rPr lang="iw-IL" sz="2400" u="none" cap="none" strike="noStrike"/>
                        <a:t>P&lt;0.001 ***</a:t>
                      </a:r>
                      <a:endParaRPr sz="2400" u="none" cap="none" strike="noStrike"/>
                    </a:p>
                  </a:txBody>
                  <a:tcPr marT="45725" marB="45725" marR="91450" marL="91450"/>
                </a:tc>
                <a:tc rowSpan="2">
                  <a:txBody>
                    <a:bodyPr/>
                    <a:lstStyle/>
                    <a:p>
                      <a:pPr indent="0" lvl="0" marL="0" marR="0" rtl="0" algn="ctr">
                        <a:lnSpc>
                          <a:spcPct val="100000"/>
                        </a:lnSpc>
                        <a:spcBef>
                          <a:spcPts val="0"/>
                        </a:spcBef>
                        <a:spcAft>
                          <a:spcPts val="0"/>
                        </a:spcAft>
                        <a:buClr>
                          <a:schemeClr val="dk1"/>
                        </a:buClr>
                        <a:buSzPts val="2400"/>
                        <a:buFont typeface="Calibri"/>
                        <a:buNone/>
                      </a:pPr>
                      <a:r>
                        <a:rPr lang="iw-IL" sz="2400" u="none" cap="none" strike="noStrike">
                          <a:solidFill>
                            <a:schemeClr val="dk1"/>
                          </a:solidFill>
                          <a:latin typeface="Calibri"/>
                          <a:ea typeface="Calibri"/>
                          <a:cs typeface="Calibri"/>
                          <a:sym typeface="Calibri"/>
                        </a:rPr>
                        <a:t>0: -8.266</a:t>
                      </a:r>
                      <a:endParaRPr/>
                    </a:p>
                    <a:p>
                      <a:pPr indent="0" lvl="0" marL="0" marR="0" rtl="0" algn="ctr">
                        <a:lnSpc>
                          <a:spcPct val="100000"/>
                        </a:lnSpc>
                        <a:spcBef>
                          <a:spcPts val="0"/>
                        </a:spcBef>
                        <a:spcAft>
                          <a:spcPts val="0"/>
                        </a:spcAft>
                        <a:buClr>
                          <a:schemeClr val="dk1"/>
                        </a:buClr>
                        <a:buSzPts val="2400"/>
                        <a:buFont typeface="Calibri"/>
                        <a:buNone/>
                      </a:pPr>
                      <a:r>
                        <a:rPr lang="iw-IL" sz="2400" u="none" cap="none" strike="noStrike">
                          <a:solidFill>
                            <a:schemeClr val="dk1"/>
                          </a:solidFill>
                          <a:latin typeface="Calibri"/>
                          <a:ea typeface="Calibri"/>
                          <a:cs typeface="Calibri"/>
                          <a:sym typeface="Calibri"/>
                        </a:rPr>
                        <a:t>1: -2.815</a:t>
                      </a:r>
                      <a:endParaRPr sz="24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iw-IL" sz="2400" u="none" cap="none" strike="noStrike"/>
                        <a:t>-8.266</a:t>
                      </a:r>
                      <a:endParaRPr sz="2400" u="none" cap="none" strike="noStrike"/>
                    </a:p>
                  </a:txBody>
                  <a:tcPr marT="45725" marB="45725" marR="91450" marL="91450"/>
                </a:tc>
                <a:tc rowSpan="2">
                  <a:txBody>
                    <a:bodyPr/>
                    <a:lstStyle/>
                    <a:p>
                      <a:pPr indent="0" lvl="0" marL="0" marR="0" rtl="0" algn="ctr">
                        <a:spcBef>
                          <a:spcPts val="0"/>
                        </a:spcBef>
                        <a:spcAft>
                          <a:spcPts val="0"/>
                        </a:spcAft>
                        <a:buNone/>
                      </a:pPr>
                      <a:r>
                        <a:rPr b="1" lang="iw-IL" sz="2400" u="none" cap="none" strike="noStrike"/>
                        <a:t>edges + </a:t>
                      </a:r>
                      <a:endParaRPr/>
                    </a:p>
                    <a:p>
                      <a:pPr indent="0" lvl="0" marL="0" marR="0" rtl="0" algn="ctr">
                        <a:spcBef>
                          <a:spcPts val="0"/>
                        </a:spcBef>
                        <a:spcAft>
                          <a:spcPts val="0"/>
                        </a:spcAft>
                        <a:buNone/>
                      </a:pPr>
                      <a:r>
                        <a:rPr b="1" lang="iw-IL" sz="2400" u="none" cap="none" strike="noStrike"/>
                        <a:t>mutual</a:t>
                      </a:r>
                      <a:endParaRPr sz="2400" u="none" cap="none" strike="noStrike"/>
                    </a:p>
                  </a:txBody>
                  <a:tcPr marT="45725" marB="45725" marR="91450" marL="91450"/>
                </a:tc>
              </a:tr>
              <a:tr h="392900">
                <a:tc vMerge="1"/>
                <a:tc>
                  <a:txBody>
                    <a:bodyPr/>
                    <a:lstStyle/>
                    <a:p>
                      <a:pPr indent="0" lvl="0" marL="0" marR="0" rtl="0" algn="ctr">
                        <a:lnSpc>
                          <a:spcPct val="100000"/>
                        </a:lnSpc>
                        <a:spcBef>
                          <a:spcPts val="0"/>
                        </a:spcBef>
                        <a:spcAft>
                          <a:spcPts val="0"/>
                        </a:spcAft>
                        <a:buClr>
                          <a:schemeClr val="dk1"/>
                        </a:buClr>
                        <a:buSzPts val="2400"/>
                        <a:buFont typeface="Calibri"/>
                        <a:buNone/>
                      </a:pPr>
                      <a:r>
                        <a:rPr lang="iw-IL" sz="2400" u="none" cap="none" strike="noStrike"/>
                        <a:t>P&lt;0.001 ***</a:t>
                      </a:r>
                      <a:endParaRPr sz="2400" u="none" cap="none" strike="noStrike"/>
                    </a:p>
                  </a:txBody>
                  <a:tcPr marT="45725" marB="45725" marR="91450" marL="91450"/>
                </a:tc>
                <a:tc vMerge="1"/>
                <a:tc>
                  <a:txBody>
                    <a:bodyPr/>
                    <a:lstStyle/>
                    <a:p>
                      <a:pPr indent="0" lvl="0" marL="0" marR="0" rtl="0" algn="ctr">
                        <a:spcBef>
                          <a:spcPts val="0"/>
                        </a:spcBef>
                        <a:spcAft>
                          <a:spcPts val="0"/>
                        </a:spcAft>
                        <a:buNone/>
                      </a:pPr>
                      <a:r>
                        <a:rPr lang="iw-IL" sz="2400" u="none" cap="none" strike="noStrike"/>
                        <a:t>5.451</a:t>
                      </a:r>
                      <a:endParaRPr sz="2400" u="none" cap="none" strike="noStrike"/>
                    </a:p>
                  </a:txBody>
                  <a:tcPr marT="45725" marB="45725" marR="91450" marL="91450"/>
                </a:tc>
                <a:tc vMerge="1"/>
              </a:tr>
            </a:tbl>
          </a:graphicData>
        </a:graphic>
      </p:graphicFrame>
      <p:sp>
        <p:nvSpPr>
          <p:cNvPr id="221" name="Google Shape;221;p9"/>
          <p:cNvSpPr txBox="1"/>
          <p:nvPr/>
        </p:nvSpPr>
        <p:spPr>
          <a:xfrm>
            <a:off x="248949" y="1146972"/>
            <a:ext cx="73713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w-IL" sz="2400">
                <a:solidFill>
                  <a:schemeClr val="dk1"/>
                </a:solidFill>
                <a:latin typeface="Calibri"/>
                <a:ea typeface="Calibri"/>
                <a:cs typeface="Calibri"/>
                <a:sym typeface="Calibri"/>
              </a:rPr>
              <a:t>ERGM (Exponential Random Graph Model)</a:t>
            </a:r>
            <a:endParaRPr b="1" sz="2400">
              <a:solidFill>
                <a:schemeClr val="dk1"/>
              </a:solidFill>
              <a:latin typeface="Calibri"/>
              <a:ea typeface="Calibri"/>
              <a:cs typeface="Calibri"/>
              <a:sym typeface="Calibri"/>
            </a:endParaRPr>
          </a:p>
        </p:txBody>
      </p:sp>
      <p:pic>
        <p:nvPicPr>
          <p:cNvPr descr="A black circle with red dotsDescription automatically generated" id="222" name="Google Shape;222;p9"/>
          <p:cNvPicPr preferRelativeResize="0"/>
          <p:nvPr/>
        </p:nvPicPr>
        <p:blipFill rotWithShape="1">
          <a:blip r:embed="rId5">
            <a:alphaModFix/>
          </a:blip>
          <a:srcRect b="0" l="0" r="0" t="0"/>
          <a:stretch/>
        </p:blipFill>
        <p:spPr>
          <a:xfrm>
            <a:off x="8484742" y="1045978"/>
            <a:ext cx="4061128" cy="2542131"/>
          </a:xfrm>
          <a:prstGeom prst="rect">
            <a:avLst/>
          </a:prstGeom>
          <a:noFill/>
          <a:ln>
            <a:noFill/>
          </a:ln>
          <a:effectLst>
            <a:outerShdw blurRad="292100" rotWithShape="0" algn="tl" dir="2700000" dist="139700">
              <a:srgbClr val="333333">
                <a:alpha val="64705"/>
              </a:srgbClr>
            </a:outerShdw>
          </a:effectLst>
        </p:spPr>
      </p:pic>
      <p:sp>
        <p:nvSpPr>
          <p:cNvPr id="223" name="Google Shape;223;p9"/>
          <p:cNvSpPr txBox="1"/>
          <p:nvPr/>
        </p:nvSpPr>
        <p:spPr>
          <a:xfrm>
            <a:off x="890954" y="1931817"/>
            <a:ext cx="322414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w-IL" sz="2400">
                <a:solidFill>
                  <a:schemeClr val="dk1"/>
                </a:solidFill>
                <a:latin typeface="Calibri"/>
                <a:ea typeface="Calibri"/>
                <a:cs typeface="Calibri"/>
                <a:sym typeface="Calibri"/>
              </a:rPr>
              <a:t> Network attributes:</a:t>
            </a:r>
            <a:endParaRPr/>
          </a:p>
          <a:p>
            <a:pPr indent="0" lvl="0" marL="0" marR="0" rtl="0" algn="l">
              <a:spcBef>
                <a:spcPts val="0"/>
              </a:spcBef>
              <a:spcAft>
                <a:spcPts val="0"/>
              </a:spcAft>
              <a:buNone/>
            </a:pPr>
            <a:r>
              <a:rPr lang="iw-IL" sz="2400">
                <a:solidFill>
                  <a:schemeClr val="dk1"/>
                </a:solidFill>
                <a:latin typeface="Calibri"/>
                <a:ea typeface="Calibri"/>
                <a:cs typeface="Calibri"/>
                <a:sym typeface="Calibri"/>
              </a:rPr>
              <a:t>  vertices = 6325</a:t>
            </a:r>
            <a:endParaRPr/>
          </a:p>
          <a:p>
            <a:pPr indent="0" lvl="0" marL="0" marR="0" rtl="0" algn="l">
              <a:spcBef>
                <a:spcPts val="0"/>
              </a:spcBef>
              <a:spcAft>
                <a:spcPts val="0"/>
              </a:spcAft>
              <a:buNone/>
            </a:pPr>
            <a:r>
              <a:rPr lang="iw-IL" sz="2400">
                <a:solidFill>
                  <a:schemeClr val="dk1"/>
                </a:solidFill>
                <a:latin typeface="Calibri"/>
                <a:ea typeface="Calibri"/>
                <a:cs typeface="Calibri"/>
                <a:sym typeface="Calibri"/>
              </a:rPr>
              <a:t> total edges= 15399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27" name="Shape 227"/>
        <p:cNvGrpSpPr/>
        <p:nvPr/>
      </p:nvGrpSpPr>
      <p:grpSpPr>
        <a:xfrm>
          <a:off x="0" y="0"/>
          <a:ext cx="0" cy="0"/>
          <a:chOff x="0" y="0"/>
          <a:chExt cx="0" cy="0"/>
        </a:xfrm>
      </p:grpSpPr>
      <p:sp>
        <p:nvSpPr>
          <p:cNvPr id="228" name="Google Shape;228;p10"/>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29" name="Google Shape;229;p10"/>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30" name="Google Shape;230;p10"/>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31" name="Google Shape;231;p10"/>
          <p:cNvSpPr/>
          <p:nvPr/>
        </p:nvSpPr>
        <p:spPr>
          <a:xfrm>
            <a:off x="4405657" y="-30048"/>
            <a:ext cx="5270995"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ממצאי המחקר</a:t>
            </a:r>
            <a:endParaRPr/>
          </a:p>
        </p:txBody>
      </p:sp>
      <p:sp>
        <p:nvSpPr>
          <p:cNvPr id="232" name="Google Shape;232;p10"/>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233" name="Google Shape;233;p10"/>
          <p:cNvPicPr preferRelativeResize="0"/>
          <p:nvPr/>
        </p:nvPicPr>
        <p:blipFill rotWithShape="1">
          <a:blip r:embed="rId5">
            <a:alphaModFix/>
          </a:blip>
          <a:srcRect b="0" l="0" r="0" t="0"/>
          <a:stretch/>
        </p:blipFill>
        <p:spPr>
          <a:xfrm>
            <a:off x="10832250" y="1713858"/>
            <a:ext cx="3528520" cy="5721369"/>
          </a:xfrm>
          <a:prstGeom prst="rect">
            <a:avLst/>
          </a:prstGeom>
          <a:noFill/>
          <a:ln cap="flat" cmpd="sng" w="9525">
            <a:solidFill>
              <a:schemeClr val="accent1"/>
            </a:solidFill>
            <a:prstDash val="solid"/>
            <a:round/>
            <a:headEnd len="sm" w="sm" type="none"/>
            <a:tailEnd len="sm" w="sm" type="none"/>
          </a:ln>
        </p:spPr>
      </p:pic>
      <p:pic>
        <p:nvPicPr>
          <p:cNvPr id="234" name="Google Shape;234;p10"/>
          <p:cNvPicPr preferRelativeResize="0"/>
          <p:nvPr/>
        </p:nvPicPr>
        <p:blipFill rotWithShape="1">
          <a:blip r:embed="rId6">
            <a:alphaModFix/>
          </a:blip>
          <a:srcRect b="0" l="0" r="0" t="3418"/>
          <a:stretch/>
        </p:blipFill>
        <p:spPr>
          <a:xfrm>
            <a:off x="6189660" y="1540783"/>
            <a:ext cx="3950746" cy="2691248"/>
          </a:xfrm>
          <a:prstGeom prst="rect">
            <a:avLst/>
          </a:prstGeom>
          <a:noFill/>
          <a:ln cap="flat" cmpd="sng" w="9525">
            <a:solidFill>
              <a:schemeClr val="accent1"/>
            </a:solidFill>
            <a:prstDash val="solid"/>
            <a:round/>
            <a:headEnd len="sm" w="sm" type="none"/>
            <a:tailEnd len="sm" w="sm" type="none"/>
          </a:ln>
        </p:spPr>
      </p:pic>
      <p:pic>
        <p:nvPicPr>
          <p:cNvPr id="235" name="Google Shape;235;p10"/>
          <p:cNvPicPr preferRelativeResize="0"/>
          <p:nvPr/>
        </p:nvPicPr>
        <p:blipFill rotWithShape="1">
          <a:blip r:embed="rId7">
            <a:alphaModFix/>
          </a:blip>
          <a:srcRect b="0" l="0" r="0" t="3153"/>
          <a:stretch/>
        </p:blipFill>
        <p:spPr>
          <a:xfrm>
            <a:off x="6037386" y="4517949"/>
            <a:ext cx="4126864" cy="2996543"/>
          </a:xfrm>
          <a:prstGeom prst="rect">
            <a:avLst/>
          </a:prstGeom>
          <a:noFill/>
          <a:ln cap="flat" cmpd="sng" w="9525">
            <a:solidFill>
              <a:schemeClr val="accent1"/>
            </a:solidFill>
            <a:prstDash val="solid"/>
            <a:round/>
            <a:headEnd len="sm" w="sm" type="none"/>
            <a:tailEnd len="sm" w="sm" type="none"/>
          </a:ln>
        </p:spPr>
      </p:pic>
      <p:pic>
        <p:nvPicPr>
          <p:cNvPr descr="A map with a location&#10;&#10;Description automatically generated" id="236" name="Google Shape;236;p10"/>
          <p:cNvPicPr preferRelativeResize="0"/>
          <p:nvPr/>
        </p:nvPicPr>
        <p:blipFill rotWithShape="1">
          <a:blip r:embed="rId8">
            <a:alphaModFix/>
          </a:blip>
          <a:srcRect b="0" l="0" r="0" t="2500"/>
          <a:stretch/>
        </p:blipFill>
        <p:spPr>
          <a:xfrm>
            <a:off x="643531" y="1456199"/>
            <a:ext cx="4036175" cy="2775832"/>
          </a:xfrm>
          <a:prstGeom prst="rect">
            <a:avLst/>
          </a:prstGeom>
          <a:noFill/>
          <a:ln cap="flat" cmpd="sng" w="9525">
            <a:solidFill>
              <a:schemeClr val="accent1"/>
            </a:solidFill>
            <a:prstDash val="solid"/>
            <a:round/>
            <a:headEnd len="sm" w="sm" type="none"/>
            <a:tailEnd len="sm" w="sm" type="none"/>
          </a:ln>
        </p:spPr>
      </p:pic>
      <p:pic>
        <p:nvPicPr>
          <p:cNvPr id="237" name="Google Shape;237;p10"/>
          <p:cNvPicPr preferRelativeResize="0"/>
          <p:nvPr/>
        </p:nvPicPr>
        <p:blipFill rotWithShape="1">
          <a:blip r:embed="rId9">
            <a:alphaModFix/>
          </a:blip>
          <a:srcRect b="0" l="0" r="0" t="2990"/>
          <a:stretch/>
        </p:blipFill>
        <p:spPr>
          <a:xfrm>
            <a:off x="643530" y="4558746"/>
            <a:ext cx="4036175" cy="2947664"/>
          </a:xfrm>
          <a:prstGeom prst="rect">
            <a:avLst/>
          </a:prstGeom>
          <a:noFill/>
          <a:ln cap="flat" cmpd="sng" w="9525">
            <a:solidFill>
              <a:schemeClr val="accent1"/>
            </a:solidFill>
            <a:prstDash val="solid"/>
            <a:round/>
            <a:headEnd len="sm" w="sm" type="none"/>
            <a:tailEnd len="sm" w="sm" type="none"/>
          </a:ln>
        </p:spPr>
      </p:pic>
      <p:sp>
        <p:nvSpPr>
          <p:cNvPr id="238" name="Google Shape;238;p10"/>
          <p:cNvSpPr txBox="1"/>
          <p:nvPr/>
        </p:nvSpPr>
        <p:spPr>
          <a:xfrm>
            <a:off x="9465384" y="1048340"/>
            <a:ext cx="4895386" cy="984885"/>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lang="iw-IL" sz="2000">
                <a:solidFill>
                  <a:schemeClr val="dk1"/>
                </a:solidFill>
                <a:latin typeface="Arial"/>
                <a:ea typeface="Arial"/>
                <a:cs typeface="Arial"/>
                <a:sym typeface="Arial"/>
              </a:rPr>
              <a:t>במפת הקשתות בהן היו מעל 20 תלונות </a:t>
            </a:r>
            <a:endParaRPr/>
          </a:p>
          <a:p>
            <a:pPr indent="0" lvl="0" marL="0" marR="0" rtl="1" algn="r">
              <a:spcBef>
                <a:spcPts val="0"/>
              </a:spcBef>
              <a:spcAft>
                <a:spcPts val="0"/>
              </a:spcAft>
              <a:buNone/>
            </a:pPr>
            <a:r>
              <a:rPr b="1" lang="iw-IL" sz="2000">
                <a:solidFill>
                  <a:schemeClr val="dk1"/>
                </a:solidFill>
                <a:latin typeface="Arial"/>
                <a:ea typeface="Arial"/>
                <a:cs typeface="Arial"/>
                <a:sym typeface="Arial"/>
              </a:rPr>
              <a:t>(סה"כ 112 קשתות ברשת)</a:t>
            </a:r>
            <a:endParaRPr b="1" sz="2000">
              <a:solidFill>
                <a:schemeClr val="dk1"/>
              </a:solidFill>
              <a:latin typeface="Arial"/>
              <a:ea typeface="Arial"/>
              <a:cs typeface="Arial"/>
              <a:sym typeface="Arial"/>
            </a:endParaRPr>
          </a:p>
          <a:p>
            <a:pPr indent="0" lvl="0" marL="0" marR="0" rtl="1" algn="r">
              <a:spcBef>
                <a:spcPts val="0"/>
              </a:spcBef>
              <a:spcAft>
                <a:spcPts val="0"/>
              </a:spcAft>
              <a:buNone/>
            </a:pPr>
            <a:r>
              <a:t/>
            </a:r>
            <a:endParaRPr b="1" sz="1800">
              <a:solidFill>
                <a:schemeClr val="dk1"/>
              </a:solidFill>
              <a:latin typeface="Calibri"/>
              <a:ea typeface="Calibri"/>
              <a:cs typeface="Calibri"/>
              <a:sym typeface="Calibri"/>
            </a:endParaRPr>
          </a:p>
        </p:txBody>
      </p:sp>
      <p:sp>
        <p:nvSpPr>
          <p:cNvPr id="239" name="Google Shape;239;p10"/>
          <p:cNvSpPr txBox="1"/>
          <p:nvPr/>
        </p:nvSpPr>
        <p:spPr>
          <a:xfrm>
            <a:off x="6746350" y="1140675"/>
            <a:ext cx="2617800" cy="400200"/>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lang="iw-IL" sz="2000">
                <a:solidFill>
                  <a:schemeClr val="dk1"/>
                </a:solidFill>
                <a:latin typeface="Arial"/>
                <a:ea typeface="Arial"/>
                <a:cs typeface="Arial"/>
                <a:sym typeface="Arial"/>
              </a:rPr>
              <a:t>ביתר עילית ובית שמש</a:t>
            </a:r>
            <a:endParaRPr/>
          </a:p>
        </p:txBody>
      </p:sp>
      <p:sp>
        <p:nvSpPr>
          <p:cNvPr id="240" name="Google Shape;240;p10"/>
          <p:cNvSpPr txBox="1"/>
          <p:nvPr/>
        </p:nvSpPr>
        <p:spPr>
          <a:xfrm>
            <a:off x="1853371" y="992055"/>
            <a:ext cx="1918010" cy="461665"/>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lang="iw-IL" sz="2400">
                <a:solidFill>
                  <a:schemeClr val="dk1"/>
                </a:solidFill>
                <a:latin typeface="Arial"/>
                <a:ea typeface="Arial"/>
                <a:cs typeface="Arial"/>
                <a:sym typeface="Arial"/>
              </a:rPr>
              <a:t>מודיעין</a:t>
            </a:r>
            <a:r>
              <a:rPr b="1" lang="iw-IL" sz="2000">
                <a:solidFill>
                  <a:schemeClr val="dk1"/>
                </a:solidFill>
                <a:latin typeface="Calibri"/>
                <a:ea typeface="Calibri"/>
                <a:cs typeface="Calibri"/>
                <a:sym typeface="Calibri"/>
              </a:rPr>
              <a:t> </a:t>
            </a:r>
            <a:r>
              <a:rPr b="1" lang="iw-IL" sz="2400">
                <a:solidFill>
                  <a:schemeClr val="dk1"/>
                </a:solidFill>
                <a:latin typeface="Arial"/>
                <a:ea typeface="Arial"/>
                <a:cs typeface="Arial"/>
                <a:sym typeface="Arial"/>
              </a:rPr>
              <a:t>עילית</a:t>
            </a:r>
            <a:endParaRPr/>
          </a:p>
        </p:txBody>
      </p:sp>
      <p:sp>
        <p:nvSpPr>
          <p:cNvPr id="241" name="Google Shape;241;p10"/>
          <p:cNvSpPr txBox="1"/>
          <p:nvPr/>
        </p:nvSpPr>
        <p:spPr>
          <a:xfrm>
            <a:off x="6495177" y="4134050"/>
            <a:ext cx="3062400" cy="400200"/>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lang="iw-IL" sz="2000">
                <a:solidFill>
                  <a:srgbClr val="504C49"/>
                </a:solidFill>
                <a:latin typeface="Arial"/>
                <a:ea typeface="Arial"/>
                <a:cs typeface="Arial"/>
                <a:sym typeface="Arial"/>
              </a:rPr>
              <a:t>שכונת קריית צאנז בנתניה</a:t>
            </a:r>
            <a:endParaRPr/>
          </a:p>
        </p:txBody>
      </p:sp>
      <p:sp>
        <p:nvSpPr>
          <p:cNvPr id="242" name="Google Shape;242;p10"/>
          <p:cNvSpPr txBox="1"/>
          <p:nvPr/>
        </p:nvSpPr>
        <p:spPr>
          <a:xfrm>
            <a:off x="1904474" y="4146373"/>
            <a:ext cx="1302167" cy="461665"/>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lang="iw-IL" sz="2400">
                <a:solidFill>
                  <a:schemeClr val="dk1"/>
                </a:solidFill>
                <a:latin typeface="Arial"/>
                <a:ea typeface="Arial"/>
                <a:cs typeface="Arial"/>
                <a:sym typeface="Arial"/>
              </a:rPr>
              <a:t>בני</a:t>
            </a:r>
            <a:r>
              <a:rPr b="1" lang="iw-IL" sz="2000">
                <a:solidFill>
                  <a:schemeClr val="dk1"/>
                </a:solidFill>
                <a:latin typeface="Calibri"/>
                <a:ea typeface="Calibri"/>
                <a:cs typeface="Calibri"/>
                <a:sym typeface="Calibri"/>
              </a:rPr>
              <a:t> </a:t>
            </a:r>
            <a:r>
              <a:rPr b="1" lang="iw-IL" sz="2400">
                <a:solidFill>
                  <a:schemeClr val="dk1"/>
                </a:solidFill>
                <a:latin typeface="Arial"/>
                <a:ea typeface="Arial"/>
                <a:cs typeface="Arial"/>
                <a:sym typeface="Arial"/>
              </a:rPr>
              <a:t>ברק</a:t>
            </a:r>
            <a:endParaRPr/>
          </a:p>
        </p:txBody>
      </p:sp>
      <p:sp>
        <p:nvSpPr>
          <p:cNvPr id="243" name="Google Shape;243;p10"/>
          <p:cNvSpPr/>
          <p:nvPr/>
        </p:nvSpPr>
        <p:spPr>
          <a:xfrm>
            <a:off x="52421" y="7644825"/>
            <a:ext cx="3930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9</a:t>
            </a:r>
            <a:endParaRPr b="0" sz="5400"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47" name="Shape 247"/>
        <p:cNvGrpSpPr/>
        <p:nvPr/>
      </p:nvGrpSpPr>
      <p:grpSpPr>
        <a:xfrm>
          <a:off x="0" y="0"/>
          <a:ext cx="0" cy="0"/>
          <a:chOff x="0" y="0"/>
          <a:chExt cx="0" cy="0"/>
        </a:xfrm>
      </p:grpSpPr>
      <p:sp>
        <p:nvSpPr>
          <p:cNvPr id="248" name="Google Shape;248;p11"/>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49" name="Google Shape;249;p11"/>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50" name="Google Shape;250;p11"/>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51" name="Google Shape;251;p11"/>
          <p:cNvSpPr/>
          <p:nvPr/>
        </p:nvSpPr>
        <p:spPr>
          <a:xfrm>
            <a:off x="5146359" y="9696"/>
            <a:ext cx="4094390"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סקר ספרות</a:t>
            </a:r>
            <a:endParaRPr/>
          </a:p>
        </p:txBody>
      </p:sp>
      <p:sp>
        <p:nvSpPr>
          <p:cNvPr id="252" name="Google Shape;252;p11"/>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1"/>
          <p:cNvSpPr txBox="1"/>
          <p:nvPr/>
        </p:nvSpPr>
        <p:spPr>
          <a:xfrm>
            <a:off x="1336822" y="1473858"/>
            <a:ext cx="1237724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iw-IL" sz="2400">
                <a:solidFill>
                  <a:srgbClr val="504C49"/>
                </a:solidFill>
                <a:latin typeface="Arial"/>
                <a:ea typeface="Arial"/>
                <a:cs typeface="Arial"/>
                <a:sym typeface="Arial"/>
              </a:rPr>
              <a:t>Predicting disruptions and their passenger delay impacts for public transport stops</a:t>
            </a:r>
            <a:endParaRPr b="1" sz="2400">
              <a:solidFill>
                <a:schemeClr val="dk1"/>
              </a:solidFill>
              <a:latin typeface="Calibri"/>
              <a:ea typeface="Calibri"/>
              <a:cs typeface="Calibri"/>
              <a:sym typeface="Calibri"/>
            </a:endParaRPr>
          </a:p>
        </p:txBody>
      </p:sp>
      <p:sp>
        <p:nvSpPr>
          <p:cNvPr id="254" name="Google Shape;254;p11"/>
          <p:cNvSpPr/>
          <p:nvPr/>
        </p:nvSpPr>
        <p:spPr>
          <a:xfrm>
            <a:off x="-51774" y="7713064"/>
            <a:ext cx="6014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10</a:t>
            </a:r>
            <a:endParaRPr b="0" sz="5400" cap="none">
              <a:solidFill>
                <a:schemeClr val="dk1"/>
              </a:solidFill>
              <a:latin typeface="Calibri"/>
              <a:ea typeface="Calibri"/>
              <a:cs typeface="Calibri"/>
              <a:sym typeface="Calibri"/>
            </a:endParaRPr>
          </a:p>
        </p:txBody>
      </p:sp>
      <p:sp>
        <p:nvSpPr>
          <p:cNvPr id="255" name="Google Shape;255;p11"/>
          <p:cNvSpPr/>
          <p:nvPr/>
        </p:nvSpPr>
        <p:spPr>
          <a:xfrm>
            <a:off x="1402041" y="2246724"/>
            <a:ext cx="12246808" cy="1868075"/>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None/>
            </a:pPr>
            <a:r>
              <a:rPr lang="iw-IL" sz="2400">
                <a:solidFill>
                  <a:schemeClr val="dk1"/>
                </a:solidFill>
                <a:latin typeface="Arial"/>
                <a:ea typeface="Arial"/>
                <a:cs typeface="Arial"/>
                <a:sym typeface="Arial"/>
              </a:rPr>
              <a:t>החוקרים במחקר פיתחו שיטה גנרית לחיזוי גורמים והשפעתם על עיכובי נוסעים בתחנות מטרו בעיר בוושינגטון, תוך התחשבות במאפיינים הייחודיים של כל תחנה. המטרה היא להעריך את תדירות האירועים החריגים והשפעתם על עיכובי הנוסעים, באמצעות שימוש במודלים של למידת מכונה.</a:t>
            </a:r>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
        <p:nvSpPr>
          <p:cNvPr id="256" name="Google Shape;256;p11"/>
          <p:cNvSpPr/>
          <p:nvPr/>
        </p:nvSpPr>
        <p:spPr>
          <a:xfrm>
            <a:off x="1402041" y="4419374"/>
            <a:ext cx="12377245" cy="2536531"/>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None/>
            </a:pPr>
            <a:r>
              <a:rPr lang="iw-IL" sz="2400">
                <a:solidFill>
                  <a:schemeClr val="dk1"/>
                </a:solidFill>
                <a:latin typeface="Arial"/>
                <a:ea typeface="Arial"/>
                <a:cs typeface="Arial"/>
                <a:sym typeface="Arial"/>
              </a:rPr>
              <a:t>במסגרת המחקר בוצעה חלוקה של תחנות לאשכולות באמצעות שיטה של למידת מכונה, תוך סיווג תחנות לפי תרומתן ברשת התחבורה ציבורית הכללית בעיר. המאמר מתמקד בתחנות מטרו בוושינגטון ומבוסס על נתונים היסטוריים של תלונות נוסעים. המודלים נבחנו בעזרת נתוני אמת ואומתו באמצעות מדדים כגון דיוק בהגעת רכבות לתחנה בהשוואה לתוצאות החיזוי.</a:t>
            </a:r>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60" name="Shape 260"/>
        <p:cNvGrpSpPr/>
        <p:nvPr/>
      </p:nvGrpSpPr>
      <p:grpSpPr>
        <a:xfrm>
          <a:off x="0" y="0"/>
          <a:ext cx="0" cy="0"/>
          <a:chOff x="0" y="0"/>
          <a:chExt cx="0" cy="0"/>
        </a:xfrm>
      </p:grpSpPr>
      <p:sp>
        <p:nvSpPr>
          <p:cNvPr id="261" name="Google Shape;261;p12"/>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62" name="Google Shape;262;p12"/>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63" name="Google Shape;263;p12"/>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64" name="Google Shape;264;p12"/>
          <p:cNvSpPr/>
          <p:nvPr/>
        </p:nvSpPr>
        <p:spPr>
          <a:xfrm>
            <a:off x="5146359" y="9696"/>
            <a:ext cx="4094390"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סקר ספרות</a:t>
            </a:r>
            <a:endParaRPr/>
          </a:p>
        </p:txBody>
      </p:sp>
      <p:sp>
        <p:nvSpPr>
          <p:cNvPr id="265" name="Google Shape;265;p12"/>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266" name="Google Shape;266;p12"/>
          <p:cNvPicPr preferRelativeResize="0"/>
          <p:nvPr/>
        </p:nvPicPr>
        <p:blipFill rotWithShape="1">
          <a:blip r:embed="rId5">
            <a:alphaModFix/>
          </a:blip>
          <a:srcRect b="1918" l="1114" r="1705" t="1380"/>
          <a:stretch/>
        </p:blipFill>
        <p:spPr>
          <a:xfrm>
            <a:off x="99694" y="1086082"/>
            <a:ext cx="8411260" cy="6322120"/>
          </a:xfrm>
          <a:prstGeom prst="rect">
            <a:avLst/>
          </a:prstGeom>
          <a:noFill/>
          <a:ln>
            <a:noFill/>
          </a:ln>
          <a:effectLst>
            <a:outerShdw blurRad="292100" rotWithShape="0" algn="tl" dir="2700000" dist="139700">
              <a:srgbClr val="333333">
                <a:alpha val="64705"/>
              </a:srgbClr>
            </a:outerShdw>
          </a:effectLst>
        </p:spPr>
      </p:pic>
      <p:sp>
        <p:nvSpPr>
          <p:cNvPr id="267" name="Google Shape;267;p12"/>
          <p:cNvSpPr/>
          <p:nvPr/>
        </p:nvSpPr>
        <p:spPr>
          <a:xfrm>
            <a:off x="-51774" y="7702720"/>
            <a:ext cx="6014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11</a:t>
            </a:r>
            <a:endParaRPr b="0" sz="5400" cap="none">
              <a:solidFill>
                <a:schemeClr val="dk1"/>
              </a:solidFill>
              <a:latin typeface="Calibri"/>
              <a:ea typeface="Calibri"/>
              <a:cs typeface="Calibri"/>
              <a:sym typeface="Calibri"/>
            </a:endParaRPr>
          </a:p>
        </p:txBody>
      </p:sp>
      <p:sp>
        <p:nvSpPr>
          <p:cNvPr id="268" name="Google Shape;268;p12"/>
          <p:cNvSpPr/>
          <p:nvPr/>
        </p:nvSpPr>
        <p:spPr>
          <a:xfrm>
            <a:off x="8748432" y="1047056"/>
            <a:ext cx="5881968" cy="6492341"/>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None/>
            </a:pPr>
            <a:r>
              <a:rPr b="1" lang="iw-IL" sz="2400">
                <a:solidFill>
                  <a:schemeClr val="dk1"/>
                </a:solidFill>
                <a:latin typeface="Arial"/>
                <a:ea typeface="Arial"/>
                <a:cs typeface="Arial"/>
                <a:sym typeface="Arial"/>
              </a:rPr>
              <a:t>ממצאים מרכזיים</a:t>
            </a:r>
            <a:endParaRPr/>
          </a:p>
          <a:p>
            <a:pPr indent="0" lvl="0" marL="0" marR="0" rtl="1" algn="r">
              <a:lnSpc>
                <a:spcPct val="150000"/>
              </a:lnSpc>
              <a:spcBef>
                <a:spcPts val="0"/>
              </a:spcBef>
              <a:spcAft>
                <a:spcPts val="0"/>
              </a:spcAft>
              <a:buNone/>
            </a:pPr>
            <a:r>
              <a:rPr lang="iw-IL" sz="2400">
                <a:solidFill>
                  <a:schemeClr val="dk1"/>
                </a:solidFill>
                <a:latin typeface="Arial"/>
                <a:ea typeface="Arial"/>
                <a:cs typeface="Arial"/>
                <a:sym typeface="Arial"/>
              </a:rPr>
              <a:t>התחנות המרכזיות ברשת נוטות לחוות אירועים חריגים תכופים יותר וכתוצאה מכך תנועת נפחי נוסעים גדולים.</a:t>
            </a:r>
            <a:endParaRPr/>
          </a:p>
          <a:p>
            <a:pPr indent="0" lvl="0" marL="0" marR="0" rtl="1" algn="r">
              <a:lnSpc>
                <a:spcPct val="150000"/>
              </a:lnSpc>
              <a:spcBef>
                <a:spcPts val="0"/>
              </a:spcBef>
              <a:spcAft>
                <a:spcPts val="0"/>
              </a:spcAft>
              <a:buNone/>
            </a:pPr>
            <a:r>
              <a:rPr lang="iw-IL" sz="2400">
                <a:solidFill>
                  <a:schemeClr val="dk1"/>
                </a:solidFill>
                <a:latin typeface="Arial"/>
                <a:ea typeface="Arial"/>
                <a:cs typeface="Arial"/>
                <a:sym typeface="Arial"/>
              </a:rPr>
              <a:t>ב 70% מהתלונות על שירות תחבורה ציבורית היו קשורים לתקלות בדלתות, בעוד שאירועים הנוגעים לתשתית היו נדירים יחסית.</a:t>
            </a:r>
            <a:r>
              <a:rPr lang="iw-IL"/>
              <a:t> </a:t>
            </a:r>
            <a:r>
              <a:rPr lang="iw-IL" sz="2400">
                <a:solidFill>
                  <a:schemeClr val="dk1"/>
                </a:solidFill>
                <a:latin typeface="Arial"/>
                <a:ea typeface="Arial"/>
                <a:cs typeface="Arial"/>
                <a:sym typeface="Arial"/>
              </a:rPr>
              <a:t>עיכובי נוסעים שנתיים עבור רשת המטרו בוושינגטון הוערכו ב-5.9 מיליון שעות. תחנות בקצות הקווים או באזורים מרכזיים הראו פגיעות רבה יותר בהשוואה לתחנות בעומס נמוך.</a:t>
            </a:r>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72" name="Shape 272"/>
        <p:cNvGrpSpPr/>
        <p:nvPr/>
      </p:nvGrpSpPr>
      <p:grpSpPr>
        <a:xfrm>
          <a:off x="0" y="0"/>
          <a:ext cx="0" cy="0"/>
          <a:chOff x="0" y="0"/>
          <a:chExt cx="0" cy="0"/>
        </a:xfrm>
      </p:grpSpPr>
      <p:sp>
        <p:nvSpPr>
          <p:cNvPr id="273" name="Google Shape;273;p13"/>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74" name="Google Shape;274;p13"/>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75" name="Google Shape;275;p13"/>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76" name="Google Shape;276;p13"/>
          <p:cNvSpPr/>
          <p:nvPr/>
        </p:nvSpPr>
        <p:spPr>
          <a:xfrm>
            <a:off x="5169805" y="-30048"/>
            <a:ext cx="4094390"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סקר ספרות</a:t>
            </a:r>
            <a:endParaRPr/>
          </a:p>
        </p:txBody>
      </p:sp>
      <p:sp>
        <p:nvSpPr>
          <p:cNvPr id="277" name="Google Shape;277;p13"/>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3"/>
          <p:cNvSpPr txBox="1"/>
          <p:nvPr>
            <p:ph type="ctrTitle"/>
          </p:nvPr>
        </p:nvSpPr>
        <p:spPr>
          <a:xfrm>
            <a:off x="258564" y="2458188"/>
            <a:ext cx="14395937" cy="1031160"/>
          </a:xfrm>
          <a:prstGeom prst="rect">
            <a:avLst/>
          </a:prstGeom>
          <a:noFill/>
          <a:ln>
            <a:noFill/>
          </a:ln>
        </p:spPr>
        <p:txBody>
          <a:bodyPr anchorCtr="0" anchor="b" bIns="45700" lIns="91425" spcFirstLastPara="1" rIns="91425" wrap="square" tIns="45700">
            <a:noAutofit/>
          </a:bodyPr>
          <a:lstStyle/>
          <a:p>
            <a:pPr indent="0" lvl="0" marL="0" rtl="0" algn="ctr">
              <a:lnSpc>
                <a:spcPct val="198214"/>
              </a:lnSpc>
              <a:spcBef>
                <a:spcPts val="0"/>
              </a:spcBef>
              <a:spcAft>
                <a:spcPts val="0"/>
              </a:spcAft>
              <a:buClr>
                <a:srgbClr val="504C49"/>
              </a:buClr>
              <a:buSzPts val="2800"/>
              <a:buFont typeface="Arial"/>
              <a:buNone/>
            </a:pPr>
            <a:br>
              <a:rPr b="1" lang="iw-IL" sz="2800">
                <a:solidFill>
                  <a:srgbClr val="504C49"/>
                </a:solidFill>
                <a:latin typeface="Arial"/>
                <a:ea typeface="Arial"/>
                <a:cs typeface="Arial"/>
                <a:sym typeface="Arial"/>
              </a:rPr>
            </a:br>
            <a:r>
              <a:rPr b="1" lang="iw-IL" sz="2800">
                <a:solidFill>
                  <a:srgbClr val="504C49"/>
                </a:solidFill>
                <a:latin typeface="Arial"/>
                <a:ea typeface="Arial"/>
                <a:cs typeface="Arial"/>
                <a:sym typeface="Arial"/>
              </a:rPr>
              <a:t>Data science and GIS-based system analysis of transit passenger </a:t>
            </a:r>
            <a:br>
              <a:rPr b="1" lang="iw-IL" sz="2800">
                <a:solidFill>
                  <a:srgbClr val="504C49"/>
                </a:solidFill>
                <a:latin typeface="Arial"/>
                <a:ea typeface="Arial"/>
                <a:cs typeface="Arial"/>
                <a:sym typeface="Arial"/>
              </a:rPr>
            </a:br>
            <a:r>
              <a:rPr b="1" lang="iw-IL" sz="2800">
                <a:solidFill>
                  <a:srgbClr val="504C49"/>
                </a:solidFill>
                <a:latin typeface="Arial"/>
                <a:ea typeface="Arial"/>
                <a:cs typeface="Arial"/>
                <a:sym typeface="Arial"/>
              </a:rPr>
              <a:t>complaints to improve operations and planning</a:t>
            </a:r>
            <a:br>
              <a:rPr b="1" lang="iw-IL" sz="2800">
                <a:solidFill>
                  <a:srgbClr val="504C49"/>
                </a:solidFill>
                <a:latin typeface="Arial"/>
                <a:ea typeface="Arial"/>
                <a:cs typeface="Arial"/>
                <a:sym typeface="Arial"/>
              </a:rPr>
            </a:br>
            <a:endParaRPr b="1" sz="2800"/>
          </a:p>
        </p:txBody>
      </p:sp>
      <p:sp>
        <p:nvSpPr>
          <p:cNvPr id="279" name="Google Shape;279;p13"/>
          <p:cNvSpPr/>
          <p:nvPr/>
        </p:nvSpPr>
        <p:spPr>
          <a:xfrm>
            <a:off x="-51774" y="7702720"/>
            <a:ext cx="6014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12</a:t>
            </a:r>
            <a:endParaRPr b="0" sz="5400" cap="none">
              <a:solidFill>
                <a:schemeClr val="dk1"/>
              </a:solidFill>
              <a:latin typeface="Calibri"/>
              <a:ea typeface="Calibri"/>
              <a:cs typeface="Calibri"/>
              <a:sym typeface="Calibri"/>
            </a:endParaRPr>
          </a:p>
        </p:txBody>
      </p:sp>
      <p:sp>
        <p:nvSpPr>
          <p:cNvPr id="280" name="Google Shape;280;p13"/>
          <p:cNvSpPr/>
          <p:nvPr/>
        </p:nvSpPr>
        <p:spPr>
          <a:xfrm>
            <a:off x="651421" y="3474315"/>
            <a:ext cx="13131158" cy="3165058"/>
          </a:xfrm>
          <a:prstGeom prst="roundRect">
            <a:avLst>
              <a:gd fmla="val 16667" name="adj"/>
            </a:avLst>
          </a:prstGeom>
          <a:gradFill>
            <a:gsLst>
              <a:gs pos="0">
                <a:srgbClr val="D8E2F3"/>
              </a:gs>
              <a:gs pos="100000">
                <a:srgbClr val="D8E2F3"/>
              </a:gs>
            </a:gsLst>
            <a:path path="circle">
              <a:fillToRect b="50%" l="50%" r="50%" t="50%"/>
            </a:path>
            <a:tileRect/>
          </a:grad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None/>
            </a:pPr>
            <a:r>
              <a:rPr lang="iw-IL" sz="2800">
                <a:solidFill>
                  <a:schemeClr val="dk1"/>
                </a:solidFill>
                <a:latin typeface="Arial"/>
                <a:ea typeface="Arial"/>
                <a:cs typeface="Arial"/>
                <a:sym typeface="Arial"/>
              </a:rPr>
              <a:t>החוקרים במאמר עשו שימוש בשיטות ניתוח נתוני פניות ותלונות ציבור באמצעות מיפוי והדמיית נתונים לזיהוי מגמות ברמת שירות בתח"צ ללקוחות לשיפור יכולות הליכי קבלת החלטות בניהול תחבורה. </a:t>
            </a:r>
            <a:endParaRPr/>
          </a:p>
          <a:p>
            <a:pPr indent="0" lvl="0" marL="0" marR="0" rtl="1" algn="r">
              <a:lnSpc>
                <a:spcPct val="150000"/>
              </a:lnSpc>
              <a:spcBef>
                <a:spcPts val="0"/>
              </a:spcBef>
              <a:spcAft>
                <a:spcPts val="0"/>
              </a:spcAft>
              <a:buNone/>
            </a:pPr>
            <a:r>
              <a:rPr lang="iw-IL" sz="2800">
                <a:solidFill>
                  <a:schemeClr val="dk1"/>
                </a:solidFill>
                <a:latin typeface="Arial"/>
                <a:ea typeface="Arial"/>
                <a:cs typeface="Arial"/>
                <a:sym typeface="Arial"/>
              </a:rPr>
              <a:t>שאלת המחקר - כיצד ניתוח המבוסס מערכת מידע גיאוגרפית ומודלים אקונומטריים יכול לשפר את ההבנה המערכתית של תלונות הנוסעים על רמת שירות בתחבורה ציבורית? </a:t>
            </a:r>
            <a:endParaRPr/>
          </a:p>
          <a:p>
            <a:pPr indent="0" lvl="0" marL="0" marR="0" rtl="0" algn="ctr">
              <a:lnSpc>
                <a:spcPct val="150000"/>
              </a:lnSpc>
              <a:spcBef>
                <a:spcPts val="0"/>
              </a:spcBef>
              <a:spcAft>
                <a:spcPts val="0"/>
              </a:spcAft>
              <a:buClr>
                <a:schemeClr val="dk1"/>
              </a:buClr>
              <a:buSzPts val="1800"/>
              <a:buFont typeface="Calibri"/>
              <a:buNone/>
            </a:pPr>
            <a:r>
              <a:t/>
            </a:r>
            <a:endParaRPr b="0" i="0" sz="1800" u="none" cap="none" strike="noStrike">
              <a:solidFill>
                <a:srgbClr val="000000"/>
              </a:solidFill>
              <a:latin typeface="David"/>
              <a:ea typeface="David"/>
              <a:cs typeface="David"/>
              <a:sym typeface="Davi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84" name="Shape 284"/>
        <p:cNvGrpSpPr/>
        <p:nvPr/>
      </p:nvGrpSpPr>
      <p:grpSpPr>
        <a:xfrm>
          <a:off x="0" y="0"/>
          <a:ext cx="0" cy="0"/>
          <a:chOff x="0" y="0"/>
          <a:chExt cx="0" cy="0"/>
        </a:xfrm>
      </p:grpSpPr>
      <p:sp>
        <p:nvSpPr>
          <p:cNvPr id="285" name="Google Shape;285;p14"/>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86" name="Google Shape;286;p14"/>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87" name="Google Shape;287;p14"/>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288" name="Google Shape;288;p14"/>
          <p:cNvSpPr/>
          <p:nvPr/>
        </p:nvSpPr>
        <p:spPr>
          <a:xfrm>
            <a:off x="5169805" y="-30048"/>
            <a:ext cx="4094390"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סקר ספרות</a:t>
            </a:r>
            <a:endParaRPr/>
          </a:p>
        </p:txBody>
      </p:sp>
      <p:sp>
        <p:nvSpPr>
          <p:cNvPr id="289" name="Google Shape;289;p14"/>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4"/>
          <p:cNvSpPr/>
          <p:nvPr/>
        </p:nvSpPr>
        <p:spPr>
          <a:xfrm>
            <a:off x="-51774" y="7702720"/>
            <a:ext cx="6014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13</a:t>
            </a:r>
            <a:endParaRPr b="0" sz="5400" cap="none">
              <a:solidFill>
                <a:schemeClr val="dk1"/>
              </a:solidFill>
              <a:latin typeface="Calibri"/>
              <a:ea typeface="Calibri"/>
              <a:cs typeface="Calibri"/>
              <a:sym typeface="Calibri"/>
            </a:endParaRPr>
          </a:p>
        </p:txBody>
      </p:sp>
      <p:pic>
        <p:nvPicPr>
          <p:cNvPr id="291" name="Google Shape;291;p14"/>
          <p:cNvPicPr preferRelativeResize="0"/>
          <p:nvPr/>
        </p:nvPicPr>
        <p:blipFill rotWithShape="1">
          <a:blip r:embed="rId5">
            <a:alphaModFix/>
          </a:blip>
          <a:srcRect b="16096" l="0" r="1396" t="1788"/>
          <a:stretch/>
        </p:blipFill>
        <p:spPr>
          <a:xfrm>
            <a:off x="99694" y="3555583"/>
            <a:ext cx="14290074" cy="3958909"/>
          </a:xfrm>
          <a:prstGeom prst="rect">
            <a:avLst/>
          </a:prstGeom>
          <a:noFill/>
          <a:ln>
            <a:noFill/>
          </a:ln>
          <a:effectLst>
            <a:outerShdw blurRad="292100" rotWithShape="0" algn="tl" dir="2700000" dist="139700">
              <a:srgbClr val="333333">
                <a:alpha val="64705"/>
              </a:srgbClr>
            </a:outerShdw>
          </a:effectLst>
        </p:spPr>
      </p:pic>
      <p:sp>
        <p:nvSpPr>
          <p:cNvPr id="292" name="Google Shape;292;p14"/>
          <p:cNvSpPr txBox="1"/>
          <p:nvPr/>
        </p:nvSpPr>
        <p:spPr>
          <a:xfrm>
            <a:off x="0" y="746175"/>
            <a:ext cx="13943882" cy="2899320"/>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None/>
            </a:pPr>
            <a:r>
              <a:rPr b="1" lang="iw-IL" sz="2400">
                <a:solidFill>
                  <a:schemeClr val="dk1"/>
                </a:solidFill>
                <a:latin typeface="Arial"/>
                <a:ea typeface="Arial"/>
                <a:cs typeface="Arial"/>
                <a:sym typeface="Arial"/>
              </a:rPr>
              <a:t>מתודולוגיה</a:t>
            </a:r>
            <a:r>
              <a:rPr lang="iw-IL" sz="2400">
                <a:solidFill>
                  <a:schemeClr val="dk1"/>
                </a:solidFill>
                <a:latin typeface="Arial"/>
                <a:ea typeface="Arial"/>
                <a:cs typeface="Arial"/>
                <a:sym typeface="Arial"/>
              </a:rPr>
              <a:t>:</a:t>
            </a:r>
            <a:endParaRPr/>
          </a:p>
          <a:p>
            <a:pPr indent="-514350" lvl="0" marL="514350" marR="0" rtl="1" algn="r">
              <a:lnSpc>
                <a:spcPct val="150000"/>
              </a:lnSpc>
              <a:spcBef>
                <a:spcPts val="0"/>
              </a:spcBef>
              <a:spcAft>
                <a:spcPts val="0"/>
              </a:spcAft>
              <a:buClr>
                <a:schemeClr val="dk1"/>
              </a:buClr>
              <a:buSzPts val="2000"/>
              <a:buFont typeface="Calibri"/>
              <a:buAutoNum type="arabicPeriod"/>
            </a:pPr>
            <a:r>
              <a:rPr lang="iw-IL" sz="2000">
                <a:solidFill>
                  <a:schemeClr val="dk1"/>
                </a:solidFill>
                <a:latin typeface="Arial"/>
                <a:ea typeface="Arial"/>
                <a:cs typeface="Arial"/>
                <a:sym typeface="Arial"/>
              </a:rPr>
              <a:t>איסוף 730 תלונות ופניות ציבור</a:t>
            </a:r>
            <a:endParaRPr/>
          </a:p>
          <a:p>
            <a:pPr indent="-514350" lvl="0" marL="514350" marR="0" rtl="1" algn="r">
              <a:lnSpc>
                <a:spcPct val="150000"/>
              </a:lnSpc>
              <a:spcBef>
                <a:spcPts val="0"/>
              </a:spcBef>
              <a:spcAft>
                <a:spcPts val="0"/>
              </a:spcAft>
              <a:buClr>
                <a:schemeClr val="dk1"/>
              </a:buClr>
              <a:buSzPts val="2000"/>
              <a:buFont typeface="Calibri"/>
              <a:buAutoNum type="arabicPeriod"/>
            </a:pPr>
            <a:r>
              <a:rPr lang="iw-IL" sz="2000">
                <a:solidFill>
                  <a:schemeClr val="dk1"/>
                </a:solidFill>
                <a:latin typeface="Arial"/>
                <a:ea typeface="Arial"/>
                <a:cs typeface="Arial"/>
                <a:sym typeface="Arial"/>
              </a:rPr>
              <a:t>קידוד התלונות מקבצי טקסט לקצי אקסל ברמת קו ומדד שירות</a:t>
            </a:r>
            <a:endParaRPr/>
          </a:p>
          <a:p>
            <a:pPr indent="-514350" lvl="0" marL="514350" marR="0" rtl="1" algn="r">
              <a:lnSpc>
                <a:spcPct val="150000"/>
              </a:lnSpc>
              <a:spcBef>
                <a:spcPts val="0"/>
              </a:spcBef>
              <a:spcAft>
                <a:spcPts val="0"/>
              </a:spcAft>
              <a:buClr>
                <a:schemeClr val="dk1"/>
              </a:buClr>
              <a:buSzPts val="2000"/>
              <a:buFont typeface="Calibri"/>
              <a:buAutoNum type="arabicPeriod"/>
            </a:pPr>
            <a:r>
              <a:rPr lang="iw-IL" sz="2000">
                <a:solidFill>
                  <a:schemeClr val="dk1"/>
                </a:solidFill>
                <a:latin typeface="Arial"/>
                <a:ea typeface="Arial"/>
                <a:cs typeface="Arial"/>
                <a:sym typeface="Arial"/>
              </a:rPr>
              <a:t>סיכום התלונות לכל קו לפי מדיי שירות, תלונות חוזרות ואיכות שירות כללית בקו.</a:t>
            </a:r>
            <a:endParaRPr/>
          </a:p>
          <a:p>
            <a:pPr indent="-514350" lvl="0" marL="514350" marR="0" rtl="1" algn="r">
              <a:lnSpc>
                <a:spcPct val="150000"/>
              </a:lnSpc>
              <a:spcBef>
                <a:spcPts val="0"/>
              </a:spcBef>
              <a:spcAft>
                <a:spcPts val="0"/>
              </a:spcAft>
              <a:buClr>
                <a:schemeClr val="dk1"/>
              </a:buClr>
              <a:buSzPts val="2000"/>
              <a:buFont typeface="Calibri"/>
              <a:buAutoNum type="arabicPeriod"/>
            </a:pPr>
            <a:r>
              <a:rPr lang="iw-IL" sz="2000">
                <a:solidFill>
                  <a:schemeClr val="dk1"/>
                </a:solidFill>
                <a:latin typeface="Arial"/>
                <a:ea typeface="Arial"/>
                <a:cs typeface="Arial"/>
                <a:sym typeface="Arial"/>
              </a:rPr>
              <a:t>יצירת מפות קווים לסוגי התלונות בחלוקה לקטגוריות עובי קו וצבע קו.</a:t>
            </a:r>
            <a:endParaRPr/>
          </a:p>
          <a:p>
            <a:pPr indent="-514350" lvl="0" marL="514350" marR="0" rtl="1" algn="r">
              <a:lnSpc>
                <a:spcPct val="150000"/>
              </a:lnSpc>
              <a:spcBef>
                <a:spcPts val="0"/>
              </a:spcBef>
              <a:spcAft>
                <a:spcPts val="0"/>
              </a:spcAft>
              <a:buClr>
                <a:schemeClr val="dk1"/>
              </a:buClr>
              <a:buSzPts val="2000"/>
              <a:buFont typeface="Calibri"/>
              <a:buAutoNum type="arabicPeriod"/>
            </a:pPr>
            <a:r>
              <a:rPr lang="iw-IL" sz="2000">
                <a:solidFill>
                  <a:schemeClr val="dk1"/>
                </a:solidFill>
                <a:latin typeface="Arial"/>
                <a:ea typeface="Arial"/>
                <a:cs typeface="Arial"/>
                <a:sym typeface="Arial"/>
              </a:rPr>
              <a:t>סיווג התלונות לאשכולות לפי מרכיבי התלונה ורמת אי שביעות רצון, לצורך תיעדוף הטיפול בתלונות עתידיות בהתאם לחומרת התלונה</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8FC"/>
            </a:gs>
            <a:gs pos="1000">
              <a:srgbClr val="F5F7FC"/>
            </a:gs>
            <a:gs pos="91000">
              <a:srgbClr val="F5F7FC"/>
            </a:gs>
            <a:gs pos="92000">
              <a:srgbClr val="A9BEE4"/>
            </a:gs>
            <a:gs pos="100000">
              <a:srgbClr val="A9BEE4"/>
            </a:gs>
          </a:gsLst>
          <a:lin ang="5400000" scaled="0"/>
        </a:gradFill>
      </p:bgPr>
    </p:bg>
    <p:spTree>
      <p:nvGrpSpPr>
        <p:cNvPr id="296" name="Shape 296"/>
        <p:cNvGrpSpPr/>
        <p:nvPr/>
      </p:nvGrpSpPr>
      <p:grpSpPr>
        <a:xfrm>
          <a:off x="0" y="0"/>
          <a:ext cx="0" cy="0"/>
          <a:chOff x="0" y="0"/>
          <a:chExt cx="0" cy="0"/>
        </a:xfrm>
      </p:grpSpPr>
      <p:sp>
        <p:nvSpPr>
          <p:cNvPr id="297" name="Google Shape;297;p15"/>
          <p:cNvSpPr txBox="1"/>
          <p:nvPr/>
        </p:nvSpPr>
        <p:spPr>
          <a:xfrm>
            <a:off x="2262555" y="7713064"/>
            <a:ext cx="9557201" cy="369332"/>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1800">
                <a:solidFill>
                  <a:schemeClr val="dk1"/>
                </a:solidFill>
                <a:latin typeface="Calibri"/>
                <a:ea typeface="Calibri"/>
                <a:cs typeface="Calibri"/>
                <a:sym typeface="Calibri"/>
              </a:rPr>
              <a:t>תלונות ציבור בתחום התחבורה הציבורית המתקבלות טלפונית במשרד התחבורה</a:t>
            </a:r>
            <a:endParaRPr/>
          </a:p>
        </p:txBody>
      </p:sp>
      <p:pic>
        <p:nvPicPr>
          <p:cNvPr id="298" name="Google Shape;298;p15"/>
          <p:cNvPicPr preferRelativeResize="0"/>
          <p:nvPr/>
        </p:nvPicPr>
        <p:blipFill rotWithShape="1">
          <a:blip r:embed="rId3">
            <a:alphaModFix/>
          </a:blip>
          <a:srcRect b="0" l="0" r="0" t="0"/>
          <a:stretch/>
        </p:blipFill>
        <p:spPr>
          <a:xfrm>
            <a:off x="12111673" y="131066"/>
            <a:ext cx="2419033" cy="872173"/>
          </a:xfrm>
          <a:prstGeom prst="rect">
            <a:avLst/>
          </a:prstGeom>
          <a:noFill/>
          <a:ln>
            <a:noFill/>
          </a:ln>
        </p:spPr>
      </p:pic>
      <p:pic>
        <p:nvPicPr>
          <p:cNvPr id="299" name="Google Shape;299;p15"/>
          <p:cNvPicPr preferRelativeResize="0"/>
          <p:nvPr/>
        </p:nvPicPr>
        <p:blipFill rotWithShape="1">
          <a:blip r:embed="rId4">
            <a:alphaModFix/>
          </a:blip>
          <a:srcRect b="0" l="29846" r="0" t="13768"/>
          <a:stretch/>
        </p:blipFill>
        <p:spPr>
          <a:xfrm>
            <a:off x="99694" y="147204"/>
            <a:ext cx="2865568" cy="1031160"/>
          </a:xfrm>
          <a:prstGeom prst="rect">
            <a:avLst/>
          </a:prstGeom>
          <a:noFill/>
          <a:ln>
            <a:noFill/>
          </a:ln>
        </p:spPr>
      </p:pic>
      <p:sp>
        <p:nvSpPr>
          <p:cNvPr id="300" name="Google Shape;300;p15"/>
          <p:cNvSpPr/>
          <p:nvPr/>
        </p:nvSpPr>
        <p:spPr>
          <a:xfrm>
            <a:off x="4543835" y="-30048"/>
            <a:ext cx="5346336" cy="1200329"/>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7200">
                <a:solidFill>
                  <a:srgbClr val="156082"/>
                </a:solidFill>
                <a:latin typeface="David"/>
                <a:ea typeface="David"/>
                <a:cs typeface="David"/>
                <a:sym typeface="David"/>
              </a:rPr>
              <a:t>רשימת מקורות</a:t>
            </a:r>
            <a:endParaRPr/>
          </a:p>
        </p:txBody>
      </p:sp>
      <p:sp>
        <p:nvSpPr>
          <p:cNvPr id="301" name="Google Shape;301;p15"/>
          <p:cNvSpPr/>
          <p:nvPr/>
        </p:nvSpPr>
        <p:spPr>
          <a:xfrm>
            <a:off x="0" y="7514492"/>
            <a:ext cx="890954" cy="715108"/>
          </a:xfrm>
          <a:prstGeom prst="rtTriangl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5"/>
          <p:cNvSpPr txBox="1"/>
          <p:nvPr>
            <p:ph idx="1" type="subTitle"/>
          </p:nvPr>
        </p:nvSpPr>
        <p:spPr>
          <a:xfrm>
            <a:off x="888714" y="1716920"/>
            <a:ext cx="12852971" cy="19869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504C49"/>
              </a:buClr>
              <a:buSzPts val="3200"/>
              <a:buNone/>
            </a:pPr>
            <a:r>
              <a:rPr lang="iw-IL" sz="3200">
                <a:solidFill>
                  <a:srgbClr val="504C49"/>
                </a:solidFill>
                <a:latin typeface="Arial"/>
                <a:ea typeface="Arial"/>
                <a:cs typeface="Arial"/>
                <a:sym typeface="Arial"/>
              </a:rPr>
              <a:t>Yona, M., Birfir, G., &amp; Kaplan, S. (2021). Data science and GIS-based system analysis of transit passenger complaints to improve operations and planning. Transport Policy, 101, 133-144.</a:t>
            </a:r>
            <a:endParaRPr/>
          </a:p>
          <a:p>
            <a:pPr indent="0" lvl="0" marL="0" rtl="0" algn="l">
              <a:spcBef>
                <a:spcPts val="680"/>
              </a:spcBef>
              <a:spcAft>
                <a:spcPts val="0"/>
              </a:spcAft>
              <a:buClr>
                <a:schemeClr val="dk1"/>
              </a:buClr>
              <a:buSzPts val="3400"/>
              <a:buNone/>
            </a:pPr>
            <a:r>
              <a:t/>
            </a:r>
            <a:endParaRPr sz="3400"/>
          </a:p>
          <a:p>
            <a:pPr indent="0" lvl="0" marL="0" rtl="0" algn="l">
              <a:spcBef>
                <a:spcPts val="640"/>
              </a:spcBef>
              <a:spcAft>
                <a:spcPts val="0"/>
              </a:spcAft>
              <a:buClr>
                <a:srgbClr val="504C49"/>
              </a:buClr>
              <a:buSzPts val="3200"/>
              <a:buNone/>
            </a:pPr>
            <a:r>
              <a:rPr lang="iw-IL" sz="3200">
                <a:solidFill>
                  <a:srgbClr val="504C49"/>
                </a:solidFill>
                <a:latin typeface="Arial"/>
                <a:ea typeface="Arial"/>
                <a:cs typeface="Arial"/>
                <a:sym typeface="Arial"/>
              </a:rPr>
              <a:t>Yap, M., &amp; Cats, O. (2021). Predicting disruptions and their passenger delay impacts for public transport stops. Transportation, 48(4), 1703-1731.</a:t>
            </a:r>
            <a:endParaRPr/>
          </a:p>
          <a:p>
            <a:pPr indent="0" lvl="0" marL="0" rtl="1" algn="r">
              <a:spcBef>
                <a:spcPts val="640"/>
              </a:spcBef>
              <a:spcAft>
                <a:spcPts val="0"/>
              </a:spcAft>
              <a:buClr>
                <a:schemeClr val="dk1"/>
              </a:buClr>
              <a:buSzPts val="3200"/>
              <a:buNone/>
            </a:pPr>
            <a:r>
              <a:t/>
            </a:r>
            <a:endParaRPr sz="3200">
              <a:solidFill>
                <a:srgbClr val="504C49"/>
              </a:solidFill>
              <a:latin typeface="Arial"/>
              <a:ea typeface="Arial"/>
              <a:cs typeface="Arial"/>
              <a:sym typeface="Arial"/>
            </a:endParaRPr>
          </a:p>
          <a:p>
            <a:pPr indent="0" lvl="0" marL="0" rtl="1" algn="r">
              <a:spcBef>
                <a:spcPts val="640"/>
              </a:spcBef>
              <a:spcAft>
                <a:spcPts val="0"/>
              </a:spcAft>
              <a:buClr>
                <a:srgbClr val="504C49"/>
              </a:buClr>
              <a:buSzPts val="3200"/>
              <a:buNone/>
            </a:pPr>
            <a:r>
              <a:rPr lang="iw-IL" sz="3200">
                <a:solidFill>
                  <a:srgbClr val="504C49"/>
                </a:solidFill>
                <a:latin typeface="Arial"/>
                <a:ea typeface="Arial"/>
                <a:cs typeface="Arial"/>
                <a:sym typeface="Arial"/>
              </a:rPr>
              <a:t>משרד מבקר המדינה ונציבות תלונות הציבור, דוח שנתי של מבקר המדינה (2023)</a:t>
            </a:r>
            <a:endParaRPr/>
          </a:p>
          <a:p>
            <a:pPr indent="0" lvl="0" marL="0" rtl="0" algn="l">
              <a:spcBef>
                <a:spcPts val="680"/>
              </a:spcBef>
              <a:spcAft>
                <a:spcPts val="0"/>
              </a:spcAft>
              <a:buClr>
                <a:schemeClr val="dk1"/>
              </a:buClr>
              <a:buSzPts val="3400"/>
              <a:buNone/>
            </a:pPr>
            <a:r>
              <a:t/>
            </a:r>
            <a:endParaRPr sz="3400"/>
          </a:p>
        </p:txBody>
      </p:sp>
      <p:sp>
        <p:nvSpPr>
          <p:cNvPr id="303" name="Google Shape;303;p15"/>
          <p:cNvSpPr/>
          <p:nvPr/>
        </p:nvSpPr>
        <p:spPr>
          <a:xfrm>
            <a:off x="-51774" y="7702720"/>
            <a:ext cx="6014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iw-IL" sz="3200" cap="none">
                <a:solidFill>
                  <a:schemeClr val="dk1"/>
                </a:solidFill>
                <a:latin typeface="Calibri"/>
                <a:ea typeface="Calibri"/>
                <a:cs typeface="Calibri"/>
                <a:sym typeface="Calibri"/>
              </a:rPr>
              <a:t>14</a:t>
            </a:r>
            <a:endParaRPr b="0" sz="5400"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2025-01-08T11:31:19Z</dcterms:created>
  <dc:creator>PptxGenJS</dc:creator>
</cp:coreProperties>
</file>